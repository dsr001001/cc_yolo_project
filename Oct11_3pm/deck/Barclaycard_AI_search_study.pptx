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7abe781-0a9c-71ab-0085-52043dcda9b0}">
          <p14:sldIdLst>
            <p14:sldId id="256"/>
            <p14:sldId id="257"/>
            <p14:sldId id="258"/>
            <p14:sldId id="259"/>
            <p14:sldId id="260"/>
          </p14:sldIdLst>
        </p14:section>
        <p14:section name="Model 1: Haiku 5.5" id="{f0a6e41c-60c3-b1a1-9a85-38d3e5a379ed}">
          <p14:sldIdLst>
            <p14:sldId id="261"/>
            <p14:sldId id="262"/>
            <p14:sldId id="263"/>
            <p14:sldId id="264"/>
            <p14:sldId id="265"/>
            <p14:sldId id="266"/>
          </p14:sldIdLst>
        </p14:section>
        <p14:section name="Model 2: Sonnet 5.5" id="{d95ba0d9-95f9-9536-9008-c7de86787d9a}">
          <p14:sldIdLst>
            <p14:sldId id="267"/>
            <p14:sldId id="268"/>
            <p14:sldId id="269"/>
            <p14:sldId id="270"/>
            <p14:sldId id="271"/>
            <p14:sldId id="272"/>
          </p14:sldIdLst>
        </p14:section>
        <p14:section name="Model 3: Opus 5.5" id="{effb6166-080d-e72f-bcdc-a6af2cd217ae}">
          <p14:sldIdLst>
            <p14:sldId id="273"/>
            <p14:sldId id="274"/>
            <p14:sldId id="275"/>
            <p14:sldId id="276"/>
            <p14:sldId id="277"/>
            <p14:sldId id="278"/>
          </p14:sldIdLst>
        </p14:section>
        <p14:section name="Model 4: Fable 5.1" id="{37cf2256-9c20-1d82-0f7b-2c92a2ca15a5}">
          <p14:sldIdLst>
            <p14:sldId id="279"/>
            <p14:sldId id="280"/>
            <p14:sldId id="281"/>
            <p14:sldId id="282"/>
            <p14:sldId id="283"/>
            <p14:sldId id="284"/>
          </p14:sldIdLst>
        </p14:section>
        <p14:section name="Across the four models" id="{952e6c7e-a8cc-bb51-ea44-c81945e612f3}">
          <p14:sldIdLst>
            <p14:sldId id="285"/>
            <p14:sldId id="286"/>
          </p14:sldIdLst>
        </p14:section>
        <p14:section name="What to do" id="{d7af48f7-dcb7-526d-190e-3668c09f0870}">
          <p14:sldIdLst>
            <p14:sldId id="287"/>
            <p14:sldId id="288"/>
            <p14:sldId id="289"/>
            <p14:sldId id="290"/>
            <p14:sldId id="291"/>
            <p14:sldId id="292"/>
            <p14:sldId id="293"/>
            <p14:sldId id="294"/>
          </p14:sldIdLst>
        </p14:section>
        <p14:section name="Appendix" id="{6be156f7-af60-ac2c-6171-65364bd56613}">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E5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11880"/>
            <a:ext cx="10515600" cy="18288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chemeClr val="accent2"/>
                </a:solidFill>
              </a:rPr>
              <a:t>AI balance-transfer study, web-search runs, 11 October 2026</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jpg"/><Relationship Id="rId3" Type="http://schemas.openxmlformats.org/officeDocument/2006/relationships/slideLayout" Target="../slideLayouts/slideLayout3.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000" b="1" dirty="0">
                <a:solidFill>
                  <a:schemeClr val="bg1"/>
                </a:solidFill>
              </a:rPr>
              <a:t>Barclaycard in AI balance-transfer advice: model by model</a:t>
            </a:r>
            <a:endParaRPr lang="en-US" sz="4000" dirty="0"/>
          </a:p>
        </p:txBody>
      </p:sp>
      <p:sp>
        <p:nvSpPr>
          <p:cNvPr id="3" name="Text 0"/>
          <p:cNvSpPr/>
          <p:nvPr>
            <p:ph idx="101" type="body" hasCustomPrompt="1"/>
          </p:nvPr>
        </p:nvSpPr>
        <p:spPr>
          <a:xfrm>
            <a:off x="731520" y="3611880"/>
            <a:ext cx="10515600" cy="1828800"/>
          </a:xfrm>
          <a:prstGeom prst="rect">
            <a:avLst/>
          </a:prstGeom>
          <a:noFill/>
          <a:ln/>
        </p:spPr>
        <p:txBody>
          <a:bodyPr wrap="square" lIns="0" tIns="0" rIns="0" bIns="0" rtlCol="0" anchor="t"/>
          <a:lstStyle/>
          <a:p>
            <a:pPr indent="0" marL="0">
              <a:buNone/>
            </a:pPr>
            <a:r>
              <a:rPr lang="en-US" sz="1800" dirty="0">
                <a:solidFill>
                  <a:schemeClr val="accent5"/>
                </a:solidFill>
              </a:rPr>
              <a:t>What each of four AI assistants asked, read, recommended and said about Barclaycard when a UK customer with £3,000 of card debt asked for a 0% balance transfer. Web-search runs only, two credit profiles per model, five turns each.</a:t>
            </a:r>
            <a:endParaRPr lang="en-US" sz="1800" dirty="0"/>
          </a:p>
          <a:p>
            <a:pPr indent="0" marL="0">
              <a:buNone/>
            </a:pPr>
            <a:r>
              <a:rPr lang="en-US" sz="1800" dirty="0">
                <a:solidFill>
                  <a:schemeClr val="accent5"/>
                </a:solidFill>
              </a:rPr>
              <a:t>Prepared for the Head of Credit Cards. Transcripts and screenshots captured 11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Executive summary 1 of 3: AI assistants know Barclaycard, read its pages correctly, and still never pick it</a:t>
            </a:r>
            <a:endParaRPr lang="en-US" sz="2400" dirty="0"/>
          </a:p>
        </p:txBody>
      </p:sp>
      <p:sp>
        <p:nvSpPr>
          <p:cNvPr id="3" name="card exec tile 0"/>
          <p:cNvSpPr/>
          <p:nvPr/>
        </p:nvSpPr>
        <p:spPr>
          <a:xfrm>
            <a:off x="457200" y="1188720"/>
            <a:ext cx="2651760" cy="1691640"/>
          </a:xfrm>
          <a:prstGeom prst="roundRect">
            <a:avLst>
              <a:gd name="adj" fmla="val 4324"/>
            </a:avLst>
          </a:prstGeom>
          <a:solidFill>
            <a:schemeClr val="bg2"/>
          </a:solidFill>
          <a:ln w="9525">
            <a:solidFill>
              <a:schemeClr val="accent5"/>
            </a:solidFill>
            <a:prstDash val="solid"/>
          </a:ln>
        </p:spPr>
      </p:sp>
      <p:sp>
        <p:nvSpPr>
          <p:cNvPr id="4" name="exec big 0"/>
          <p:cNvSpPr txBox="1"/>
          <p:nvPr/>
        </p:nvSpPr>
        <p:spPr>
          <a:xfrm>
            <a:off x="594360" y="1261872"/>
            <a:ext cx="2377440" cy="658368"/>
          </a:xfrm>
          <a:prstGeom prst="rect">
            <a:avLst/>
          </a:prstGeom>
          <a:noFill/>
          <a:ln/>
        </p:spPr>
        <p:txBody>
          <a:bodyPr wrap="square" lIns="0" tIns="0" rIns="0" bIns="0" rtlCol="0" anchor="ctr"/>
          <a:lstStyle/>
          <a:p>
            <a:pPr indent="0" marL="0">
              <a:buNone/>
            </a:pPr>
            <a:r>
              <a:rPr lang="en-US" sz="3400" b="1" dirty="0">
                <a:solidFill>
                  <a:schemeClr val="accent1"/>
                </a:solidFill>
              </a:rPr>
              <a:t>1 of 8</a:t>
            </a:r>
            <a:endParaRPr lang="en-US" sz="3400" dirty="0"/>
          </a:p>
        </p:txBody>
      </p:sp>
      <p:sp>
        <p:nvSpPr>
          <p:cNvPr id="5" name="exec label 0"/>
          <p:cNvSpPr txBox="1"/>
          <p:nvPr/>
        </p:nvSpPr>
        <p:spPr>
          <a:xfrm>
            <a:off x="594360" y="1920240"/>
            <a:ext cx="2377440" cy="502920"/>
          </a:xfrm>
          <a:prstGeom prst="rect">
            <a:avLst/>
          </a:prstGeom>
          <a:noFill/>
          <a:ln/>
        </p:spPr>
        <p:txBody>
          <a:bodyPr wrap="square" lIns="0" tIns="0" rIns="0" bIns="0" rtlCol="0" anchor="t"/>
          <a:lstStyle/>
          <a:p>
            <a:pPr indent="0" marL="0">
              <a:buNone/>
            </a:pPr>
            <a:r>
              <a:rPr lang="en-US" sz="1100" b="1" dirty="0">
                <a:solidFill>
                  <a:schemeClr val="tx2"/>
                </a:solidFill>
              </a:rPr>
              <a:t>runs put Barclaycard in the unprompted top three</a:t>
            </a:r>
            <a:endParaRPr lang="en-US" sz="1100" dirty="0"/>
          </a:p>
        </p:txBody>
      </p:sp>
      <p:sp>
        <p:nvSpPr>
          <p:cNvPr id="6" name="exec sub 0"/>
          <p:cNvSpPr txBox="1"/>
          <p:nvPr/>
        </p:nvSpPr>
        <p:spPr>
          <a:xfrm>
            <a:off x="594360" y="2487168"/>
            <a:ext cx="2377440" cy="365760"/>
          </a:xfrm>
          <a:prstGeom prst="rect">
            <a:avLst/>
          </a:prstGeom>
          <a:noFill/>
          <a:ln/>
        </p:spPr>
        <p:txBody>
          <a:bodyPr wrap="square" lIns="0" tIns="0" rIns="0" bIns="0" rtlCol="0" anchor="t"/>
          <a:lstStyle/>
          <a:p>
            <a:pPr indent="0" marL="0">
              <a:buNone/>
            </a:pPr>
            <a:r>
              <a:rPr lang="en-US" sz="900" dirty="0">
                <a:solidFill>
                  <a:schemeClr val="tx1"/>
                </a:solidFill>
              </a:rPr>
              <a:t>Turn 2, after the customer's details</a:t>
            </a:r>
            <a:endParaRPr lang="en-US" sz="900" dirty="0"/>
          </a:p>
        </p:txBody>
      </p:sp>
      <p:sp>
        <p:nvSpPr>
          <p:cNvPr id="7" name="card exec tile 1"/>
          <p:cNvSpPr/>
          <p:nvPr/>
        </p:nvSpPr>
        <p:spPr>
          <a:xfrm>
            <a:off x="3291840" y="1188720"/>
            <a:ext cx="2651760" cy="1691640"/>
          </a:xfrm>
          <a:prstGeom prst="roundRect">
            <a:avLst>
              <a:gd name="adj" fmla="val 4324"/>
            </a:avLst>
          </a:prstGeom>
          <a:solidFill>
            <a:schemeClr val="bg2"/>
          </a:solidFill>
          <a:ln w="9525">
            <a:solidFill>
              <a:schemeClr val="accent5"/>
            </a:solidFill>
            <a:prstDash val="solid"/>
          </a:ln>
        </p:spPr>
      </p:sp>
      <p:sp>
        <p:nvSpPr>
          <p:cNvPr id="8" name="exec big 1"/>
          <p:cNvSpPr txBox="1"/>
          <p:nvPr/>
        </p:nvSpPr>
        <p:spPr>
          <a:xfrm>
            <a:off x="3429000" y="1261872"/>
            <a:ext cx="2377440" cy="658368"/>
          </a:xfrm>
          <a:prstGeom prst="rect">
            <a:avLst/>
          </a:prstGeom>
          <a:noFill/>
          <a:ln/>
        </p:spPr>
        <p:txBody>
          <a:bodyPr wrap="square" lIns="0" tIns="0" rIns="0" bIns="0" rtlCol="0" anchor="ctr"/>
          <a:lstStyle/>
          <a:p>
            <a:pPr indent="0" marL="0">
              <a:buNone/>
            </a:pPr>
            <a:r>
              <a:rPr lang="en-US" sz="3400" b="1" dirty="0">
                <a:solidFill>
                  <a:schemeClr val="accent1"/>
                </a:solidFill>
              </a:rPr>
              <a:t>7 of 8</a:t>
            </a:r>
            <a:endParaRPr lang="en-US" sz="3400" dirty="0"/>
          </a:p>
        </p:txBody>
      </p:sp>
      <p:sp>
        <p:nvSpPr>
          <p:cNvPr id="9" name="exec label 1"/>
          <p:cNvSpPr txBox="1"/>
          <p:nvPr/>
        </p:nvSpPr>
        <p:spPr>
          <a:xfrm>
            <a:off x="3429000" y="1920240"/>
            <a:ext cx="2377440" cy="502920"/>
          </a:xfrm>
          <a:prstGeom prst="rect">
            <a:avLst/>
          </a:prstGeom>
          <a:noFill/>
          <a:ln/>
        </p:spPr>
        <p:txBody>
          <a:bodyPr wrap="square" lIns="0" tIns="0" rIns="0" bIns="0" rtlCol="0" anchor="t"/>
          <a:lstStyle/>
          <a:p>
            <a:pPr indent="0" marL="0">
              <a:buNone/>
            </a:pPr>
            <a:r>
              <a:rPr lang="en-US" sz="1100" b="1" dirty="0">
                <a:solidFill>
                  <a:schemeClr val="tx2"/>
                </a:solidFill>
              </a:rPr>
              <a:t>runs put it in the top three once the customer named it</a:t>
            </a:r>
            <a:endParaRPr lang="en-US" sz="1100" dirty="0"/>
          </a:p>
        </p:txBody>
      </p:sp>
      <p:sp>
        <p:nvSpPr>
          <p:cNvPr id="10" name="exec sub 1"/>
          <p:cNvSpPr txBox="1"/>
          <p:nvPr/>
        </p:nvSpPr>
        <p:spPr>
          <a:xfrm>
            <a:off x="3429000" y="2487168"/>
            <a:ext cx="2377440" cy="365760"/>
          </a:xfrm>
          <a:prstGeom prst="rect">
            <a:avLst/>
          </a:prstGeom>
          <a:noFill/>
          <a:ln/>
        </p:spPr>
        <p:txBody>
          <a:bodyPr wrap="square" lIns="0" tIns="0" rIns="0" bIns="0" rtlCol="0" anchor="t"/>
          <a:lstStyle/>
          <a:p>
            <a:pPr indent="0" marL="0">
              <a:buNone/>
            </a:pPr>
            <a:r>
              <a:rPr lang="en-US" sz="900" dirty="0">
                <a:solidFill>
                  <a:schemeClr val="tx1"/>
                </a:solidFill>
              </a:rPr>
              <a:t>Turn 3</a:t>
            </a:r>
            <a:endParaRPr lang="en-US" sz="900" dirty="0"/>
          </a:p>
        </p:txBody>
      </p:sp>
      <p:sp>
        <p:nvSpPr>
          <p:cNvPr id="11" name="card exec tile 2"/>
          <p:cNvSpPr/>
          <p:nvPr/>
        </p:nvSpPr>
        <p:spPr>
          <a:xfrm>
            <a:off x="6126480" y="1188720"/>
            <a:ext cx="2651760" cy="1691640"/>
          </a:xfrm>
          <a:prstGeom prst="roundRect">
            <a:avLst>
              <a:gd name="adj" fmla="val 4324"/>
            </a:avLst>
          </a:prstGeom>
          <a:solidFill>
            <a:schemeClr val="bg2"/>
          </a:solidFill>
          <a:ln w="9525">
            <a:solidFill>
              <a:schemeClr val="accent5"/>
            </a:solidFill>
            <a:prstDash val="solid"/>
          </a:ln>
        </p:spPr>
      </p:sp>
      <p:sp>
        <p:nvSpPr>
          <p:cNvPr id="12" name="exec big 2"/>
          <p:cNvSpPr txBox="1"/>
          <p:nvPr/>
        </p:nvSpPr>
        <p:spPr>
          <a:xfrm>
            <a:off x="6263640" y="1261872"/>
            <a:ext cx="2377440" cy="658368"/>
          </a:xfrm>
          <a:prstGeom prst="rect">
            <a:avLst/>
          </a:prstGeom>
          <a:noFill/>
          <a:ln/>
        </p:spPr>
        <p:txBody>
          <a:bodyPr wrap="square" lIns="0" tIns="0" rIns="0" bIns="0" rtlCol="0" anchor="ctr"/>
          <a:lstStyle/>
          <a:p>
            <a:pPr indent="0" marL="0">
              <a:buNone/>
            </a:pPr>
            <a:r>
              <a:rPr lang="en-US" sz="3400" b="1" dirty="0">
                <a:solidFill>
                  <a:schemeClr val="accent1"/>
                </a:solidFill>
              </a:rPr>
              <a:t>0 of 8</a:t>
            </a:r>
            <a:endParaRPr lang="en-US" sz="3400" dirty="0"/>
          </a:p>
        </p:txBody>
      </p:sp>
      <p:sp>
        <p:nvSpPr>
          <p:cNvPr id="13" name="exec label 2"/>
          <p:cNvSpPr txBox="1"/>
          <p:nvPr/>
        </p:nvSpPr>
        <p:spPr>
          <a:xfrm>
            <a:off x="6263640" y="1920240"/>
            <a:ext cx="2377440" cy="502920"/>
          </a:xfrm>
          <a:prstGeom prst="rect">
            <a:avLst/>
          </a:prstGeom>
          <a:noFill/>
          <a:ln/>
        </p:spPr>
        <p:txBody>
          <a:bodyPr wrap="square" lIns="0" tIns="0" rIns="0" bIns="0" rtlCol="0" anchor="t"/>
          <a:lstStyle/>
          <a:p>
            <a:pPr indent="0" marL="0">
              <a:buNone/>
            </a:pPr>
            <a:r>
              <a:rPr lang="en-US" sz="1100" b="1" dirty="0">
                <a:solidFill>
                  <a:schemeClr val="tx2"/>
                </a:solidFill>
              </a:rPr>
              <a:t>runs chose it as the card to apply for</a:t>
            </a:r>
            <a:endParaRPr lang="en-US" sz="1100" dirty="0"/>
          </a:p>
        </p:txBody>
      </p:sp>
      <p:sp>
        <p:nvSpPr>
          <p:cNvPr id="14" name="exec sub 2"/>
          <p:cNvSpPr txBox="1"/>
          <p:nvPr/>
        </p:nvSpPr>
        <p:spPr>
          <a:xfrm>
            <a:off x="6263640" y="2487168"/>
            <a:ext cx="2377440" cy="365760"/>
          </a:xfrm>
          <a:prstGeom prst="rect">
            <a:avLst/>
          </a:prstGeom>
          <a:noFill/>
          <a:ln/>
        </p:spPr>
        <p:txBody>
          <a:bodyPr wrap="square" lIns="0" tIns="0" rIns="0" bIns="0" rtlCol="0" anchor="t"/>
          <a:lstStyle/>
          <a:p>
            <a:pPr indent="0" marL="0">
              <a:buNone/>
            </a:pPr>
            <a:r>
              <a:rPr lang="en-US" sz="900" dirty="0">
                <a:solidFill>
                  <a:schemeClr val="tx1"/>
                </a:solidFill>
              </a:rPr>
              <a:t>Turn 4; HSBC 3, Virgin Money 4, Tesco 1</a:t>
            </a:r>
            <a:endParaRPr lang="en-US" sz="900" dirty="0"/>
          </a:p>
        </p:txBody>
      </p:sp>
      <p:sp>
        <p:nvSpPr>
          <p:cNvPr id="15" name="card exec tile 3"/>
          <p:cNvSpPr/>
          <p:nvPr/>
        </p:nvSpPr>
        <p:spPr>
          <a:xfrm>
            <a:off x="8961120" y="1188720"/>
            <a:ext cx="2651760" cy="1691640"/>
          </a:xfrm>
          <a:prstGeom prst="roundRect">
            <a:avLst>
              <a:gd name="adj" fmla="val 4324"/>
            </a:avLst>
          </a:prstGeom>
          <a:solidFill>
            <a:schemeClr val="bg2"/>
          </a:solidFill>
          <a:ln w="9525">
            <a:solidFill>
              <a:schemeClr val="accent5"/>
            </a:solidFill>
            <a:prstDash val="solid"/>
          </a:ln>
        </p:spPr>
      </p:sp>
      <p:sp>
        <p:nvSpPr>
          <p:cNvPr id="16" name="exec big 3"/>
          <p:cNvSpPr txBox="1"/>
          <p:nvPr/>
        </p:nvSpPr>
        <p:spPr>
          <a:xfrm>
            <a:off x="9098280" y="1261872"/>
            <a:ext cx="2377440" cy="658368"/>
          </a:xfrm>
          <a:prstGeom prst="rect">
            <a:avLst/>
          </a:prstGeom>
          <a:noFill/>
          <a:ln/>
        </p:spPr>
        <p:txBody>
          <a:bodyPr wrap="square" lIns="0" tIns="0" rIns="0" bIns="0" rtlCol="0" anchor="ctr"/>
          <a:lstStyle/>
          <a:p>
            <a:pPr indent="0" marL="0">
              <a:buNone/>
            </a:pPr>
            <a:r>
              <a:rPr lang="en-US" sz="3400" b="1" dirty="0">
                <a:solidFill>
                  <a:schemeClr val="accent1"/>
                </a:solidFill>
              </a:rPr>
              <a:t>2 of 8</a:t>
            </a:r>
            <a:endParaRPr lang="en-US" sz="3400" dirty="0"/>
          </a:p>
        </p:txBody>
      </p:sp>
      <p:sp>
        <p:nvSpPr>
          <p:cNvPr id="17" name="exec label 3"/>
          <p:cNvSpPr txBox="1"/>
          <p:nvPr/>
        </p:nvSpPr>
        <p:spPr>
          <a:xfrm>
            <a:off x="9098280" y="1920240"/>
            <a:ext cx="2377440" cy="502920"/>
          </a:xfrm>
          <a:prstGeom prst="rect">
            <a:avLst/>
          </a:prstGeom>
          <a:noFill/>
          <a:ln/>
        </p:spPr>
        <p:txBody>
          <a:bodyPr wrap="square" lIns="0" tIns="0" rIns="0" bIns="0" rtlCol="0" anchor="t"/>
          <a:lstStyle/>
          <a:p>
            <a:pPr indent="0" marL="0">
              <a:buNone/>
            </a:pPr>
            <a:r>
              <a:rPr lang="en-US" sz="1100" b="1" dirty="0">
                <a:solidFill>
                  <a:schemeClr val="tx2"/>
                </a:solidFill>
              </a:rPr>
              <a:t>runs told the customer something wrong about Barclaycard</a:t>
            </a:r>
            <a:endParaRPr lang="en-US" sz="1100" dirty="0"/>
          </a:p>
        </p:txBody>
      </p:sp>
      <p:sp>
        <p:nvSpPr>
          <p:cNvPr id="18" name="exec sub 3"/>
          <p:cNvSpPr txBox="1"/>
          <p:nvPr/>
        </p:nvSpPr>
        <p:spPr>
          <a:xfrm>
            <a:off x="9098280" y="2487168"/>
            <a:ext cx="2377440" cy="365760"/>
          </a:xfrm>
          <a:prstGeom prst="rect">
            <a:avLst/>
          </a:prstGeom>
          <a:noFill/>
          <a:ln/>
        </p:spPr>
        <p:txBody>
          <a:bodyPr wrap="square" lIns="0" tIns="0" rIns="0" bIns="0" rtlCol="0" anchor="t"/>
          <a:lstStyle/>
          <a:p>
            <a:pPr indent="0" marL="0">
              <a:buNone/>
            </a:pPr>
            <a:r>
              <a:rPr lang="en-US" sz="900" dirty="0">
                <a:solidFill>
                  <a:schemeClr val="tx1"/>
                </a:solidFill>
              </a:rPr>
              <a:t>A current-account requirement that does not exist; a stale 3.45% fee</a:t>
            </a:r>
            <a:endParaRPr lang="en-US" sz="900" dirty="0"/>
          </a:p>
        </p:txBody>
      </p:sp>
      <p:sp>
        <p:nvSpPr>
          <p:cNvPr id="19" name="bullets"/>
          <p:cNvSpPr txBox="1"/>
          <p:nvPr/>
        </p:nvSpPr>
        <p:spPr>
          <a:xfrm>
            <a:off x="457200" y="3108960"/>
            <a:ext cx="11247120" cy="2926080"/>
          </a:xfrm>
          <a:prstGeom prst="rect">
            <a:avLst/>
          </a:prstGeom>
          <a:noFill/>
          <a:ln/>
        </p:spPr>
        <p:txBody>
          <a:bodyPr wrap="square" lIns="0" tIns="0" rIns="0" bIns="0" rtlCol="0" anchor="t"/>
          <a:lstStyle/>
          <a:p>
            <a:pPr marL="152400" indent="-152400">
              <a:spcAft>
                <a:spcPts val="400"/>
              </a:spcAft>
              <a:buSzPct val="100000"/>
              <a:buChar char="•"/>
            </a:pPr>
            <a:r>
              <a:rPr lang="en-US" sz="1150" b="1" dirty="0">
                <a:solidFill>
                  <a:schemeClr val="tx1"/>
                </a:solidFill>
              </a:rPr>
              <a:t>What was done. </a:t>
            </a:r>
            <a:pPr indent="0" marL="0">
              <a:spcAft>
                <a:spcPts val="400"/>
              </a:spcAft>
              <a:buNone/>
            </a:pPr>
            <a:r>
              <a:rPr lang="en-US" sz="1150" dirty="0">
                <a:solidFill>
                  <a:schemeClr val="tx1"/>
                </a:solidFill>
              </a:rPr>
              <a:t>On 11 October 2026 four AI assistants (Haiku, Sonnet, Opus, Fable) with web search were each asked, twice, to recommend a 0% balance transfer card to a UK customer with £3,000 of card debt, over five turns: a top three, the customer's details, a question about Barclaycard, a forced single pick, and a request to show every source. Forty turns, every reply logged with the pages it opened.</a:t>
            </a:r>
            <a:endParaRPr lang="en-US" sz="1150" dirty="0"/>
          </a:p>
          <a:p>
            <a:pPr marL="152400" indent="-152400">
              <a:spcAft>
                <a:spcPts val="400"/>
              </a:spcAft>
              <a:buSzPct val="100000"/>
              <a:buChar char="•"/>
            </a:pPr>
            <a:r>
              <a:rPr lang="en-US" sz="1150" b="1" dirty="0">
                <a:solidFill>
                  <a:schemeClr val="tx1"/>
                </a:solidFill>
              </a:rPr>
              <a:t>Why Barclaycard loses. </a:t>
            </a:r>
            <a:pPr indent="0" marL="0">
              <a:spcAft>
                <a:spcPts val="400"/>
              </a:spcAft>
              <a:buNone/>
            </a:pPr>
            <a:r>
              <a:rPr lang="en-US" sz="1150" dirty="0">
                <a:solidFill>
                  <a:schemeClr val="tx1"/>
                </a:solidFill>
              </a:rPr>
              <a:t>The assistants build the shortlist from comparison guides (Which?, MoneySavingExpert) and check provider pages second. The guides do not list the 22 month 1.49% card, the best fit for this customer, and label the 36 month card 'up to' against HSBC's 'definite'. Barclaycard's own pages carry no eligibility line, put promotional text above the terms, return 404s on product pages, and show an APR that contradicts the headline. The 3.15% fee decided ties against HSBC's 3.09%.</a:t>
            </a:r>
            <a:endParaRPr lang="en-US" sz="1150" dirty="0"/>
          </a:p>
          <a:p>
            <a:pPr marL="152400" indent="-152400">
              <a:spcAft>
                <a:spcPts val="400"/>
              </a:spcAft>
              <a:buSzPct val="100000"/>
              <a:buChar char="•"/>
            </a:pPr>
            <a:r>
              <a:rPr lang="en-US" sz="1150" b="1" dirty="0">
                <a:solidFill>
                  <a:schemeClr val="tx1"/>
                </a:solidFill>
              </a:rPr>
              <a:t>What is not wrong. </a:t>
            </a:r>
            <a:pPr indent="0" marL="0">
              <a:spcAft>
                <a:spcPts val="400"/>
              </a:spcAft>
              <a:buNone/>
            </a:pPr>
            <a:r>
              <a:rPr lang="en-US" sz="1150" dirty="0">
                <a:solidFill>
                  <a:schemeClr val="tx1"/>
                </a:solidFill>
              </a:rPr>
              <a:t>Every figure an assistant read from barclaycard.co.uk was reported correctly. With no web access, every assistant names Barclaycard among the leaders from memory. The gap is in distribution and disclosure, not awareness or price.</a:t>
            </a:r>
            <a:endParaRPr lang="en-US" sz="1150" dirty="0"/>
          </a:p>
        </p:txBody>
      </p:sp>
      <p:sp>
        <p:nvSpPr>
          <p:cNvPr id="2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Sections 2 to 6 of this deck; Oct11_3pm/transcripts; results.csv.</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Executive summary 2 of 3: what is at stake, an order-of-magnitude estimate</a:t>
            </a:r>
            <a:endParaRPr lang="en-US" sz="2400" dirty="0"/>
          </a:p>
        </p:txBody>
      </p:sp>
      <p:graphicFrame>
        <p:nvGraphicFramePr>
          <p:cNvPr id="4" name="exec scenario"/>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914400"/>
                <a:gridCol w="2926080"/>
                <a:gridCol w="2103120"/>
                <a:gridCol w="1737360"/>
                <a:gridCol w="1463040"/>
                <a:gridCol w="2103120"/>
              </a:tblGrid>
              <a:tr h="457200">
                <a:tc>
                  <a:txBody>
                    <a:bodyPr/>
                    <a:lstStyle/>
                    <a:p>
                      <a:pPr indent="0" marL="0">
                        <a:buNone/>
                      </a:pPr>
                      <a:r>
                        <a:rPr lang="en-US" sz="1000" b="1" dirty="0">
                          <a:solidFill>
                            <a:srgbClr val="FFFFFF"/>
                          </a:solidFill>
                        </a:rPr>
                        <a:t>Scenario</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1000" b="1" dirty="0">
                          <a:solidFill>
                            <a:srgbClr val="FFFFFF"/>
                          </a:solidFill>
                        </a:rPr>
                        <a:t>Share of transfer decisions where an AI sets the shortlist</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1000" b="1" dirty="0">
                          <a:solidFill>
                            <a:srgbClr val="FFFFFF"/>
                          </a:solidFill>
                        </a:rPr>
                        <a:t>Gap between fair share and AI share</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1000" b="1" dirty="0">
                          <a:solidFill>
                            <a:srgbClr val="FFFFFF"/>
                          </a:solidFill>
                        </a:rPr>
                        <a:t>Balances at stake a year</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1000" b="1" dirty="0">
                          <a:solidFill>
                            <a:srgbClr val="FFFFFF"/>
                          </a:solidFill>
                        </a:rPr>
                        <a:t>Accounts a year</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1000" b="1" dirty="0">
                          <a:solidFill>
                            <a:srgbClr val="FFFFFF"/>
                          </a:solidFill>
                        </a:rPr>
                        <a:t>Value at £400 per account over 10 years</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457200">
                <a:tc>
                  <a:txBody>
                    <a:bodyPr/>
                    <a:lstStyle/>
                    <a:p>
                      <a:pPr indent="0" marL="0">
                        <a:buNone/>
                      </a:pPr>
                      <a:r>
                        <a:rPr lang="en-US" sz="1000" b="1" dirty="0">
                          <a:solidFill>
                            <a:srgbClr val="0A1F3D"/>
                          </a:solidFill>
                        </a:rPr>
                        <a:t>Low</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3%</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10 points</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£61m</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27,000</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£11m per annual cohort</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A1F3D"/>
                          </a:solidFill>
                        </a:rPr>
                        <a:t>Mid</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1000" dirty="0">
                          <a:solidFill>
                            <a:srgbClr val="0A1F3D"/>
                          </a:solidFill>
                        </a:rPr>
                        <a:t>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1000" dirty="0">
                          <a:solidFill>
                            <a:srgbClr val="0A1F3D"/>
                          </a:solidFill>
                        </a:rPr>
                        <a:t>17 points</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1000" dirty="0">
                          <a:solidFill>
                            <a:srgbClr val="0A1F3D"/>
                          </a:solidFill>
                        </a:rPr>
                        <a:t>£279m</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1000" dirty="0">
                          <a:solidFill>
                            <a:srgbClr val="0A1F3D"/>
                          </a:solidFill>
                        </a:rPr>
                        <a:t>122,000</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1000" dirty="0">
                          <a:solidFill>
                            <a:srgbClr val="0A1F3D"/>
                          </a:solidFill>
                        </a:rPr>
                        <a:t>£49m per annual cohort</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457200">
                <a:tc>
                  <a:txBody>
                    <a:bodyPr/>
                    <a:lstStyle/>
                    <a:p>
                      <a:pPr indent="0" marL="0">
                        <a:buNone/>
                      </a:pPr>
                      <a:r>
                        <a:rPr lang="en-US" sz="1000" b="1" dirty="0">
                          <a:solidFill>
                            <a:srgbClr val="0A1F3D"/>
                          </a:solidFill>
                        </a:rPr>
                        <a:t>High</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17%</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20 points</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£700m</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306,000</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£122m per annual cohort</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4" name="bullets"/>
          <p:cNvSpPr txBox="1"/>
          <p:nvPr/>
        </p:nvSpPr>
        <p:spPr>
          <a:xfrm>
            <a:off x="457200" y="3200400"/>
            <a:ext cx="11247120" cy="2834640"/>
          </a:xfrm>
          <a:prstGeom prst="rect">
            <a:avLst/>
          </a:prstGeom>
          <a:noFill/>
          <a:ln/>
        </p:spPr>
        <p:txBody>
          <a:bodyPr wrap="square" lIns="0" tIns="0" rIns="0" bIns="0" rtlCol="0" anchor="t"/>
          <a:lstStyle/>
          <a:p>
            <a:pPr marL="152400" indent="-152400">
              <a:spcAft>
                <a:spcPts val="400"/>
              </a:spcAft>
              <a:buSzPct val="100000"/>
              <a:buChar char="•"/>
            </a:pPr>
            <a:r>
              <a:rPr lang="en-US" sz="1100" b="1" dirty="0">
                <a:solidFill>
                  <a:schemeClr val="tx1"/>
                </a:solidFill>
              </a:rPr>
              <a:t>The chain. </a:t>
            </a:r>
            <a:pPr indent="0" marL="0">
              <a:spcAft>
                <a:spcPts val="400"/>
              </a:spcAft>
              <a:buNone/>
            </a:pPr>
            <a:r>
              <a:rPr lang="en-US" sz="1100" dirty="0">
                <a:solidFill>
                  <a:schemeClr val="tx1"/>
                </a:solidFill>
              </a:rPr>
              <a:t>UK cardholders moved £20.5 billion in 8.9 million balance transfers in the year to March 2026 (UK Finance). Barclays holds about 24% of UK card balances (£17.2bn of £72.3bn). 17% of people who shopped for a financial product in the year to April 2026 used an AI assistant to help, and under a quarter of those followed it outright while most used it to build their shortlist (FCA, n=5,026). In the AI answers studied, Barclaycard's share is below its 12.5% unprompted top-three rate.</a:t>
            </a:r>
            <a:endParaRPr lang="en-US" sz="1100" dirty="0"/>
          </a:p>
          <a:p>
            <a:pPr marL="152400" indent="-152400">
              <a:spcAft>
                <a:spcPts val="400"/>
              </a:spcAft>
              <a:buSzPct val="100000"/>
              <a:buChar char="•"/>
            </a:pPr>
            <a:r>
              <a:rPr lang="en-US" sz="1100" b="1" dirty="0">
                <a:solidFill>
                  <a:schemeClr val="tx1"/>
                </a:solidFill>
              </a:rPr>
              <a:t>Balances at stake </a:t>
            </a:r>
            <a:pPr indent="0" marL="0">
              <a:spcAft>
                <a:spcPts val="400"/>
              </a:spcAft>
              <a:buNone/>
            </a:pPr>
            <a:r>
              <a:rPr lang="en-US" sz="1100" dirty="0">
                <a:solidFill>
                  <a:schemeClr val="tx1"/>
                </a:solidFill>
              </a:rPr>
              <a:t>= £20.5bn x AI-shortlist share x (fair share minus AI share). Accounts = balances / £2,290 average transfer. Value = accounts x £400 over 10 years (Head of Credit Cards' assumption).</a:t>
            </a:r>
            <a:endParaRPr lang="en-US" sz="1100" dirty="0"/>
          </a:p>
          <a:p>
            <a:pPr marL="152400" indent="-152400">
              <a:spcAft>
                <a:spcPts val="400"/>
              </a:spcAft>
              <a:buSzPct val="100000"/>
              <a:buChar char="•"/>
            </a:pPr>
            <a:r>
              <a:rPr lang="en-US" sz="1100" b="1" dirty="0">
                <a:solidFill>
                  <a:schemeClr val="tx1"/>
                </a:solidFill>
              </a:rPr>
              <a:t>Which case to believe. </a:t>
            </a:r>
            <a:pPr indent="0" marL="0">
              <a:spcAft>
                <a:spcPts val="400"/>
              </a:spcAft>
              <a:buNone/>
            </a:pPr>
            <a:r>
              <a:rPr lang="en-US" sz="1100" dirty="0">
                <a:solidFill>
                  <a:schemeClr val="tx1"/>
                </a:solidFill>
              </a:rPr>
              <a:t>The mid case takes the FCA's finding that most AI users build a shortlist with it rather than follow it; the high case is today's measured AI usage with no discount; the low case counts only those who followed the suggestion. AI-tool usage among UK adults went from 31% to 54% in two years (Ofcom), so the share grows from here.</a:t>
            </a:r>
            <a:endParaRPr lang="en-US" sz="1100" dirty="0"/>
          </a:p>
          <a:p>
            <a:pPr marL="152400" indent="-152400">
              <a:spcAft>
                <a:spcPts val="400"/>
              </a:spcAft>
              <a:buSzPct val="100000"/>
              <a:buChar char="•"/>
            </a:pPr>
            <a:r>
              <a:rPr lang="en-US" sz="1100" b="1" dirty="0">
                <a:solidFill>
                  <a:schemeClr val="tx1"/>
                </a:solidFill>
              </a:rPr>
              <a:t>Cost of acting. </a:t>
            </a:r>
            <a:pPr indent="0" marL="0">
              <a:spcAft>
                <a:spcPts val="400"/>
              </a:spcAft>
              <a:buNone/>
            </a:pPr>
            <a:r>
              <a:rPr lang="en-US" sz="1100" dirty="0">
                <a:solidFill>
                  <a:schemeClr val="tx1"/>
                </a:solidFill>
              </a:rPr>
              <a:t>The six decisions are page wording, data feeds and URL fixes; no price change. Running the monitor is in the low tens of thousands of pounds a year. A second value line is avoided harm: wrong facts given to customers in 2 of 8 runs.</a:t>
            </a:r>
            <a:endParaRPr lang="en-US" sz="1100" dirty="0"/>
          </a:p>
        </p:txBody>
      </p:sp>
      <p:sp>
        <p:nvSpPr>
          <p:cNvPr id="5"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Slide 'Item 8: what is at stake' and what_to_do.md item 8 for every input and its source.</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Executive summary 3 of 3: the decisions taken and the ask</a:t>
            </a:r>
            <a:endParaRPr lang="en-US" sz="2400" dirty="0"/>
          </a:p>
        </p:txBody>
      </p:sp>
      <p:sp>
        <p:nvSpPr>
          <p:cNvPr id="3" name="card decided"/>
          <p:cNvSpPr/>
          <p:nvPr/>
        </p:nvSpPr>
        <p:spPr>
          <a:xfrm>
            <a:off x="457200" y="1188720"/>
            <a:ext cx="5577840" cy="4846320"/>
          </a:xfrm>
          <a:prstGeom prst="roundRect">
            <a:avLst>
              <a:gd name="adj" fmla="val 1509"/>
            </a:avLst>
          </a:prstGeom>
          <a:solidFill>
            <a:schemeClr val="bg2"/>
          </a:solidFill>
          <a:ln w="9525">
            <a:solidFill>
              <a:schemeClr val="accent5"/>
            </a:solidFill>
            <a:prstDash val="solid"/>
          </a:ln>
        </p:spPr>
      </p:sp>
      <p:sp>
        <p:nvSpPr>
          <p:cNvPr id="4" name="heading Decided with the Hea"/>
          <p:cNvSpPr txBox="1"/>
          <p:nvPr/>
        </p:nvSpPr>
        <p:spPr>
          <a:xfrm>
            <a:off x="640080" y="1280160"/>
            <a:ext cx="5212080" cy="365760"/>
          </a:xfrm>
          <a:prstGeom prst="rect">
            <a:avLst/>
          </a:prstGeom>
          <a:noFill/>
          <a:ln/>
        </p:spPr>
        <p:txBody>
          <a:bodyPr wrap="square" lIns="0" tIns="0" rIns="0" bIns="0" rtlCol="0" anchor="ctr"/>
          <a:lstStyle/>
          <a:p>
            <a:pPr indent="0" marL="0">
              <a:buNone/>
            </a:pPr>
            <a:r>
              <a:rPr lang="en-US" sz="1300" b="1" dirty="0">
                <a:solidFill>
                  <a:schemeClr val="tx2"/>
                </a:solidFill>
              </a:rPr>
              <a:t>Decided with the Head of Credit Cards, 11 October</a:t>
            </a:r>
            <a:endParaRPr lang="en-US" sz="1300" dirty="0"/>
          </a:p>
        </p:txBody>
      </p:sp>
      <p:sp>
        <p:nvSpPr>
          <p:cNvPr id="5" name="bullets"/>
          <p:cNvSpPr txBox="1"/>
          <p:nvPr/>
        </p:nvSpPr>
        <p:spPr>
          <a:xfrm>
            <a:off x="640080" y="1691640"/>
            <a:ext cx="5212080" cy="4206240"/>
          </a:xfrm>
          <a:prstGeom prst="rect">
            <a:avLst/>
          </a:prstGeom>
          <a:noFill/>
          <a:ln/>
        </p:spPr>
        <p:txBody>
          <a:bodyPr wrap="square" lIns="0" tIns="0" rIns="0" bIns="0" rtlCol="0" anchor="t"/>
          <a:lstStyle/>
          <a:p>
            <a:pPr marL="152400" indent="-152400">
              <a:spcAft>
                <a:spcPts val="800"/>
              </a:spcAft>
              <a:buSzPct val="100000"/>
              <a:buChar char="•"/>
            </a:pPr>
            <a:r>
              <a:rPr lang="en-US" sz="1200" b="1" dirty="0">
                <a:solidFill>
                  <a:schemeClr val="tx1"/>
                </a:solidFill>
              </a:rPr>
              <a:t>Show the 22 month card everywhere </a:t>
            </a:r>
            <a:pPr indent="0" marL="0">
              <a:spcAft>
                <a:spcPts val="800"/>
              </a:spcAft>
              <a:buNone/>
            </a:pPr>
            <a:r>
              <a:rPr lang="en-US" sz="1200" dirty="0">
                <a:solidFill>
                  <a:schemeClr val="tx1"/>
                </a:solidFill>
              </a:rPr>
              <a:t>Barclaycard balance-transfer cards appear: barclays.co.uk, the app, and the feeds to MSE, Which? and Moneyfacts.</a:t>
            </a:r>
            <a:endParaRPr lang="en-US" sz="1200" dirty="0"/>
          </a:p>
          <a:p>
            <a:pPr marL="152400" indent="-152400">
              <a:spcAft>
                <a:spcPts val="800"/>
              </a:spcAft>
              <a:buSzPct val="100000"/>
              <a:buChar char="•"/>
            </a:pPr>
            <a:r>
              <a:rPr lang="en-US" sz="1200" b="1" dirty="0">
                <a:solidFill>
                  <a:schemeClr val="tx1"/>
                </a:solidFill>
              </a:rPr>
              <a:t>Put the regulatory eligibility line in every card block </a:t>
            </a:r>
            <a:pPr indent="0" marL="0">
              <a:spcAft>
                <a:spcPts val="800"/>
              </a:spcAft>
              <a:buNone/>
            </a:pPr>
            <a:r>
              <a:rPr lang="en-US" sz="1200" dirty="0">
                <a:solidFill>
                  <a:schemeClr val="tx1"/>
                </a:solidFill>
              </a:rPr>
              <a:t>and surface what is already published but hidden: the soft-search line, the full-term statement, the documents list.</a:t>
            </a:r>
            <a:endParaRPr lang="en-US" sz="1200" dirty="0"/>
          </a:p>
          <a:p>
            <a:pPr marL="152400" indent="-152400">
              <a:spcAft>
                <a:spcPts val="800"/>
              </a:spcAft>
              <a:buSzPct val="100000"/>
              <a:buChar char="•"/>
            </a:pPr>
            <a:r>
              <a:rPr lang="en-US" sz="1200" b="1" dirty="0">
                <a:solidFill>
                  <a:schemeClr val="tx1"/>
                </a:solidFill>
              </a:rPr>
              <a:t>Replace 'up to 36 months' with a definite list </a:t>
            </a:r>
            <a:pPr indent="0" marL="0">
              <a:spcAft>
                <a:spcPts val="800"/>
              </a:spcAft>
              <a:buNone/>
            </a:pPr>
            <a:r>
              <a:rPr lang="en-US" sz="1200" dirty="0">
                <a:solidFill>
                  <a:schemeClr val="tx1"/>
                </a:solidFill>
              </a:rPr>
              <a:t>of the terms an accepted applicant can be offered. No published odds.</a:t>
            </a:r>
            <a:endParaRPr lang="en-US" sz="1200" dirty="0"/>
          </a:p>
          <a:p>
            <a:pPr marL="152400" indent="-152400">
              <a:spcAft>
                <a:spcPts val="800"/>
              </a:spcAft>
              <a:buSzPct val="100000"/>
              <a:buChar char="•"/>
            </a:pPr>
            <a:r>
              <a:rPr lang="en-US" sz="1200" b="1" dirty="0">
                <a:solidFill>
                  <a:schemeClr val="tx1"/>
                </a:solidFill>
              </a:rPr>
              <a:t>Move promotional text below the terms </a:t>
            </a:r>
            <a:pPr indent="0" marL="0">
              <a:spcAft>
                <a:spcPts val="800"/>
              </a:spcAft>
              <a:buNone/>
            </a:pPr>
            <a:r>
              <a:rPr lang="en-US" sz="1200" dirty="0">
                <a:solidFill>
                  <a:schemeClr val="tx1"/>
                </a:solidFill>
              </a:rPr>
              <a:t>and state that no Barclays account is needed for the card.</a:t>
            </a:r>
            <a:endParaRPr lang="en-US" sz="1200" dirty="0"/>
          </a:p>
          <a:p>
            <a:pPr marL="152400" indent="-152400">
              <a:spcAft>
                <a:spcPts val="800"/>
              </a:spcAft>
              <a:buSzPct val="100000"/>
              <a:buChar char="•"/>
            </a:pPr>
            <a:r>
              <a:rPr lang="en-US" sz="1200" b="1" dirty="0">
                <a:solidFill>
                  <a:schemeClr val="tx1"/>
                </a:solidFill>
              </a:rPr>
              <a:t>Correct the APR and fee mismatches; </a:t>
            </a:r>
            <a:pPr indent="0" marL="0">
              <a:spcAft>
                <a:spcPts val="800"/>
              </a:spcAft>
              <a:buNone/>
            </a:pPr>
            <a:r>
              <a:rPr lang="en-US" sz="1200" dirty="0">
                <a:solidFill>
                  <a:schemeClr val="tx1"/>
                </a:solidFill>
              </a:rPr>
              <a:t>rates right in real time at every listing, with a visible date; a dateless terms file with the edition inside.</a:t>
            </a:r>
            <a:endParaRPr lang="en-US" sz="1200" dirty="0"/>
          </a:p>
          <a:p>
            <a:pPr marL="152400" indent="-152400">
              <a:spcAft>
                <a:spcPts val="800"/>
              </a:spcAft>
              <a:buSzPct val="100000"/>
              <a:buChar char="•"/>
            </a:pPr>
            <a:r>
              <a:rPr lang="en-US" sz="1200" b="1" dirty="0">
                <a:solidFill>
                  <a:schemeClr val="tx1"/>
                </a:solidFill>
              </a:rPr>
              <a:t>Keep the 3.15% fee. </a:t>
            </a:r>
            <a:pPr indent="0" marL="0">
              <a:spcAft>
                <a:spcPts val="800"/>
              </a:spcAft>
              <a:buNone/>
            </a:pPr>
            <a:r>
              <a:rPr lang="en-US" sz="1200" dirty="0">
                <a:solidFill>
                  <a:schemeClr val="tx1"/>
                </a:solidFill>
              </a:rPr>
              <a:t>A conscious pricing decision under the weekly-reviewed playbook.</a:t>
            </a:r>
            <a:endParaRPr lang="en-US" sz="1200" dirty="0"/>
          </a:p>
        </p:txBody>
      </p:sp>
      <p:sp>
        <p:nvSpPr>
          <p:cNvPr id="6" name="card ask"/>
          <p:cNvSpPr/>
          <p:nvPr/>
        </p:nvSpPr>
        <p:spPr>
          <a:xfrm>
            <a:off x="6217920" y="1188720"/>
            <a:ext cx="5532120" cy="4846320"/>
          </a:xfrm>
          <a:prstGeom prst="roundRect">
            <a:avLst>
              <a:gd name="adj" fmla="val 1509"/>
            </a:avLst>
          </a:prstGeom>
          <a:solidFill>
            <a:schemeClr val="bg2"/>
          </a:solidFill>
          <a:ln w="9525">
            <a:solidFill>
              <a:schemeClr val="accent5"/>
            </a:solidFill>
            <a:prstDash val="solid"/>
          </a:ln>
        </p:spPr>
      </p:sp>
      <p:sp>
        <p:nvSpPr>
          <p:cNvPr id="7" name="heading The ask"/>
          <p:cNvSpPr txBox="1"/>
          <p:nvPr/>
        </p:nvSpPr>
        <p:spPr>
          <a:xfrm>
            <a:off x="6400800" y="1280160"/>
            <a:ext cx="5166360" cy="365760"/>
          </a:xfrm>
          <a:prstGeom prst="rect">
            <a:avLst/>
          </a:prstGeom>
          <a:noFill/>
          <a:ln/>
        </p:spPr>
        <p:txBody>
          <a:bodyPr wrap="square" lIns="0" tIns="0" rIns="0" bIns="0" rtlCol="0" anchor="ctr"/>
          <a:lstStyle/>
          <a:p>
            <a:pPr indent="0" marL="0">
              <a:buNone/>
            </a:pPr>
            <a:r>
              <a:rPr lang="en-US" sz="1300" b="1" dirty="0">
                <a:solidFill>
                  <a:schemeClr val="tx2"/>
                </a:solidFill>
              </a:rPr>
              <a:t>The ask</a:t>
            </a:r>
            <a:endParaRPr lang="en-US" sz="1300" dirty="0"/>
          </a:p>
        </p:txBody>
      </p:sp>
      <p:sp>
        <p:nvSpPr>
          <p:cNvPr id="8" name="bullets"/>
          <p:cNvSpPr txBox="1"/>
          <p:nvPr/>
        </p:nvSpPr>
        <p:spPr>
          <a:xfrm>
            <a:off x="6400800" y="1691640"/>
            <a:ext cx="5166360" cy="4206240"/>
          </a:xfrm>
          <a:prstGeom prst="rect">
            <a:avLst/>
          </a:prstGeom>
          <a:noFill/>
          <a:ln/>
        </p:spPr>
        <p:txBody>
          <a:bodyPr wrap="square" lIns="0" tIns="0" rIns="0" bIns="0" rtlCol="0" anchor="t"/>
          <a:lstStyle/>
          <a:p>
            <a:pPr marL="152400" indent="-152400">
              <a:spcAft>
                <a:spcPts val="800"/>
              </a:spcAft>
              <a:buSzPct val="100000"/>
              <a:buChar char="•"/>
            </a:pPr>
            <a:r>
              <a:rPr lang="en-US" sz="1200" b="1" dirty="0">
                <a:solidFill>
                  <a:schemeClr val="tx1"/>
                </a:solidFill>
              </a:rPr>
              <a:t>Digital capacity </a:t>
            </a:r>
            <a:pPr indent="0" marL="0">
              <a:spcAft>
                <a:spcPts val="800"/>
              </a:spcAft>
              <a:buNone/>
            </a:pPr>
            <a:r>
              <a:rPr lang="en-US" sz="1200" dirty="0">
                <a:solidFill>
                  <a:schemeClr val="tx1"/>
                </a:solidFill>
              </a:rPr>
              <a:t>for the page changes on barclaycard.co.uk and barclays.co.uk in the next release, and a separate check of the 404s and broken images.</a:t>
            </a:r>
            <a:endParaRPr lang="en-US" sz="1200" dirty="0"/>
          </a:p>
          <a:p>
            <a:pPr marL="152400" indent="-152400">
              <a:spcAft>
                <a:spcPts val="800"/>
              </a:spcAft>
              <a:buSzPct val="100000"/>
              <a:buChar char="•"/>
            </a:pPr>
            <a:r>
              <a:rPr lang="en-US" sz="1200" b="1" dirty="0">
                <a:solidFill>
                  <a:schemeClr val="tx1"/>
                </a:solidFill>
              </a:rPr>
              <a:t>Comparison-site feeds: </a:t>
            </a:r>
            <a:pPr indent="0" marL="0">
              <a:spcAft>
                <a:spcPts val="800"/>
              </a:spcAft>
              <a:buNone/>
            </a:pPr>
            <a:r>
              <a:rPr lang="en-US" sz="1200" dirty="0">
                <a:solidFill>
                  <a:schemeClr val="tx1"/>
                </a:solidFill>
              </a:rPr>
              <a:t>the 22 month card, with its term options, to MSE, Which?, Moneyfacts and Finder.</a:t>
            </a:r>
            <a:endParaRPr lang="en-US" sz="1200" dirty="0"/>
          </a:p>
          <a:p>
            <a:pPr marL="152400" indent="-152400">
              <a:spcAft>
                <a:spcPts val="800"/>
              </a:spcAft>
              <a:buSzPct val="100000"/>
              <a:buChar char="•"/>
            </a:pPr>
            <a:r>
              <a:rPr lang="en-US" sz="1200" b="1" dirty="0">
                <a:solidFill>
                  <a:schemeClr val="tx1"/>
                </a:solidFill>
              </a:rPr>
              <a:t>A three-cycle proof of concept, </a:t>
            </a:r>
            <a:pPr indent="0" marL="0">
              <a:spcAft>
                <a:spcPts val="800"/>
              </a:spcAft>
              <a:buNone/>
            </a:pPr>
            <a:r>
              <a:rPr lang="en-US" sz="1200" dirty="0">
                <a:solidFill>
                  <a:schemeClr val="tx1"/>
                </a:solidFill>
              </a:rPr>
              <a:t>November to January: eight runs a month against the 11 October baseline, with a before-and-after cycle timed to the first site change. Owned by the Head of Credit Cards; the agency runs and scores.</a:t>
            </a:r>
            <a:endParaRPr lang="en-US" sz="1200" dirty="0"/>
          </a:p>
          <a:p>
            <a:pPr marL="152400" indent="-152400">
              <a:spcAft>
                <a:spcPts val="800"/>
              </a:spcAft>
              <a:buSzPct val="100000"/>
              <a:buChar char="•"/>
            </a:pPr>
            <a:r>
              <a:rPr lang="en-US" sz="1200" b="1" dirty="0">
                <a:solidFill>
                  <a:schemeClr val="tx1"/>
                </a:solidFill>
              </a:rPr>
              <a:t>A run-the-bank home from February: </a:t>
            </a:r>
            <a:pPr indent="0" marL="0">
              <a:spcAft>
                <a:spcPts val="800"/>
              </a:spcAft>
              <a:buNone/>
            </a:pPr>
            <a:r>
              <a:rPr lang="en-US" sz="1200" dirty="0">
                <a:solidFill>
                  <a:schemeClr val="tx1"/>
                </a:solidFill>
              </a:rPr>
              <a:t>scripted monthly runs, a rubric scorer, a nightly site hygiene monitor, a dashboard with alerts; card team decides, digital fixes, analytics runs, compliance approves the persona.</a:t>
            </a:r>
            <a:endParaRPr lang="en-US" sz="1200" dirty="0"/>
          </a:p>
          <a:p>
            <a:pPr marL="152400" indent="-152400">
              <a:spcAft>
                <a:spcPts val="800"/>
              </a:spcAft>
              <a:buSzPct val="100000"/>
              <a:buChar char="•"/>
            </a:pPr>
            <a:r>
              <a:rPr lang="en-US" sz="1200" b="1" dirty="0">
                <a:solidFill>
                  <a:schemeClr val="tx1"/>
                </a:solidFill>
              </a:rPr>
              <a:t>Cost: </a:t>
            </a:r>
            <a:pPr indent="0" marL="0">
              <a:spcAft>
                <a:spcPts val="800"/>
              </a:spcAft>
              <a:buNone/>
            </a:pPr>
            <a:r>
              <a:rPr lang="en-US" sz="1200" dirty="0">
                <a:solidFill>
                  <a:schemeClr val="tx1"/>
                </a:solidFill>
              </a:rPr>
              <a:t>four to six weeks of one engineer to build; one to two analyst days a month; model usage in the tens of pounds a month.</a:t>
            </a:r>
            <a:endParaRPr lang="en-US" sz="1200" dirty="0"/>
          </a:p>
        </p:txBody>
      </p:sp>
      <p:sp>
        <p:nvSpPr>
          <p:cNvPr id="9"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what_to_do.md items 1 to 8; section 'What to do' of this deck.</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The conversation every model had: one opening question, then four fixed follow-ups</a:t>
            </a:r>
            <a:endParaRPr lang="en-US" sz="2400" dirty="0"/>
          </a:p>
        </p:txBody>
      </p:sp>
      <p:sp>
        <p:nvSpPr>
          <p:cNvPr id="3" name="card script"/>
          <p:cNvSpPr/>
          <p:nvPr/>
        </p:nvSpPr>
        <p:spPr>
          <a:xfrm>
            <a:off x="457200" y="1188720"/>
            <a:ext cx="6949440" cy="4846320"/>
          </a:xfrm>
          <a:prstGeom prst="roundRect">
            <a:avLst>
              <a:gd name="adj" fmla="val 1509"/>
            </a:avLst>
          </a:prstGeom>
          <a:solidFill>
            <a:schemeClr val="bg2"/>
          </a:solidFill>
          <a:ln w="9525">
            <a:solidFill>
              <a:schemeClr val="accent5"/>
            </a:solidFill>
            <a:prstDash val="solid"/>
          </a:ln>
        </p:spPr>
      </p:sp>
      <p:sp>
        <p:nvSpPr>
          <p:cNvPr id="4" name="heading What the user asked"/>
          <p:cNvSpPr txBox="1"/>
          <p:nvPr/>
        </p:nvSpPr>
        <p:spPr>
          <a:xfrm>
            <a:off x="640080" y="1280160"/>
            <a:ext cx="6583680" cy="365760"/>
          </a:xfrm>
          <a:prstGeom prst="rect">
            <a:avLst/>
          </a:prstGeom>
          <a:noFill/>
          <a:ln/>
        </p:spPr>
        <p:txBody>
          <a:bodyPr wrap="square" lIns="0" tIns="0" rIns="0" bIns="0" rtlCol="0" anchor="ctr"/>
          <a:lstStyle/>
          <a:p>
            <a:pPr indent="0" marL="0">
              <a:buNone/>
            </a:pPr>
            <a:r>
              <a:rPr lang="en-US" sz="1400" b="1" dirty="0">
                <a:solidFill>
                  <a:schemeClr val="tx2"/>
                </a:solidFill>
              </a:rPr>
              <a:t>What the user asked</a:t>
            </a:r>
            <a:endParaRPr lang="en-US" sz="1400" dirty="0"/>
          </a:p>
        </p:txBody>
      </p:sp>
      <p:sp>
        <p:nvSpPr>
          <p:cNvPr id="5" name="script text"/>
          <p:cNvSpPr txBox="1"/>
          <p:nvPr/>
        </p:nvSpPr>
        <p:spPr>
          <a:xfrm>
            <a:off x="640080" y="1691640"/>
            <a:ext cx="6583680" cy="4297680"/>
          </a:xfrm>
          <a:prstGeom prst="rect">
            <a:avLst/>
          </a:prstGeom>
          <a:noFill/>
          <a:ln/>
        </p:spPr>
        <p:txBody>
          <a:bodyPr wrap="square" lIns="0" tIns="0" rIns="0" bIns="0" rtlCol="0" anchor="t"/>
          <a:lstStyle/>
          <a:p>
            <a:pPr indent="0" marL="0">
              <a:buNone/>
            </a:pPr>
            <a:r>
              <a:rPr lang="en-US" sz="1050" b="1" dirty="0">
                <a:solidFill>
                  <a:schemeClr val="accent1"/>
                </a:solidFill>
              </a:rPr>
              <a:t>Turn 1, verbatim. </a:t>
            </a:r>
            <a:pPr indent="0" marL="0">
              <a:spcAft>
                <a:spcPts val="600"/>
              </a:spcAft>
              <a:buNone/>
            </a:pPr>
            <a:r>
              <a:rPr lang="en-US" sz="1050" dirty="0">
                <a:solidFill>
                  <a:schemeClr val="tx1"/>
                </a:solidFill>
              </a:rPr>
              <a:t>Hi, I'm in the UK and I've got about £3,000 on a credit card charging me 24.9% APR. I want to move it to a 0% balance transfer card so I can actually clear it. Can you give me your top three cards to consider, ranked, with your reasoning for each? And please tell me where you got each piece of information from, I want to be able to check it.</a:t>
            </a:r>
            <a:endParaRPr lang="en-US" sz="1050" dirty="0"/>
          </a:p>
          <a:p>
            <a:pPr indent="0" marL="0">
              <a:buNone/>
            </a:pPr>
            <a:r>
              <a:rPr lang="en-US" sz="1050" b="1" dirty="0">
                <a:solidFill>
                  <a:schemeClr val="accent1"/>
                </a:solidFill>
              </a:rPr>
              <a:t>Turn 2. </a:t>
            </a:r>
            <a:pPr indent="0" marL="0">
              <a:spcAft>
                <a:spcPts val="600"/>
              </a:spcAft>
              <a:buNone/>
            </a:pPr>
            <a:r>
              <a:rPr lang="en-US" sz="1050" dirty="0">
                <a:solidFill>
                  <a:schemeClr val="tx1"/>
                </a:solidFill>
              </a:rPr>
              <a:t>The user answered the model's questions from the persona sheet and asked for a final ranked top three with a source link for each fact.</a:t>
            </a:r>
            <a:endParaRPr lang="en-US" sz="1050" dirty="0"/>
          </a:p>
          <a:p>
            <a:pPr indent="0" marL="0">
              <a:buNone/>
            </a:pPr>
            <a:r>
              <a:rPr lang="en-US" sz="1050" b="1" dirty="0">
                <a:solidFill>
                  <a:schemeClr val="accent1"/>
                </a:solidFill>
              </a:rPr>
              <a:t>Turn 3, verbatim. </a:t>
            </a:r>
            <a:pPr indent="0" marL="0">
              <a:spcAft>
                <a:spcPts val="600"/>
              </a:spcAft>
              <a:buNone/>
            </a:pPr>
            <a:r>
              <a:rPr lang="en-US" sz="1050" dirty="0">
                <a:solidFill>
                  <a:schemeClr val="tx1"/>
                </a:solidFill>
              </a:rPr>
              <a:t>A friend mentioned Barclaycard. Where would Barclaycard's balance transfer cards sit in your ranking for me, and why? Please source every number.</a:t>
            </a:r>
            <a:endParaRPr lang="en-US" sz="1050" dirty="0"/>
          </a:p>
          <a:p>
            <a:pPr indent="0" marL="0">
              <a:buNone/>
            </a:pPr>
            <a:r>
              <a:rPr lang="en-US" sz="1050" b="1" dirty="0">
                <a:solidFill>
                  <a:schemeClr val="accent1"/>
                </a:solidFill>
              </a:rPr>
              <a:t>Turn 4, verbatim. </a:t>
            </a:r>
            <a:pPr indent="0" marL="0">
              <a:spcAft>
                <a:spcPts val="600"/>
              </a:spcAft>
              <a:buNone/>
            </a:pPr>
            <a:r>
              <a:rPr lang="en-US" sz="1050" dirty="0">
                <a:solidFill>
                  <a:schemeClr val="tx1"/>
                </a:solidFill>
              </a:rPr>
              <a:t>I'm going to apply to one card today. Pick one for me, tell me why, and tell me what would have to be true for you to change that pick.</a:t>
            </a:r>
            <a:endParaRPr lang="en-US" sz="1050" dirty="0"/>
          </a:p>
          <a:p>
            <a:pPr indent="0" marL="0">
              <a:buNone/>
            </a:pPr>
            <a:r>
              <a:rPr lang="en-US" sz="1050" b="1" dirty="0">
                <a:solidFill>
                  <a:schemeClr val="accent1"/>
                </a:solidFill>
              </a:rPr>
              <a:t>Turn 5, verbatim. </a:t>
            </a:r>
            <a:pPr indent="0" marL="0">
              <a:buNone/>
            </a:pPr>
            <a:r>
              <a:rPr lang="en-US" sz="1050" dirty="0">
                <a:solidFill>
                  <a:schemeClr val="tx1"/>
                </a:solidFill>
              </a:rPr>
              <a:t>Before I apply I want to double check. For each card you named today, where exactly did the 0% length, the fee and the eligibility details come from? Which sites did you rely on most, did you open the providers' own pages, and what came from memory rather than a page? And what information was missing from the card providers' own pages that would have helped you advise me?</a:t>
            </a:r>
            <a:endParaRPr lang="en-US" sz="1050" dirty="0"/>
          </a:p>
        </p:txBody>
      </p:sp>
      <p:sp>
        <p:nvSpPr>
          <p:cNvPr id="6" name="card persona"/>
          <p:cNvSpPr/>
          <p:nvPr/>
        </p:nvSpPr>
        <p:spPr>
          <a:xfrm>
            <a:off x="7680960" y="1188720"/>
            <a:ext cx="4069080" cy="4846320"/>
          </a:xfrm>
          <a:prstGeom prst="roundRect">
            <a:avLst>
              <a:gd name="adj" fmla="val 1798"/>
            </a:avLst>
          </a:prstGeom>
          <a:solidFill>
            <a:schemeClr val="bg2"/>
          </a:solidFill>
          <a:ln w="9525">
            <a:solidFill>
              <a:schemeClr val="accent5"/>
            </a:solidFill>
            <a:prstDash val="solid"/>
          </a:ln>
        </p:spPr>
      </p:sp>
      <p:sp>
        <p:nvSpPr>
          <p:cNvPr id="7" name="heading The customer behind "/>
          <p:cNvSpPr txBox="1"/>
          <p:nvPr/>
        </p:nvSpPr>
        <p:spPr>
          <a:xfrm>
            <a:off x="7863840" y="128016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The customer behind the answers</a:t>
            </a:r>
            <a:endParaRPr lang="en-US" sz="1400" dirty="0"/>
          </a:p>
        </p:txBody>
      </p:sp>
      <p:sp>
        <p:nvSpPr>
          <p:cNvPr id="8" name="bullets"/>
          <p:cNvSpPr txBox="1"/>
          <p:nvPr/>
        </p:nvSpPr>
        <p:spPr>
          <a:xfrm>
            <a:off x="7863840" y="1691640"/>
            <a:ext cx="3749040" cy="27432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34, Leeds, renting, employed, £38,000 salary</a:t>
            </a:r>
            <a:endParaRPr lang="en-US" sz="1100" dirty="0"/>
          </a:p>
          <a:p>
            <a:pPr marL="152400" indent="-152400">
              <a:spcAft>
                <a:spcPts val="400"/>
              </a:spcAft>
              <a:buSzPct val="100000"/>
              <a:buChar char="•"/>
            </a:pPr>
            <a:r>
              <a:rPr lang="en-US" sz="1100" dirty="0">
                <a:solidFill>
                  <a:schemeClr val="tx1"/>
                </a:solidFill>
              </a:rPr>
              <a:t>£3,000 at 24.9% on a small online lender's card</a:t>
            </a:r>
            <a:endParaRPr lang="en-US" sz="1100" dirty="0"/>
          </a:p>
          <a:p>
            <a:pPr marL="152400" indent="-152400">
              <a:spcAft>
                <a:spcPts val="400"/>
              </a:spcAft>
              <a:buSzPct val="100000"/>
              <a:buChar char="•"/>
            </a:pPr>
            <a:r>
              <a:rPr lang="en-US" sz="1100" dirty="0">
                <a:solidFill>
                  <a:schemeClr val="tx1"/>
                </a:solidFill>
              </a:rPr>
              <a:t>Current account with a building society; no relationship with any card issuer</a:t>
            </a:r>
            <a:endParaRPr lang="en-US" sz="1100" dirty="0"/>
          </a:p>
          <a:p>
            <a:pPr marL="152400" indent="-152400">
              <a:spcAft>
                <a:spcPts val="400"/>
              </a:spcAft>
              <a:buSzPct val="100000"/>
              <a:buChar char="•"/>
            </a:pPr>
            <a:r>
              <a:rPr lang="en-US" sz="1100" dirty="0">
                <a:solidFill>
                  <a:schemeClr val="tx1"/>
                </a:solidFill>
              </a:rPr>
              <a:t>£150 to £200 a month; wants it cleared in 18 to 24 months; wants a longer 0% period as a safety net</a:t>
            </a:r>
            <a:endParaRPr lang="en-US" sz="1100" dirty="0"/>
          </a:p>
          <a:p>
            <a:pPr marL="152400" indent="-152400">
              <a:spcAft>
                <a:spcPts val="400"/>
              </a:spcAft>
              <a:buSzPct val="100000"/>
              <a:buChar char="•"/>
            </a:pPr>
            <a:r>
              <a:rPr lang="en-US" sz="1100" dirty="0">
                <a:solidFill>
                  <a:schemeClr val="tx1"/>
                </a:solidFill>
              </a:rPr>
              <a:t>Fee up to about 3%</a:t>
            </a:r>
            <a:endParaRPr lang="en-US" sz="1100" dirty="0"/>
          </a:p>
          <a:p>
            <a:pPr marL="152400" indent="-152400">
              <a:spcAft>
                <a:spcPts val="400"/>
              </a:spcAft>
              <a:buSzPct val="100000"/>
              <a:buChar char="•"/>
            </a:pPr>
            <a:r>
              <a:rPr lang="en-US" sz="1100" b="1" dirty="0">
                <a:solidFill>
                  <a:schemeClr val="tx1"/>
                </a:solidFill>
              </a:rPr>
              <a:t>Profile A: </a:t>
            </a:r>
            <a:pPr indent="0" marL="0">
              <a:spcAft>
                <a:spcPts val="400"/>
              </a:spcAft>
              <a:buNone/>
            </a:pPr>
            <a:r>
              <a:rPr lang="en-US" sz="1100" dirty="0">
                <a:solidFill>
                  <a:schemeClr val="tx1"/>
                </a:solidFill>
              </a:rPr>
              <a:t>clean credit, never missed a payment</a:t>
            </a:r>
            <a:endParaRPr lang="en-US" sz="1100" dirty="0"/>
          </a:p>
          <a:p>
            <a:pPr marL="152400" indent="-152400">
              <a:spcAft>
                <a:spcPts val="400"/>
              </a:spcAft>
              <a:buSzPct val="100000"/>
              <a:buChar char="•"/>
            </a:pPr>
            <a:r>
              <a:rPr lang="en-US" sz="1100" b="1" dirty="0">
                <a:solidFill>
                  <a:schemeClr val="tx1"/>
                </a:solidFill>
              </a:rPr>
              <a:t>Profile B: </a:t>
            </a:r>
            <a:pPr indent="0" marL="0">
              <a:spcAft>
                <a:spcPts val="400"/>
              </a:spcAft>
              <a:buNone/>
            </a:pPr>
            <a:r>
              <a:rPr lang="en-US" sz="1100" dirty="0">
                <a:solidFill>
                  <a:schemeClr val="tx1"/>
                </a:solidFill>
              </a:rPr>
              <a:t>one missed payment 20 months ago, Experian 'Fair'</a:t>
            </a:r>
            <a:endParaRPr lang="en-US" sz="1100" dirty="0"/>
          </a:p>
        </p:txBody>
      </p:sp>
      <p:sp>
        <p:nvSpPr>
          <p:cNvPr id="9" name="heading Design"/>
          <p:cNvSpPr txBox="1"/>
          <p:nvPr/>
        </p:nvSpPr>
        <p:spPr>
          <a:xfrm>
            <a:off x="7863840" y="4480560"/>
            <a:ext cx="3749040" cy="365760"/>
          </a:xfrm>
          <a:prstGeom prst="rect">
            <a:avLst/>
          </a:prstGeom>
          <a:noFill/>
          <a:ln/>
        </p:spPr>
        <p:txBody>
          <a:bodyPr wrap="square" lIns="0" tIns="0" rIns="0" bIns="0" rtlCol="0" anchor="ctr"/>
          <a:lstStyle/>
          <a:p>
            <a:pPr indent="0" marL="0">
              <a:buNone/>
            </a:pPr>
            <a:r>
              <a:rPr lang="en-US" sz="1200" b="1" dirty="0">
                <a:solidFill>
                  <a:schemeClr val="tx2"/>
                </a:solidFill>
              </a:rPr>
              <a:t>Design</a:t>
            </a:r>
            <a:endParaRPr lang="en-US" sz="1200" dirty="0"/>
          </a:p>
        </p:txBody>
      </p:sp>
      <p:sp>
        <p:nvSpPr>
          <p:cNvPr id="10" name="bullets"/>
          <p:cNvSpPr txBox="1"/>
          <p:nvPr/>
        </p:nvSpPr>
        <p:spPr>
          <a:xfrm>
            <a:off x="7863840" y="4846320"/>
            <a:ext cx="374904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Four assistants, medium effort, web search on in every run</a:t>
            </a:r>
            <a:endParaRPr lang="en-US" sz="1100" dirty="0"/>
          </a:p>
          <a:p>
            <a:pPr marL="152400" indent="-152400">
              <a:spcAft>
                <a:spcPts val="400"/>
              </a:spcAft>
              <a:buSzPct val="100000"/>
              <a:buChar char="•"/>
            </a:pPr>
            <a:r>
              <a:rPr lang="en-US" sz="1100" dirty="0">
                <a:solidFill>
                  <a:schemeClr val="tx1"/>
                </a:solidFill>
              </a:rPr>
              <a:t>4 models x 2 profiles x 5 turns = 40 turns</a:t>
            </a:r>
            <a:endParaRPr lang="en-US" sz="1100" dirty="0"/>
          </a:p>
          <a:p>
            <a:pPr marL="152400" indent="-152400">
              <a:spcAft>
                <a:spcPts val="400"/>
              </a:spcAft>
              <a:buSzPct val="100000"/>
              <a:buChar char="•"/>
            </a:pPr>
            <a:r>
              <a:rPr lang="en-US" sz="1100" dirty="0">
                <a:solidFill>
                  <a:schemeClr val="tx1"/>
                </a:solidFill>
              </a:rPr>
              <a:t>Every reply logged with the queries run and the URLs opened</a:t>
            </a:r>
            <a:endParaRPr lang="en-US" sz="1100" dirty="0"/>
          </a:p>
        </p:txBody>
      </p:sp>
      <p:sp>
        <p:nvSpPr>
          <p:cNvPr id="11"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Oct11_3pm/protocol.md; transcripts/{A,B}-{haiku,sonnet,opus,fable}.md turn 1 to turn 5 user messages.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000" b="1" dirty="0">
                <a:solidFill>
                  <a:schemeClr val="bg1"/>
                </a:solidFill>
              </a:rPr>
              <a:t>Model 1 of 4: Haiku 5.5</a:t>
            </a:r>
            <a:endParaRPr lang="en-US" sz="4000" dirty="0"/>
          </a:p>
        </p:txBody>
      </p:sp>
      <p:sp>
        <p:nvSpPr>
          <p:cNvPr id="3" name="Text 0"/>
          <p:cNvSpPr/>
          <p:nvPr>
            <p:ph idx="101" type="body" hasCustomPrompt="1"/>
          </p:nvPr>
        </p:nvSpPr>
        <p:spPr>
          <a:xfrm>
            <a:off x="731520" y="3611880"/>
            <a:ext cx="10515600" cy="1828800"/>
          </a:xfrm>
          <a:prstGeom prst="rect">
            <a:avLst/>
          </a:prstGeom>
          <a:noFill/>
          <a:ln/>
        </p:spPr>
        <p:txBody>
          <a:bodyPr wrap="square" lIns="0" tIns="0" rIns="0" bIns="0" rtlCol="0" anchor="t"/>
          <a:lstStyle/>
          <a:p>
            <a:pPr indent="0" marL="0">
              <a:buNone/>
            </a:pPr>
            <a:r>
              <a:rPr lang="en-US" sz="1800" dirty="0">
                <a:solidFill>
                  <a:schemeClr val="accent5"/>
                </a:solidFill>
              </a:rPr>
              <a:t>Fewest questions, reads Which? first, and in profile A read barclays.co.uk instead of barclaycard.co.uk</a:t>
            </a:r>
            <a:endParaRPr lang="en-US" sz="1800" dirty="0"/>
          </a:p>
          <a:p>
            <a:pPr indent="0" marL="0">
              <a:buNone/>
            </a:pPr>
            <a:r>
              <a:rPr lang="en-US" sz="1800" dirty="0">
                <a:solidFill>
                  <a:schemeClr val="accent5"/>
                </a:solidFill>
              </a:rPr>
              <a:t>Five slides: the questions it asked, what was common across its two runs, the sources it used, the options it gave and where Barclaycard sat, and what would change its answer.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Haiku 5.5: the question asked, and the clarifying questions the model asked, turn by turn</a:t>
            </a:r>
            <a:endParaRPr lang="en-US" sz="2400" dirty="0"/>
          </a:p>
        </p:txBody>
      </p:sp>
      <p:sp>
        <p:nvSpPr>
          <p:cNvPr id="3" name="user q"/>
          <p:cNvSpPr txBox="1"/>
          <p:nvPr/>
        </p:nvSpPr>
        <p:spPr>
          <a:xfrm>
            <a:off x="457200" y="1143000"/>
            <a:ext cx="11247120" cy="685800"/>
          </a:xfrm>
          <a:prstGeom prst="rect">
            <a:avLst/>
          </a:prstGeom>
          <a:noFill/>
          <a:ln/>
        </p:spPr>
        <p:txBody>
          <a:bodyPr wrap="square" lIns="0" tIns="0" rIns="0" bIns="0" rtlCol="0" anchor="t"/>
          <a:lstStyle/>
          <a:p>
            <a:pPr indent="0" marL="0">
              <a:buNone/>
            </a:pPr>
            <a:r>
              <a:rPr lang="en-US" sz="1050" b="1" dirty="0">
                <a:solidFill>
                  <a:schemeClr val="accent1"/>
                </a:solidFill>
              </a:rPr>
              <a:t>User, turn 1: </a:t>
            </a:r>
            <a:pPr indent="0" marL="0">
              <a:buNone/>
            </a:pPr>
            <a:r>
              <a:rPr lang="en-US" sz="1050" dirty="0">
                <a:solidFill>
                  <a:schemeClr val="tx1"/>
                </a:solidFill>
              </a:rPr>
              <a:t>Hi, I'm in the UK and I've got about £3,000 on a credit card charging me 24.9% APR. I want to move it to a 0% balance transfer card so I can actually clear it. Can you give me your top three cards to consider, ranked, with your reasoning for each? And please tell me where you got each piece of information from, I want to be able to check it.</a:t>
            </a:r>
            <a:endParaRPr lang="en-US" sz="1050" dirty="0"/>
          </a:p>
        </p:txBody>
      </p:sp>
      <p:sp>
        <p:nvSpPr>
          <p:cNvPr id="4" name="card qA"/>
          <p:cNvSpPr/>
          <p:nvPr/>
        </p:nvSpPr>
        <p:spPr>
          <a:xfrm>
            <a:off x="457200" y="1920240"/>
            <a:ext cx="5532120" cy="3657600"/>
          </a:xfrm>
          <a:prstGeom prst="roundRect">
            <a:avLst>
              <a:gd name="adj" fmla="val 2000"/>
            </a:avLst>
          </a:prstGeom>
          <a:solidFill>
            <a:schemeClr val="bg2"/>
          </a:solidFill>
          <a:ln w="9525">
            <a:solidFill>
              <a:schemeClr val="accent5"/>
            </a:solidFill>
            <a:prstDash val="solid"/>
          </a:ln>
        </p:spPr>
      </p:sp>
      <p:sp>
        <p:nvSpPr>
          <p:cNvPr id="5" name="heading Profile A (clean cre"/>
          <p:cNvSpPr txBox="1"/>
          <p:nvPr/>
        </p:nvSpPr>
        <p:spPr>
          <a:xfrm>
            <a:off x="640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A (clean credit): what the model asked</a:t>
            </a:r>
            <a:endParaRPr lang="en-US" sz="1250" dirty="0"/>
          </a:p>
        </p:txBody>
      </p:sp>
      <p:sp>
        <p:nvSpPr>
          <p:cNvPr id="6" name="q text A"/>
          <p:cNvSpPr txBox="1"/>
          <p:nvPr/>
        </p:nvSpPr>
        <p:spPr>
          <a:xfrm>
            <a:off x="640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Three multiple-choice questions after a provisional top three:</a:t>
            </a:r>
            <a:endParaRPr lang="en-US" sz="1150" dirty="0"/>
          </a:p>
          <a:p>
            <a:pPr indent="0" marL="0">
              <a:spcAft>
                <a:spcPts val="200"/>
              </a:spcAft>
              <a:buNone/>
            </a:pPr>
            <a:r>
              <a:rPr lang="en-US" sz="1150" dirty="0">
                <a:solidFill>
                  <a:schemeClr val="tx1"/>
                </a:solidFill>
              </a:rPr>
              <a:t>1. About how much could you pay each month? a) under £100 b) £100 to £249 c) £250 or more</a:t>
            </a:r>
            <a:endParaRPr lang="en-US" sz="1150" dirty="0"/>
          </a:p>
          <a:p>
            <a:pPr indent="0" marL="0">
              <a:spcAft>
                <a:spcPts val="200"/>
              </a:spcAft>
              <a:buNone/>
            </a:pPr>
            <a:r>
              <a:rPr lang="en-US" sz="1150" dirty="0">
                <a:solidFill>
                  <a:schemeClr val="tx1"/>
                </a:solidFill>
              </a:rPr>
              <a:t>2. How would you describe your credit score? a) good or excellent b) fair c) not sure</a:t>
            </a:r>
            <a:endParaRPr lang="en-US" sz="1150" dirty="0"/>
          </a:p>
          <a:p>
            <a:pPr indent="0" marL="0">
              <a:spcAft>
                <a:spcPts val="200"/>
              </a:spcAft>
              <a:buNone/>
            </a:pPr>
            <a:r>
              <a:rPr lang="en-US" sz="1150" dirty="0">
                <a:solidFill>
                  <a:schemeClr val="tx1"/>
                </a:solidFill>
              </a:rPr>
              <a:t>3. Zero fee on a shorter deal, or a longer deal with a fee of about £90 to £105?</a:t>
            </a:r>
            <a:endParaRPr lang="en-US" sz="1150" dirty="0"/>
          </a:p>
          <a:p>
            <a:pPr indent="0" marL="0">
              <a:spcBef>
                <a:spcPts val="600"/>
              </a:spcBef>
              <a:buNone/>
            </a:pPr>
            <a:r>
              <a:rPr lang="en-US" sz="1150" b="1" dirty="0">
                <a:solidFill>
                  <a:schemeClr val="accent1"/>
                </a:solidFill>
              </a:rPr>
              <a:t>Turns 2 to 5</a:t>
            </a:r>
            <a:endParaRPr lang="en-US" sz="1150" dirty="0"/>
          </a:p>
          <a:p>
            <a:pPr indent="0" marL="0">
              <a:spcAft>
                <a:spcPts val="200"/>
              </a:spcAft>
              <a:buNone/>
            </a:pPr>
            <a:r>
              <a:rPr lang="en-US" sz="1150" dirty="0">
                <a:solidFill>
                  <a:schemeClr val="tx1"/>
                </a:solidFill>
              </a:rPr>
              <a:t>No further questions. Turn 5 ends with an instruction rather than a question: ask HSBC or the small online lender whether the transfer will be accepted.</a:t>
            </a:r>
            <a:endParaRPr lang="en-US" sz="1150" dirty="0"/>
          </a:p>
        </p:txBody>
      </p:sp>
      <p:sp>
        <p:nvSpPr>
          <p:cNvPr id="7" name="card qB"/>
          <p:cNvSpPr/>
          <p:nvPr/>
        </p:nvSpPr>
        <p:spPr>
          <a:xfrm>
            <a:off x="6172200" y="1920240"/>
            <a:ext cx="5532120" cy="3657600"/>
          </a:xfrm>
          <a:prstGeom prst="roundRect">
            <a:avLst>
              <a:gd name="adj" fmla="val 2000"/>
            </a:avLst>
          </a:prstGeom>
          <a:solidFill>
            <a:schemeClr val="bg2"/>
          </a:solidFill>
          <a:ln w="9525">
            <a:solidFill>
              <a:schemeClr val="accent5"/>
            </a:solidFill>
            <a:prstDash val="solid"/>
          </a:ln>
        </p:spPr>
      </p:sp>
      <p:sp>
        <p:nvSpPr>
          <p:cNvPr id="8" name="heading Profile B (Fair cred"/>
          <p:cNvSpPr txBox="1"/>
          <p:nvPr/>
        </p:nvSpPr>
        <p:spPr>
          <a:xfrm>
            <a:off x="6355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B (Fair credit): what the model asked</a:t>
            </a:r>
            <a:endParaRPr lang="en-US" sz="1250" dirty="0"/>
          </a:p>
        </p:txBody>
      </p:sp>
      <p:sp>
        <p:nvSpPr>
          <p:cNvPr id="9" name="q text B"/>
          <p:cNvSpPr txBox="1"/>
          <p:nvPr/>
        </p:nvSpPr>
        <p:spPr>
          <a:xfrm>
            <a:off x="6355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Two multiple-choice questions after a provisional top three:</a:t>
            </a:r>
            <a:endParaRPr lang="en-US" sz="1150" dirty="0"/>
          </a:p>
          <a:p>
            <a:pPr indent="0" marL="0">
              <a:spcAft>
                <a:spcPts val="200"/>
              </a:spcAft>
              <a:buNone/>
            </a:pPr>
            <a:r>
              <a:rPr lang="en-US" sz="1150" dirty="0">
                <a:solidFill>
                  <a:schemeClr val="tx1"/>
                </a:solidFill>
              </a:rPr>
              <a:t>1. How much could you realistically pay each month? a) about £150 or more b) about £250 c) around £85 d) not sure yet</a:t>
            </a:r>
            <a:endParaRPr lang="en-US" sz="1150" dirty="0"/>
          </a:p>
          <a:p>
            <a:pPr indent="0" marL="0">
              <a:spcAft>
                <a:spcPts val="200"/>
              </a:spcAft>
              <a:buNone/>
            </a:pPr>
            <a:r>
              <a:rPr lang="en-US" sz="1150" dirty="0">
                <a:solidFill>
                  <a:schemeClr val="tx1"/>
                </a:solidFill>
              </a:rPr>
              <a:t>2. How would you describe your credit history? a) good b) fair c) patchy or poor d) not sure</a:t>
            </a:r>
            <a:endParaRPr lang="en-US" sz="1150" dirty="0"/>
          </a:p>
          <a:p>
            <a:pPr indent="0" marL="0">
              <a:spcBef>
                <a:spcPts val="600"/>
              </a:spcBef>
              <a:buNone/>
            </a:pPr>
            <a:r>
              <a:rPr lang="en-US" sz="1150" b="1" dirty="0">
                <a:solidFill>
                  <a:schemeClr val="accent1"/>
                </a:solidFill>
              </a:rPr>
              <a:t>Turns 2 to 5</a:t>
            </a:r>
            <a:endParaRPr lang="en-US" sz="1150" dirty="0"/>
          </a:p>
          <a:p>
            <a:pPr indent="0" marL="0">
              <a:spcAft>
                <a:spcPts val="200"/>
              </a:spcAft>
              <a:buNone/>
            </a:pPr>
            <a:r>
              <a:rPr lang="en-US" sz="1150" dirty="0">
                <a:solidFill>
                  <a:schemeClr val="tx1"/>
                </a:solidFill>
              </a:rPr>
              <a:t>No further questions.</a:t>
            </a:r>
            <a:endParaRPr lang="en-US" sz="11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transcripts/A-haiku.md and B-haiku.md, model replies at turns 1 to 5. Falsified if a turn contains a question not listed here.</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Haiku 5.5: questions common to both runs, and what the differences show</a:t>
            </a:r>
            <a:endParaRPr lang="en-US" sz="2400" dirty="0"/>
          </a:p>
        </p:txBody>
      </p:sp>
      <p:sp>
        <p:nvSpPr>
          <p:cNvPr id="3" name="card common0"/>
          <p:cNvSpPr/>
          <p:nvPr/>
        </p:nvSpPr>
        <p:spPr>
          <a:xfrm>
            <a:off x="457200" y="1234440"/>
            <a:ext cx="3611880" cy="2514600"/>
          </a:xfrm>
          <a:prstGeom prst="roundRect">
            <a:avLst>
              <a:gd name="adj" fmla="val 2909"/>
            </a:avLst>
          </a:prstGeom>
          <a:solidFill>
            <a:schemeClr val="bg2"/>
          </a:solidFill>
          <a:ln w="9525">
            <a:solidFill>
              <a:schemeClr val="accent5"/>
            </a:solidFill>
            <a:prstDash val="solid"/>
          </a:ln>
        </p:spPr>
      </p:sp>
      <p:sp>
        <p:nvSpPr>
          <p:cNvPr id="4" name="heading Asked in both runs"/>
          <p:cNvSpPr txBox="1"/>
          <p:nvPr/>
        </p:nvSpPr>
        <p:spPr>
          <a:xfrm>
            <a:off x="64008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Asked in both runs</a:t>
            </a:r>
            <a:endParaRPr lang="en-US" sz="1300" dirty="0"/>
          </a:p>
        </p:txBody>
      </p:sp>
      <p:sp>
        <p:nvSpPr>
          <p:cNvPr id="5" name="bullets"/>
          <p:cNvSpPr txBox="1"/>
          <p:nvPr/>
        </p:nvSpPr>
        <p:spPr>
          <a:xfrm>
            <a:off x="64008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Monthly repayment capacity (bands differ: A's bands separate the 12 month no-fee card from the 36 month cards; B's bands map to the three cards it had already found, £85 for 36 months, £150 for Tesco's 20 months, £250 for 12 months)</a:t>
            </a:r>
            <a:endParaRPr lang="en-US" sz="1100" dirty="0"/>
          </a:p>
          <a:p>
            <a:pPr marL="152400" indent="-152400">
              <a:spcAft>
                <a:spcPts val="400"/>
              </a:spcAft>
              <a:buSzPct val="100000"/>
              <a:buChar char="•"/>
            </a:pPr>
            <a:r>
              <a:rPr lang="en-US" sz="1100" dirty="0">
                <a:solidFill>
                  <a:schemeClr val="tx1"/>
                </a:solidFill>
              </a:rPr>
              <a:t>Credit standing (A asks for a score band, B for a history band)</a:t>
            </a:r>
            <a:endParaRPr lang="en-US" sz="1100" dirty="0"/>
          </a:p>
        </p:txBody>
      </p:sp>
      <p:sp>
        <p:nvSpPr>
          <p:cNvPr id="6" name="card common1"/>
          <p:cNvSpPr/>
          <p:nvPr/>
        </p:nvSpPr>
        <p:spPr>
          <a:xfrm>
            <a:off x="4251960" y="1234440"/>
            <a:ext cx="3611880" cy="2514600"/>
          </a:xfrm>
          <a:prstGeom prst="roundRect">
            <a:avLst>
              <a:gd name="adj" fmla="val 2909"/>
            </a:avLst>
          </a:prstGeom>
          <a:solidFill>
            <a:schemeClr val="bg2"/>
          </a:solidFill>
          <a:ln w="9525">
            <a:solidFill>
              <a:schemeClr val="accent5"/>
            </a:solidFill>
            <a:prstDash val="solid"/>
          </a:ln>
        </p:spPr>
      </p:sp>
      <p:sp>
        <p:nvSpPr>
          <p:cNvPr id="7" name="heading Profile A only"/>
          <p:cNvSpPr txBox="1"/>
          <p:nvPr/>
        </p:nvSpPr>
        <p:spPr>
          <a:xfrm>
            <a:off x="443484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A only</a:t>
            </a:r>
            <a:endParaRPr lang="en-US" sz="1300" dirty="0"/>
          </a:p>
        </p:txBody>
      </p:sp>
      <p:sp>
        <p:nvSpPr>
          <p:cNvPr id="8" name="bullets"/>
          <p:cNvSpPr txBox="1"/>
          <p:nvPr/>
        </p:nvSpPr>
        <p:spPr>
          <a:xfrm>
            <a:off x="443484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Preference between a no-fee shorter deal and a longer deal with a fee</a:t>
            </a:r>
            <a:endParaRPr lang="en-US" sz="1100" dirty="0"/>
          </a:p>
        </p:txBody>
      </p:sp>
      <p:sp>
        <p:nvSpPr>
          <p:cNvPr id="9" name="card common2"/>
          <p:cNvSpPr/>
          <p:nvPr/>
        </p:nvSpPr>
        <p:spPr>
          <a:xfrm>
            <a:off x="8046720" y="1234440"/>
            <a:ext cx="3611880" cy="2514600"/>
          </a:xfrm>
          <a:prstGeom prst="roundRect">
            <a:avLst>
              <a:gd name="adj" fmla="val 2909"/>
            </a:avLst>
          </a:prstGeom>
          <a:solidFill>
            <a:schemeClr val="bg2"/>
          </a:solidFill>
          <a:ln w="9525">
            <a:solidFill>
              <a:schemeClr val="accent5"/>
            </a:solidFill>
            <a:prstDash val="solid"/>
          </a:ln>
        </p:spPr>
      </p:sp>
      <p:sp>
        <p:nvSpPr>
          <p:cNvPr id="10" name="heading Profile B only"/>
          <p:cNvSpPr txBox="1"/>
          <p:nvPr/>
        </p:nvSpPr>
        <p:spPr>
          <a:xfrm>
            <a:off x="822960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B only</a:t>
            </a:r>
            <a:endParaRPr lang="en-US" sz="1300" dirty="0"/>
          </a:p>
        </p:txBody>
      </p:sp>
      <p:sp>
        <p:nvSpPr>
          <p:cNvPr id="11" name="bullets"/>
          <p:cNvSpPr txBox="1"/>
          <p:nvPr/>
        </p:nvSpPr>
        <p:spPr>
          <a:xfrm>
            <a:off x="822960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Nothing beyond the common set</a:t>
            </a:r>
            <a:endParaRPr lang="en-US" sz="1100" dirty="0"/>
          </a:p>
        </p:txBody>
      </p:sp>
      <p:sp>
        <p:nvSpPr>
          <p:cNvPr id="12" name="card never"/>
          <p:cNvSpPr/>
          <p:nvPr/>
        </p:nvSpPr>
        <p:spPr>
          <a:xfrm>
            <a:off x="457200" y="3931920"/>
            <a:ext cx="11247120" cy="2103120"/>
          </a:xfrm>
          <a:prstGeom prst="roundRect">
            <a:avLst>
              <a:gd name="adj" fmla="val 3478"/>
            </a:avLst>
          </a:prstGeom>
          <a:solidFill>
            <a:schemeClr val="bg2"/>
          </a:solidFill>
          <a:ln w="9525">
            <a:solidFill>
              <a:schemeClr val="accent5"/>
            </a:solidFill>
            <a:prstDash val="solid"/>
          </a:ln>
        </p:spPr>
      </p:sp>
      <p:sp>
        <p:nvSpPr>
          <p:cNvPr id="13" name="heading Never asked in eithe"/>
          <p:cNvSpPr txBox="1"/>
          <p:nvPr/>
        </p:nvSpPr>
        <p:spPr>
          <a:xfrm>
            <a:off x="640080" y="4005072"/>
            <a:ext cx="5303520" cy="365760"/>
          </a:xfrm>
          <a:prstGeom prst="rect">
            <a:avLst/>
          </a:prstGeom>
          <a:noFill/>
          <a:ln/>
        </p:spPr>
        <p:txBody>
          <a:bodyPr wrap="square" lIns="0" tIns="0" rIns="0" bIns="0" rtlCol="0" anchor="ctr"/>
          <a:lstStyle/>
          <a:p>
            <a:pPr indent="0" marL="0">
              <a:buNone/>
            </a:pPr>
            <a:r>
              <a:rPr lang="en-US" sz="1250" b="1" dirty="0">
                <a:solidFill>
                  <a:schemeClr val="tx2"/>
                </a:solidFill>
              </a:rPr>
              <a:t>Never asked in either run</a:t>
            </a:r>
            <a:endParaRPr lang="en-US" sz="1250" dirty="0"/>
          </a:p>
        </p:txBody>
      </p:sp>
      <p:sp>
        <p:nvSpPr>
          <p:cNvPr id="14" name="bullets"/>
          <p:cNvSpPr txBox="1"/>
          <p:nvPr/>
        </p:nvSpPr>
        <p:spPr>
          <a:xfrm>
            <a:off x="640080" y="4370832"/>
            <a:ext cx="5120640" cy="15544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Who issues the current card (the same-group transfer rule)</a:t>
            </a:r>
            <a:endParaRPr lang="en-US" sz="1100" dirty="0"/>
          </a:p>
          <a:p>
            <a:pPr marL="152400" indent="-152400">
              <a:spcAft>
                <a:spcPts val="400"/>
              </a:spcAft>
              <a:buSzPct val="100000"/>
              <a:buChar char="•"/>
            </a:pPr>
            <a:r>
              <a:rPr lang="en-US" sz="1100" dirty="0">
                <a:solidFill>
                  <a:schemeClr val="tx1"/>
                </a:solidFill>
              </a:rPr>
              <a:t>Whether the user banks with any issuer</a:t>
            </a:r>
            <a:endParaRPr lang="en-US" sz="1100" dirty="0"/>
          </a:p>
          <a:p>
            <a:pPr marL="152400" indent="-152400">
              <a:spcAft>
                <a:spcPts val="400"/>
              </a:spcAft>
              <a:buSzPct val="100000"/>
              <a:buChar char="•"/>
            </a:pPr>
            <a:r>
              <a:rPr lang="en-US" sz="1100" dirty="0">
                <a:solidFill>
                  <a:schemeClr val="tx1"/>
                </a:solidFill>
              </a:rPr>
              <a:t>Whether the card is needed for spending</a:t>
            </a:r>
            <a:endParaRPr lang="en-US" sz="1100" dirty="0"/>
          </a:p>
        </p:txBody>
      </p:sp>
      <p:sp>
        <p:nvSpPr>
          <p:cNvPr id="15" name="heading What this tells us"/>
          <p:cNvSpPr txBox="1"/>
          <p:nvPr/>
        </p:nvSpPr>
        <p:spPr>
          <a:xfrm>
            <a:off x="6035040" y="4005072"/>
            <a:ext cx="5486400" cy="365760"/>
          </a:xfrm>
          <a:prstGeom prst="rect">
            <a:avLst/>
          </a:prstGeom>
          <a:noFill/>
          <a:ln/>
        </p:spPr>
        <p:txBody>
          <a:bodyPr wrap="square" lIns="0" tIns="0" rIns="0" bIns="0" rtlCol="0" anchor="ctr"/>
          <a:lstStyle/>
          <a:p>
            <a:pPr indent="0" marL="0">
              <a:buNone/>
            </a:pPr>
            <a:r>
              <a:rPr lang="en-US" sz="1250" b="1" dirty="0">
                <a:solidFill>
                  <a:schemeClr val="tx2"/>
                </a:solidFill>
              </a:rPr>
              <a:t>What this tells us</a:t>
            </a:r>
            <a:endParaRPr lang="en-US" sz="1250" dirty="0"/>
          </a:p>
        </p:txBody>
      </p:sp>
      <p:sp>
        <p:nvSpPr>
          <p:cNvPr id="16" name="reading"/>
          <p:cNvSpPr txBox="1"/>
          <p:nvPr/>
        </p:nvSpPr>
        <p:spPr>
          <a:xfrm>
            <a:off x="6035040" y="4370832"/>
            <a:ext cx="5486400" cy="1554480"/>
          </a:xfrm>
          <a:prstGeom prst="rect">
            <a:avLst/>
          </a:prstGeom>
          <a:noFill/>
          <a:ln/>
        </p:spPr>
        <p:txBody>
          <a:bodyPr wrap="square" lIns="0" tIns="0" rIns="0" bIns="0" rtlCol="0" anchor="t"/>
          <a:lstStyle/>
          <a:p>
            <a:pPr indent="0" marL="0">
              <a:buNone/>
            </a:pPr>
            <a:r>
              <a:rPr lang="en-US" sz="1100" dirty="0">
                <a:solidFill>
                  <a:schemeClr val="tx1"/>
                </a:solidFill>
              </a:rPr>
              <a:t>Haiku asks only what it needs to pick a band of cards it has already found. It never asks about banking relationships, so the Barclays current-account condition on the cashback never comes up; it reads it off the page instead.</a:t>
            </a:r>
            <a:endParaRPr lang="en-US" sz="1100" dirty="0"/>
          </a:p>
        </p:txBody>
      </p:sp>
      <p:sp>
        <p:nvSpPr>
          <p:cNvPr id="17"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transcripts/A-haiku.md and B-haiku.md turn 1 (and turn 2 for Fable A). Falsified if a listed question is missing from the turn, or an unlisted one is present.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Haiku 5.5: the sources it referred to, and which ones it opened</a:t>
            </a:r>
            <a:endParaRPr lang="en-US" sz="2400" dirty="0"/>
          </a:p>
        </p:txBody>
      </p:sp>
      <p:graphicFrame>
        <p:nvGraphicFramePr>
          <p:cNvPr id="10" name="sources table"/>
          <p:cNvGraphicFramePr>
            <a:graphicFrameLocks noGrp="1"/>
          </p:cNvGraphicFramePr>
          <p:nvPr>
            <p:extLst>
              <p:ext uri="{D42A27DB-BD31-4B8C-83A1-F6EECF244321}">
                <p14:modId xmlns:p14="http://schemas.microsoft.com/office/powerpoint/2010/main" val="1579011935"/>
              </p:ext>
            </p:extLst>
          </p:nvPr>
        </p:nvGraphicFramePr>
        <p:xfrm>
          <a:off x="457200" y="1143000"/>
          <a:ext cx="7863840" cy="914400"/>
        </p:xfrm>
        <a:graphic>
          <a:graphicData uri="http://schemas.openxmlformats.org/drawingml/2006/table">
            <a:tbl>
              <a:tblPr/>
              <a:tblGrid>
                <a:gridCol w="1737360"/>
                <a:gridCol w="1600200"/>
                <a:gridCol w="1600200"/>
                <a:gridCol w="2926080"/>
              </a:tblGrid>
              <a:tr h="274320">
                <a:tc>
                  <a:txBody>
                    <a:bodyPr/>
                    <a:lstStyle/>
                    <a:p>
                      <a:pPr indent="0" marL="0">
                        <a:buNone/>
                      </a:pPr>
                      <a:r>
                        <a:rPr lang="en-US" sz="850" b="1" dirty="0">
                          <a:solidFill>
                            <a:srgbClr val="FFFFFF"/>
                          </a:solidFill>
                        </a:rPr>
                        <a:t>Source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A</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B</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it was used for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274320">
                <a:tc>
                  <a:txBody>
                    <a:bodyPr/>
                    <a:lstStyle/>
                    <a:p>
                      <a:pPr indent="0" marL="0">
                        <a:buNone/>
                      </a:pPr>
                      <a:r>
                        <a:rPr lang="en-US" sz="850" b="1" dirty="0">
                          <a:solidFill>
                            <a:srgbClr val="0A1F3D"/>
                          </a:solidFill>
                        </a:rPr>
                        <a:t>Which? guide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1 to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1, 3,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The shortlist in both runs; Virgin and TSB figures (never checked with the provider); the wrong Vanquis entry in A</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MoneySavingExpert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to 3,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Barclaycard pre-approval tiers (36, 32 or 18; 12 or 6); 'up to' wording</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barclays.co.uk listing</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3,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Every Barclaycard figure in A: four cards, the 22 month card absent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barclaycard.co.uk listing</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3 to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Every Barclaycard figure in B: five cards including the 22 month 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HSBC product page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2 to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2, 3,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HSBC terms and the only full eligibility list seen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Tesco Bank (two pages)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to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Tesco figures and the word 'guaranteed'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Nationwide (two pages)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2,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Exclusion: membership required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Vanquis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Correction of Which?'s 36 month no-fee entry (page says 24 months, 4.5%)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Uswitch</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1</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A general note only; the page showed provider logos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Finder; lovemoney (2014)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lovemoney snippet, ignored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Finder snippet, not opened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24 month card dropped as unverified; old Barclaycard article ignored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4" name="heading What the model said "/>
          <p:cNvSpPr txBox="1"/>
          <p:nvPr/>
        </p:nvSpPr>
        <p:spPr>
          <a:xfrm>
            <a:off x="8549640" y="1143000"/>
            <a:ext cx="3200400" cy="365760"/>
          </a:xfrm>
          <a:prstGeom prst="rect">
            <a:avLst/>
          </a:prstGeom>
          <a:noFill/>
          <a:ln/>
        </p:spPr>
        <p:txBody>
          <a:bodyPr wrap="square" lIns="0" tIns="0" rIns="0" bIns="0" rtlCol="0" anchor="ctr"/>
          <a:lstStyle/>
          <a:p>
            <a:pPr indent="0" marL="0">
              <a:buNone/>
            </a:pPr>
            <a:r>
              <a:rPr lang="en-US" sz="1150" b="1" dirty="0">
                <a:solidFill>
                  <a:schemeClr val="tx2"/>
                </a:solidFill>
              </a:rPr>
              <a:t>What the model said it relied on most (turn 5)</a:t>
            </a:r>
            <a:endParaRPr lang="en-US" sz="1150" dirty="0"/>
          </a:p>
        </p:txBody>
      </p:sp>
      <p:sp>
        <p:nvSpPr>
          <p:cNvPr id="5" name="quote bg"/>
          <p:cNvSpPr/>
          <p:nvPr/>
        </p:nvSpPr>
        <p:spPr>
          <a:xfrm>
            <a:off x="8549640" y="1554480"/>
            <a:ext cx="3200400" cy="1600200"/>
          </a:xfrm>
          <a:prstGeom prst="rect">
            <a:avLst/>
          </a:prstGeom>
          <a:solidFill>
            <a:schemeClr val="bg2"/>
          </a:solidFill>
          <a:ln w="12700">
            <a:solidFill>
              <a:schemeClr val="bg2"/>
            </a:solidFill>
            <a:prstDash val="solid"/>
          </a:ln>
        </p:spPr>
      </p:sp>
      <p:sp>
        <p:nvSpPr>
          <p:cNvPr id="6" name="quote text"/>
          <p:cNvSpPr txBox="1"/>
          <p:nvPr/>
        </p:nvSpPr>
        <p:spPr>
          <a:xfrm>
            <a:off x="8659368" y="160934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“Which? for the comparison of cards, and the provider pages for HSBC, Barclays and Vanquis.”</a:t>
            </a:r>
            <a:endParaRPr lang="en-US" sz="1050" dirty="0"/>
          </a:p>
          <a:p>
            <a:pPr indent="0" marL="0">
              <a:buNone/>
            </a:pPr>
            <a:r>
              <a:rPr lang="en-US" sz="900" b="1" dirty="0">
                <a:solidFill>
                  <a:schemeClr val="accent1"/>
                </a:solidFill>
              </a:rPr>
              <a:t>Haiku, profile A, turn 5</a:t>
            </a:r>
            <a:endParaRPr lang="en-US" sz="1050" dirty="0"/>
          </a:p>
        </p:txBody>
      </p:sp>
      <p:sp>
        <p:nvSpPr>
          <p:cNvPr id="7" name="quote bg"/>
          <p:cNvSpPr/>
          <p:nvPr/>
        </p:nvSpPr>
        <p:spPr>
          <a:xfrm>
            <a:off x="8549640" y="3291840"/>
            <a:ext cx="3200400" cy="1600200"/>
          </a:xfrm>
          <a:prstGeom prst="rect">
            <a:avLst/>
          </a:prstGeom>
          <a:solidFill>
            <a:schemeClr val="bg2"/>
          </a:solidFill>
          <a:ln w="12700">
            <a:solidFill>
              <a:schemeClr val="bg2"/>
            </a:solidFill>
            <a:prstDash val="solid"/>
          </a:ln>
        </p:spPr>
      </p:sp>
      <p:sp>
        <p:nvSpPr>
          <p:cNvPr id="8" name="quote text"/>
          <p:cNvSpPr txBox="1"/>
          <p:nvPr/>
        </p:nvSpPr>
        <p:spPr>
          <a:xfrm>
            <a:off x="8659368" y="334670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“The provider pages for each card I recommended (Tesco, Barclaycard, HSBC, Nationwide), then MoneySavingExpert and Which? for the market list and the Barclaycard pre-approval wording.”</a:t>
            </a:r>
            <a:endParaRPr lang="en-US" sz="1050" dirty="0"/>
          </a:p>
          <a:p>
            <a:pPr indent="0" marL="0">
              <a:buNone/>
            </a:pPr>
            <a:r>
              <a:rPr lang="en-US" sz="900" b="1" dirty="0">
                <a:solidFill>
                  <a:schemeClr val="accent1"/>
                </a:solidFill>
              </a:rPr>
              <a:t>Haiku, profile B, turn 5</a:t>
            </a:r>
            <a:endParaRPr lang="en-US" sz="1050" dirty="0"/>
          </a:p>
        </p:txBody>
      </p:sp>
      <p:sp>
        <p:nvSpPr>
          <p:cNvPr id="9" name="opened note"/>
          <p:cNvSpPr txBox="1"/>
          <p:nvPr/>
        </p:nvSpPr>
        <p:spPr>
          <a:xfrm>
            <a:off x="8549640" y="5074920"/>
            <a:ext cx="3200400" cy="731520"/>
          </a:xfrm>
          <a:prstGeom prst="rect">
            <a:avLst/>
          </a:prstGeom>
          <a:noFill/>
          <a:ln/>
        </p:spPr>
        <p:txBody>
          <a:bodyPr wrap="square" lIns="0" tIns="0" rIns="0" bIns="0" rtlCol="0" anchor="t"/>
          <a:lstStyle/>
          <a:p>
            <a:pPr indent="0" marL="0">
              <a:buNone/>
            </a:pPr>
            <a:r>
              <a:rPr lang="en-US" sz="850" i="1" dirty="0">
                <a:solidFill>
                  <a:schemeClr val="tx2"/>
                </a:solidFill>
              </a:rPr>
              <a:t>'Opened' means the URL appears in the SEARCH LOG with an (opened) marker. Every model said at turn 5 that opened pages were read through a summariser, not as raw HTML.</a:t>
            </a:r>
            <a:endParaRPr lang="en-US" sz="8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SEARCH LOG blocks in transcripts/A-haiku.md and B-haiku.md; turn 5 replies. Falsified if a URL marked 'opened' here is absent from the logs.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Haiku 5.5: the options it gave, and why Barclaycard was or was not among them</a:t>
            </a:r>
            <a:endParaRPr lang="en-US" sz="2400" dirty="0"/>
          </a:p>
        </p:txBody>
      </p:sp>
      <p:sp>
        <p:nvSpPr>
          <p:cNvPr id="3" name="heading Profile A, clean cre"/>
          <p:cNvSpPr txBox="1"/>
          <p:nvPr/>
        </p:nvSpPr>
        <p:spPr>
          <a:xfrm>
            <a:off x="457200" y="1143000"/>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A, clean credit</a:t>
            </a:r>
            <a:endParaRPr lang="en-US" sz="1200" dirty="0"/>
          </a:p>
        </p:txBody>
      </p:sp>
      <p:graphicFrame>
        <p:nvGraphicFramePr>
          <p:cNvPr id="11" name="options A"/>
          <p:cNvGraphicFramePr>
            <a:graphicFrameLocks noGrp="1"/>
          </p:cNvGraphicFramePr>
          <p:nvPr>
            <p:extLst>
              <p:ext uri="{D42A27DB-BD31-4B8C-83A1-F6EECF244321}">
                <p14:modId xmlns:p14="http://schemas.microsoft.com/office/powerpoint/2010/main" val="1579011935"/>
              </p:ext>
            </p:extLst>
          </p:nvPr>
        </p:nvGraphicFramePr>
        <p:xfrm>
          <a:off x="457200" y="1490472"/>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Vanquis 36m no fee (wrong, corrected at T2); HSBC 36m 3.09%; Barclaycard 12m no fee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HSBC 36m 3.09%; Virgin Money 36m 3.1%; TSB 38m 3.49%</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36m card to 2nd behind HSBC; 24m and 21m over the fee ceiling; 12m too short. The 22m card never appeared (read from barclays.co.uk)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HSBC. Switch to Barclaycard 36m if HSBC's income or residency rules fail; to Barclaycard 12m if £250 a month is possible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5" name="heading Profile B, Fair cred"/>
          <p:cNvSpPr txBox="1"/>
          <p:nvPr/>
        </p:nvSpPr>
        <p:spPr>
          <a:xfrm>
            <a:off x="457200" y="3630168"/>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B, Fair credit</a:t>
            </a:r>
            <a:endParaRPr lang="en-US" sz="1200" dirty="0"/>
          </a:p>
        </p:txBody>
      </p:sp>
      <p:graphicFrame>
        <p:nvGraphicFramePr>
          <p:cNvPr id="21" name="options B"/>
          <p:cNvGraphicFramePr>
            <a:graphicFrameLocks noGrp="1"/>
          </p:cNvGraphicFramePr>
          <p:nvPr>
            <p:extLst>
              <p:ext uri="{D42A27DB-BD31-4B8C-83A1-F6EECF244321}">
                <p14:modId xmlns:p14="http://schemas.microsoft.com/office/powerpoint/2010/main" val="1579011935"/>
              </p:ext>
            </p:extLst>
          </p:nvPr>
        </p:nvGraphicFramePr>
        <p:xfrm>
          <a:off x="457200" y="3977640"/>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Tesco Low Fee 20m 1.25%; Barclaycard 12m no fee; Barclaycard up to 36m 3.15%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Tesco Low Fee 20m; Tesco 35m 3.15%; HSBC 36m 3.09%</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22m card to 2nd; 36m level with HSBC, below Tesco 35m; 12m drops out; 24m and 21m over the ceiling</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Tesco Low Fee. Switch to Barclaycard 22m if Tesco declines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7" name="heading In the model&amp;apos;s words"/>
          <p:cNvSpPr txBox="1"/>
          <p:nvPr/>
        </p:nvSpPr>
        <p:spPr>
          <a:xfrm>
            <a:off x="8275320" y="1143000"/>
            <a:ext cx="3474720" cy="365760"/>
          </a:xfrm>
          <a:prstGeom prst="rect">
            <a:avLst/>
          </a:prstGeom>
          <a:noFill/>
          <a:ln/>
        </p:spPr>
        <p:txBody>
          <a:bodyPr wrap="square" lIns="0" tIns="0" rIns="0" bIns="0" rtlCol="0" anchor="ctr"/>
          <a:lstStyle/>
          <a:p>
            <a:pPr indent="0" marL="0">
              <a:buNone/>
            </a:pPr>
            <a:r>
              <a:rPr lang="en-US" sz="1200" b="1" dirty="0">
                <a:solidFill>
                  <a:schemeClr val="tx2"/>
                </a:solidFill>
              </a:rPr>
              <a:t>In the model's words</a:t>
            </a:r>
            <a:endParaRPr lang="en-US" sz="1200" dirty="0"/>
          </a:p>
        </p:txBody>
      </p:sp>
      <p:sp>
        <p:nvSpPr>
          <p:cNvPr id="8" name="quote bg"/>
          <p:cNvSpPr/>
          <p:nvPr/>
        </p:nvSpPr>
        <p:spPr>
          <a:xfrm>
            <a:off x="8275320" y="1508760"/>
            <a:ext cx="3474720" cy="1069848"/>
          </a:xfrm>
          <a:prstGeom prst="rect">
            <a:avLst/>
          </a:prstGeom>
          <a:solidFill>
            <a:schemeClr val="bg2"/>
          </a:solidFill>
          <a:ln w="12700">
            <a:solidFill>
              <a:schemeClr val="bg2"/>
            </a:solidFill>
            <a:prstDash val="solid"/>
          </a:ln>
        </p:spPr>
      </p:sp>
      <p:sp>
        <p:nvSpPr>
          <p:cNvPr id="9" name="quote text"/>
          <p:cNvSpPr txBox="1"/>
          <p:nvPr/>
        </p:nvSpPr>
        <p:spPr>
          <a:xfrm>
            <a:off x="8385048" y="1563624"/>
            <a:ext cx="3255264" cy="960120"/>
          </a:xfrm>
          <a:prstGeom prst="rect">
            <a:avLst/>
          </a:prstGeom>
          <a:noFill/>
          <a:ln/>
        </p:spPr>
        <p:txBody>
          <a:bodyPr wrap="square" lIns="0" tIns="0" rIns="0" bIns="0" rtlCol="0" anchor="t"/>
          <a:lstStyle/>
          <a:p>
            <a:pPr indent="0" marL="0">
              <a:buNone/>
            </a:pPr>
            <a:r>
              <a:rPr lang="en-US" sz="1050" i="1" dirty="0">
                <a:solidFill>
                  <a:schemeClr val="tx1"/>
                </a:solidFill>
              </a:rPr>
              <a:t>“The fee is slightly above your 3% ceiling, but only by 0.15 points. [...] No minimum income is stated on the page.”</a:t>
            </a:r>
            <a:endParaRPr lang="en-US" sz="1050" dirty="0"/>
          </a:p>
          <a:p>
            <a:pPr indent="0" marL="0">
              <a:buNone/>
            </a:pPr>
            <a:r>
              <a:rPr lang="en-US" sz="900" b="1" dirty="0">
                <a:solidFill>
                  <a:schemeClr val="accent1"/>
                </a:solidFill>
              </a:rPr>
              <a:t>Profile A, turn 3, on the 36 month card</a:t>
            </a:r>
            <a:endParaRPr lang="en-US" sz="1050" dirty="0"/>
          </a:p>
        </p:txBody>
      </p:sp>
      <p:sp>
        <p:nvSpPr>
          <p:cNvPr id="10" name="quote bg"/>
          <p:cNvSpPr/>
          <p:nvPr/>
        </p:nvSpPr>
        <p:spPr>
          <a:xfrm>
            <a:off x="8275320" y="2670048"/>
            <a:ext cx="3474720" cy="1069848"/>
          </a:xfrm>
          <a:prstGeom prst="rect">
            <a:avLst/>
          </a:prstGeom>
          <a:solidFill>
            <a:schemeClr val="bg2"/>
          </a:solidFill>
          <a:ln w="12700">
            <a:solidFill>
              <a:schemeClr val="bg2"/>
            </a:solidFill>
            <a:prstDash val="solid"/>
          </a:ln>
        </p:spPr>
      </p:sp>
      <p:sp>
        <p:nvSpPr>
          <p:cNvPr id="11" name="quote text"/>
          <p:cNvSpPr txBox="1"/>
          <p:nvPr/>
        </p:nvSpPr>
        <p:spPr>
          <a:xfrm>
            <a:off x="8385048" y="2724912"/>
            <a:ext cx="3255264" cy="960120"/>
          </a:xfrm>
          <a:prstGeom prst="rect">
            <a:avLst/>
          </a:prstGeom>
          <a:noFill/>
          <a:ln/>
        </p:spPr>
        <p:txBody>
          <a:bodyPr wrap="square" lIns="0" tIns="0" rIns="0" bIns="0" rtlCol="0" anchor="t"/>
          <a:lstStyle/>
          <a:p>
            <a:pPr indent="0" marL="0">
              <a:buNone/>
            </a:pPr>
            <a:r>
              <a:rPr lang="en-US" sz="1050" i="1" dirty="0">
                <a:solidFill>
                  <a:schemeClr val="tx1"/>
                </a:solidFill>
              </a:rPr>
              <a:t>“It's the only card I've checked on the provider's own page that meets all three of your conditions.”</a:t>
            </a:r>
            <a:endParaRPr lang="en-US" sz="1050" dirty="0"/>
          </a:p>
          <a:p>
            <a:pPr indent="0" marL="0">
              <a:buNone/>
            </a:pPr>
            <a:r>
              <a:rPr lang="en-US" sz="900" b="1" dirty="0">
                <a:solidFill>
                  <a:schemeClr val="accent1"/>
                </a:solidFill>
              </a:rPr>
              <a:t>Profile A, turn 4, why HSBC</a:t>
            </a:r>
            <a:endParaRPr lang="en-US" sz="1050" dirty="0"/>
          </a:p>
        </p:txBody>
      </p:sp>
      <p:sp>
        <p:nvSpPr>
          <p:cNvPr id="12" name="quote bg"/>
          <p:cNvSpPr/>
          <p:nvPr/>
        </p:nvSpPr>
        <p:spPr>
          <a:xfrm>
            <a:off x="8275320" y="3831336"/>
            <a:ext cx="3474720" cy="1069848"/>
          </a:xfrm>
          <a:prstGeom prst="rect">
            <a:avLst/>
          </a:prstGeom>
          <a:solidFill>
            <a:schemeClr val="bg2"/>
          </a:solidFill>
          <a:ln w="12700">
            <a:solidFill>
              <a:schemeClr val="bg2"/>
            </a:solidFill>
            <a:prstDash val="solid"/>
          </a:ln>
        </p:spPr>
      </p:sp>
      <p:sp>
        <p:nvSpPr>
          <p:cNvPr id="13" name="quote text"/>
          <p:cNvSpPr txBox="1"/>
          <p:nvPr/>
        </p:nvSpPr>
        <p:spPr>
          <a:xfrm>
            <a:off x="8385048" y="3886200"/>
            <a:ext cx="3255264" cy="960120"/>
          </a:xfrm>
          <a:prstGeom prst="rect">
            <a:avLst/>
          </a:prstGeom>
          <a:noFill/>
          <a:ln/>
        </p:spPr>
        <p:txBody>
          <a:bodyPr wrap="square" lIns="0" tIns="0" rIns="0" bIns="0" rtlCol="0" anchor="t"/>
          <a:lstStyle/>
          <a:p>
            <a:pPr indent="0" marL="0">
              <a:buNone/>
            </a:pPr>
            <a:r>
              <a:rPr lang="en-US" sz="1050" i="1" dirty="0">
                <a:solidFill>
                  <a:schemeClr val="tx1"/>
                </a:solidFill>
              </a:rPr>
              <a:t>“Unlike the Barclaycard cards, which say 'up to' a period, Tesco says 'guaranteed'.”</a:t>
            </a:r>
            <a:endParaRPr lang="en-US" sz="1050" dirty="0"/>
          </a:p>
          <a:p>
            <a:pPr indent="0" marL="0">
              <a:buNone/>
            </a:pPr>
            <a:r>
              <a:rPr lang="en-US" sz="900" b="1" dirty="0">
                <a:solidFill>
                  <a:schemeClr val="accent1"/>
                </a:solidFill>
              </a:rPr>
              <a:t>Profile B, turn 4, why Tesco</a:t>
            </a:r>
            <a:endParaRPr lang="en-US" sz="1050" dirty="0"/>
          </a:p>
        </p:txBody>
      </p:sp>
      <p:sp>
        <p:nvSpPr>
          <p:cNvPr id="14" name="quote bg"/>
          <p:cNvSpPr/>
          <p:nvPr/>
        </p:nvSpPr>
        <p:spPr>
          <a:xfrm>
            <a:off x="8275320" y="4992624"/>
            <a:ext cx="3474720" cy="1069848"/>
          </a:xfrm>
          <a:prstGeom prst="rect">
            <a:avLst/>
          </a:prstGeom>
          <a:solidFill>
            <a:schemeClr val="bg2"/>
          </a:solidFill>
          <a:ln w="12700">
            <a:solidFill>
              <a:schemeClr val="bg2"/>
            </a:solidFill>
            <a:prstDash val="solid"/>
          </a:ln>
        </p:spPr>
      </p:sp>
      <p:sp>
        <p:nvSpPr>
          <p:cNvPr id="15" name="quote text"/>
          <p:cNvSpPr txBox="1"/>
          <p:nvPr/>
        </p:nvSpPr>
        <p:spPr>
          <a:xfrm>
            <a:off x="8385048" y="5047488"/>
            <a:ext cx="3255264" cy="960120"/>
          </a:xfrm>
          <a:prstGeom prst="rect">
            <a:avLst/>
          </a:prstGeom>
          <a:noFill/>
          <a:ln/>
        </p:spPr>
        <p:txBody>
          <a:bodyPr wrap="square" lIns="0" tIns="0" rIns="0" bIns="0" rtlCol="0" anchor="t"/>
          <a:lstStyle/>
          <a:p>
            <a:pPr indent="0" marL="0">
              <a:buNone/>
            </a:pPr>
            <a:r>
              <a:rPr lang="en-US" sz="1050" i="1" dirty="0">
                <a:solidFill>
                  <a:schemeClr val="tx1"/>
                </a:solidFill>
              </a:rPr>
              <a:t>“I couldn't find it on Which? or MoneySavingExpert, so it has a single source.”</a:t>
            </a:r>
            <a:endParaRPr lang="en-US" sz="1050" dirty="0"/>
          </a:p>
          <a:p>
            <a:pPr indent="0" marL="0">
              <a:buNone/>
            </a:pPr>
            <a:r>
              <a:rPr lang="en-US" sz="900" b="1" dirty="0">
                <a:solidFill>
                  <a:schemeClr val="accent1"/>
                </a:solidFill>
              </a:rPr>
              <a:t>Profile B, turn 5, on the 22 month card</a:t>
            </a:r>
            <a:endParaRPr lang="en-US" sz="1050" dirty="0"/>
          </a:p>
        </p:txBody>
      </p:sp>
      <p:sp>
        <p:nvSpPr>
          <p:cNvPr id="16"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transcripts/A-haiku.md and B-haiku.md turns 1 to 4; quotes verbatim from the turn named. Falsified if the ranking at a turn differs from the row shown.</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Haiku 5.5: what would change its answer for Barclaycard</a:t>
            </a:r>
            <a:endParaRPr lang="en-US" sz="2400" dirty="0"/>
          </a:p>
        </p:txBody>
      </p:sp>
      <p:sp>
        <p:nvSpPr>
          <p:cNvPr id="3" name="num 1"/>
          <p:cNvSpPr/>
          <p:nvPr/>
        </p:nvSpPr>
        <p:spPr>
          <a:xfrm>
            <a:off x="457200" y="1216152"/>
            <a:ext cx="329184" cy="329184"/>
          </a:xfrm>
          <a:prstGeom prst="ellipse">
            <a:avLst/>
          </a:prstGeom>
          <a:solidFill>
            <a:schemeClr val="accent1"/>
          </a:solidFill>
          <a:ln w="12700">
            <a:solidFill>
              <a:schemeClr val="accent1"/>
            </a:solidFill>
            <a:prstDash val="solid"/>
          </a:ln>
        </p:spPr>
      </p:sp>
      <p:sp>
        <p:nvSpPr>
          <p:cNvPr id="4" name="num text 1"/>
          <p:cNvSpPr txBox="1"/>
          <p:nvPr/>
        </p:nvSpPr>
        <p:spPr>
          <a:xfrm>
            <a:off x="457200" y="121615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improve 0"/>
          <p:cNvSpPr txBox="1"/>
          <p:nvPr/>
        </p:nvSpPr>
        <p:spPr>
          <a:xfrm>
            <a:off x="914400" y="1188720"/>
            <a:ext cx="6583680" cy="822960"/>
          </a:xfrm>
          <a:prstGeom prst="rect">
            <a:avLst/>
          </a:prstGeom>
          <a:noFill/>
          <a:ln/>
        </p:spPr>
        <p:txBody>
          <a:bodyPr wrap="square" lIns="0" tIns="0" rIns="0" bIns="0" rtlCol="0" anchor="t"/>
          <a:lstStyle/>
          <a:p>
            <a:pPr indent="0" marL="0">
              <a:buNone/>
            </a:pPr>
            <a:r>
              <a:rPr lang="en-US" sz="1050" b="1" dirty="0">
                <a:solidFill>
                  <a:schemeClr val="tx2"/>
                </a:solidFill>
              </a:rPr>
              <a:t>List the 22 month card on barclays.co.uk. </a:t>
            </a:r>
            <a:pPr indent="0" marL="0">
              <a:buNone/>
            </a:pPr>
            <a:r>
              <a:rPr lang="en-US" sz="1050" dirty="0">
                <a:solidFill>
                  <a:schemeClr val="tx1"/>
                </a:solidFill>
              </a:rPr>
              <a:t>Haiku A searched 'Barclaycard balance transfer' and landed on barclays.co.uk, which shows four cards. It never learned the 22 month card existed and ranked the 36 month card instead. </a:t>
            </a:r>
            <a:pPr indent="0" marL="0">
              <a:buNone/>
            </a:pPr>
            <a:r>
              <a:rPr lang="en-US" sz="900" dirty="0">
                <a:solidFill>
                  <a:schemeClr val="accent2"/>
                </a:solidFill>
              </a:rPr>
              <a:t>(A, turns 3 to 5)</a:t>
            </a:r>
            <a:endParaRPr lang="en-US" sz="1050" dirty="0"/>
          </a:p>
        </p:txBody>
      </p:sp>
      <p:sp>
        <p:nvSpPr>
          <p:cNvPr id="6" name="num 2"/>
          <p:cNvSpPr/>
          <p:nvPr/>
        </p:nvSpPr>
        <p:spPr>
          <a:xfrm>
            <a:off x="457200" y="2066544"/>
            <a:ext cx="329184" cy="329184"/>
          </a:xfrm>
          <a:prstGeom prst="ellipse">
            <a:avLst/>
          </a:prstGeom>
          <a:solidFill>
            <a:schemeClr val="accent1"/>
          </a:solidFill>
          <a:ln w="12700">
            <a:solidFill>
              <a:schemeClr val="accent1"/>
            </a:solidFill>
            <a:prstDash val="solid"/>
          </a:ln>
        </p:spPr>
      </p:sp>
      <p:sp>
        <p:nvSpPr>
          <p:cNvPr id="7" name="num text 2"/>
          <p:cNvSpPr txBox="1"/>
          <p:nvPr/>
        </p:nvSpPr>
        <p:spPr>
          <a:xfrm>
            <a:off x="457200" y="206654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improve 1"/>
          <p:cNvSpPr txBox="1"/>
          <p:nvPr/>
        </p:nvSpPr>
        <p:spPr>
          <a:xfrm>
            <a:off x="914400" y="2039112"/>
            <a:ext cx="6583680" cy="822960"/>
          </a:xfrm>
          <a:prstGeom prst="rect">
            <a:avLst/>
          </a:prstGeom>
          <a:noFill/>
          <a:ln/>
        </p:spPr>
        <p:txBody>
          <a:bodyPr wrap="square" lIns="0" tIns="0" rIns="0" bIns="0" rtlCol="0" anchor="t"/>
          <a:lstStyle/>
          <a:p>
            <a:pPr indent="0" marL="0">
              <a:buNone/>
            </a:pPr>
            <a:r>
              <a:rPr lang="en-US" sz="1050" b="1" dirty="0">
                <a:solidFill>
                  <a:schemeClr val="tx2"/>
                </a:solidFill>
              </a:rPr>
              <a:t>Use the word 'guaranteed' where it is true, and publish the full-term share where it is not. </a:t>
            </a:r>
            <a:pPr indent="0" marL="0">
              <a:buNone/>
            </a:pPr>
            <a:r>
              <a:rPr lang="en-US" sz="1050" dirty="0">
                <a:solidFill>
                  <a:schemeClr val="tx1"/>
                </a:solidFill>
              </a:rPr>
              <a:t>Tesco's 'guaranteed 20 months' beat Barclaycard's 'up to 22 months' for the pick in B, at a £7 difference in fee. </a:t>
            </a:r>
            <a:pPr indent="0" marL="0">
              <a:buNone/>
            </a:pPr>
            <a:r>
              <a:rPr lang="en-US" sz="900" dirty="0">
                <a:solidFill>
                  <a:schemeClr val="accent2"/>
                </a:solidFill>
              </a:rPr>
              <a:t>(B, turns 3 and 4)</a:t>
            </a:r>
            <a:endParaRPr lang="en-US" sz="1050" dirty="0"/>
          </a:p>
        </p:txBody>
      </p:sp>
      <p:sp>
        <p:nvSpPr>
          <p:cNvPr id="9" name="num 3"/>
          <p:cNvSpPr/>
          <p:nvPr/>
        </p:nvSpPr>
        <p:spPr>
          <a:xfrm>
            <a:off x="457200" y="2916936"/>
            <a:ext cx="329184" cy="329184"/>
          </a:xfrm>
          <a:prstGeom prst="ellipse">
            <a:avLst/>
          </a:prstGeom>
          <a:solidFill>
            <a:schemeClr val="accent1"/>
          </a:solidFill>
          <a:ln w="12700">
            <a:solidFill>
              <a:schemeClr val="accent1"/>
            </a:solidFill>
            <a:prstDash val="solid"/>
          </a:ln>
        </p:spPr>
      </p:sp>
      <p:sp>
        <p:nvSpPr>
          <p:cNvPr id="10" name="num text 3"/>
          <p:cNvSpPr txBox="1"/>
          <p:nvPr/>
        </p:nvSpPr>
        <p:spPr>
          <a:xfrm>
            <a:off x="457200" y="29169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improve 2"/>
          <p:cNvSpPr txBox="1"/>
          <p:nvPr/>
        </p:nvSpPr>
        <p:spPr>
          <a:xfrm>
            <a:off x="914400" y="2889504"/>
            <a:ext cx="6583680" cy="822960"/>
          </a:xfrm>
          <a:prstGeom prst="rect">
            <a:avLst/>
          </a:prstGeom>
          <a:noFill/>
          <a:ln/>
        </p:spPr>
        <p:txBody>
          <a:bodyPr wrap="square" lIns="0" tIns="0" rIns="0" bIns="0" rtlCol="0" anchor="t"/>
          <a:lstStyle/>
          <a:p>
            <a:pPr indent="0" marL="0">
              <a:buNone/>
            </a:pPr>
            <a:r>
              <a:rPr lang="en-US" sz="1050" b="1" dirty="0">
                <a:solidFill>
                  <a:schemeClr val="tx2"/>
                </a:solidFill>
              </a:rPr>
              <a:t>Publish eligibility criteria and say whether the checker is a soft search. </a:t>
            </a:r>
            <a:pPr indent="0" marL="0">
              <a:buNone/>
            </a:pPr>
            <a:r>
              <a:rPr lang="en-US" sz="1050" dirty="0">
                <a:solidFill>
                  <a:schemeClr val="tx1"/>
                </a:solidFill>
              </a:rPr>
              <a:t>'No minimum income is stated on the page' (A). 'I found no published criteria... I don't know whether it's a soft or hard search' (B). </a:t>
            </a:r>
            <a:pPr indent="0" marL="0">
              <a:buNone/>
            </a:pPr>
            <a:r>
              <a:rPr lang="en-US" sz="900" dirty="0">
                <a:solidFill>
                  <a:schemeClr val="accent2"/>
                </a:solidFill>
              </a:rPr>
              <a:t>(A turn 3; B turn 5)</a:t>
            </a:r>
            <a:endParaRPr lang="en-US" sz="1050" dirty="0"/>
          </a:p>
        </p:txBody>
      </p:sp>
      <p:sp>
        <p:nvSpPr>
          <p:cNvPr id="12" name="num 4"/>
          <p:cNvSpPr/>
          <p:nvPr/>
        </p:nvSpPr>
        <p:spPr>
          <a:xfrm>
            <a:off x="457200" y="3767328"/>
            <a:ext cx="329184" cy="329184"/>
          </a:xfrm>
          <a:prstGeom prst="ellipse">
            <a:avLst/>
          </a:prstGeom>
          <a:solidFill>
            <a:schemeClr val="accent1"/>
          </a:solidFill>
          <a:ln w="12700">
            <a:solidFill>
              <a:schemeClr val="accent1"/>
            </a:solidFill>
            <a:prstDash val="solid"/>
          </a:ln>
        </p:spPr>
      </p:sp>
      <p:sp>
        <p:nvSpPr>
          <p:cNvPr id="13" name="num text 4"/>
          <p:cNvSpPr txBox="1"/>
          <p:nvPr/>
        </p:nvSpPr>
        <p:spPr>
          <a:xfrm>
            <a:off x="457200" y="37673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4" name="improve 3"/>
          <p:cNvSpPr txBox="1"/>
          <p:nvPr/>
        </p:nvSpPr>
        <p:spPr>
          <a:xfrm>
            <a:off x="914400" y="3739896"/>
            <a:ext cx="6583680" cy="822960"/>
          </a:xfrm>
          <a:prstGeom prst="rect">
            <a:avLst/>
          </a:prstGeom>
          <a:noFill/>
          <a:ln/>
        </p:spPr>
        <p:txBody>
          <a:bodyPr wrap="square" lIns="0" tIns="0" rIns="0" bIns="0" rtlCol="0" anchor="t"/>
          <a:lstStyle/>
          <a:p>
            <a:pPr indent="0" marL="0">
              <a:buNone/>
            </a:pPr>
            <a:r>
              <a:rPr lang="en-US" sz="1050" b="1" dirty="0">
                <a:solidFill>
                  <a:schemeClr val="tx2"/>
                </a:solidFill>
              </a:rPr>
              <a:t>Get the 22 month card into Which? and MSE. </a:t>
            </a:r>
            <a:pPr indent="0" marL="0">
              <a:buNone/>
            </a:pPr>
            <a:r>
              <a:rPr lang="en-US" sz="1050" dirty="0">
                <a:solidFill>
                  <a:schemeClr val="tx1"/>
                </a:solidFill>
              </a:rPr>
              <a:t>Haiku B flagged it as single-sourced; Haiku A, which read Which? four times, never saw it. </a:t>
            </a:r>
            <a:pPr indent="0" marL="0">
              <a:buNone/>
            </a:pPr>
            <a:r>
              <a:rPr lang="en-US" sz="900" dirty="0">
                <a:solidFill>
                  <a:schemeClr val="accent2"/>
                </a:solidFill>
              </a:rPr>
              <a:t>(B, turn 5)</a:t>
            </a:r>
            <a:endParaRPr lang="en-US" sz="1050" dirty="0"/>
          </a:p>
        </p:txBody>
      </p:sp>
      <p:sp>
        <p:nvSpPr>
          <p:cNvPr id="15" name="num 5"/>
          <p:cNvSpPr/>
          <p:nvPr/>
        </p:nvSpPr>
        <p:spPr>
          <a:xfrm>
            <a:off x="457200" y="4617720"/>
            <a:ext cx="329184" cy="329184"/>
          </a:xfrm>
          <a:prstGeom prst="ellipse">
            <a:avLst/>
          </a:prstGeom>
          <a:solidFill>
            <a:schemeClr val="accent1"/>
          </a:solidFill>
          <a:ln w="12700">
            <a:solidFill>
              <a:schemeClr val="accent1"/>
            </a:solidFill>
            <a:prstDash val="solid"/>
          </a:ln>
        </p:spPr>
      </p:sp>
      <p:sp>
        <p:nvSpPr>
          <p:cNvPr id="16" name="num text 5"/>
          <p:cNvSpPr txBox="1"/>
          <p:nvPr/>
        </p:nvSpPr>
        <p:spPr>
          <a:xfrm>
            <a:off x="457200" y="46177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7" name="improve 4"/>
          <p:cNvSpPr txBox="1"/>
          <p:nvPr/>
        </p:nvSpPr>
        <p:spPr>
          <a:xfrm>
            <a:off x="914400" y="4590288"/>
            <a:ext cx="6583680" cy="822960"/>
          </a:xfrm>
          <a:prstGeom prst="rect">
            <a:avLst/>
          </a:prstGeom>
          <a:noFill/>
          <a:ln/>
        </p:spPr>
        <p:txBody>
          <a:bodyPr wrap="square" lIns="0" tIns="0" rIns="0" bIns="0" rtlCol="0" anchor="t"/>
          <a:lstStyle/>
          <a:p>
            <a:pPr indent="0" marL="0">
              <a:buNone/>
            </a:pPr>
            <a:r>
              <a:rPr lang="en-US" sz="1050" b="1" dirty="0">
                <a:solidFill>
                  <a:schemeClr val="tx2"/>
                </a:solidFill>
              </a:rPr>
              <a:t>Add the balance-transfer rate after the 0% period, the late-transfer fee and a clear statement that the 60 day window starts at account opening. </a:t>
            </a:r>
            <a:pPr indent="0" marL="0">
              <a:buNone/>
            </a:pPr>
            <a:r>
              <a:rPr lang="en-US" sz="1050" dirty="0">
                <a:solidFill>
                  <a:schemeClr val="tx1"/>
                </a:solidFill>
              </a:rPr>
              <a:t>All three were listed by Haiku B as missing from Barclaycard's page. </a:t>
            </a:r>
            <a:pPr indent="0" marL="0">
              <a:buNone/>
            </a:pPr>
            <a:r>
              <a:rPr lang="en-US" sz="900" dirty="0">
                <a:solidFill>
                  <a:schemeClr val="accent2"/>
                </a:solidFill>
              </a:rPr>
              <a:t>(B, turn 5)</a:t>
            </a:r>
            <a:endParaRPr lang="en-US" sz="1050" dirty="0"/>
          </a:p>
        </p:txBody>
      </p:sp>
      <p:pic>
        <p:nvPicPr>
          <p:cNvPr id="18" name="E3_barclays_listing_four_cards.jpg" descr="/home/user/cc_yolo_project/Oct11_3pm/deck/evidence/E3_barclays_listing_four_cards.jpg">    </p:cNvPr>
          <p:cNvPicPr>
            <a:picLocks noChangeAspect="1"/>
          </p:cNvPicPr>
          <p:nvPr/>
        </p:nvPicPr>
        <p:blipFill>
          <a:blip r:embed="rId1"/>
          <a:stretch>
            <a:fillRect/>
          </a:stretch>
        </p:blipFill>
        <p:spPr>
          <a:xfrm>
            <a:off x="7589520" y="1188720"/>
            <a:ext cx="2307102" cy="3749040"/>
          </a:xfrm>
          <a:prstGeom prst="rect">
            <a:avLst/>
          </a:prstGeom>
          <a:effectLst>
            <a:outerShdw sx="100000" sy="100000" kx="0" ky="0" algn="bl" rotWithShape="0" blurRad="50800" dist="25400" dir="2700000">
              <a:srgbClr val="0B2E59">
                <a:alpha val="25000"/>
              </a:srgbClr>
            </a:outerShdw>
          </a:effectLst>
        </p:spPr>
      </p:pic>
      <p:sp>
        <p:nvSpPr>
          <p:cNvPr id="19" name="improve caption"/>
          <p:cNvSpPr txBox="1"/>
          <p:nvPr/>
        </p:nvSpPr>
        <p:spPr>
          <a:xfrm>
            <a:off x="7589520" y="4983480"/>
            <a:ext cx="4160520" cy="457200"/>
          </a:xfrm>
          <a:prstGeom prst="rect">
            <a:avLst/>
          </a:prstGeom>
          <a:noFill/>
          <a:ln/>
        </p:spPr>
        <p:txBody>
          <a:bodyPr wrap="square" lIns="0" tIns="0" rIns="0" bIns="0" rtlCol="0" anchor="ctr"/>
          <a:lstStyle/>
          <a:p>
            <a:pPr indent="0" marL="0">
              <a:buNone/>
            </a:pPr>
            <a:r>
              <a:rPr lang="en-US" sz="900" i="1" dirty="0">
                <a:solidFill>
                  <a:schemeClr val="tx2"/>
                </a:solidFill>
              </a:rPr>
              <a:t>barclays.co.uk listing read by Haiku A: four cards, no 22 month card</a:t>
            </a:r>
            <a:endParaRPr lang="en-US" sz="900" dirty="0"/>
          </a:p>
        </p:txBody>
      </p:sp>
      <p:sp>
        <p:nvSpPr>
          <p:cNvPr id="20" name="test box"/>
          <p:cNvSpPr/>
          <p:nvPr/>
        </p:nvSpPr>
        <p:spPr>
          <a:xfrm>
            <a:off x="457200" y="5532120"/>
            <a:ext cx="11247120" cy="566928"/>
          </a:xfrm>
          <a:prstGeom prst="roundRect">
            <a:avLst>
              <a:gd name="adj" fmla="val 12903"/>
            </a:avLst>
          </a:prstGeom>
          <a:solidFill>
            <a:schemeClr val="bg2"/>
          </a:solidFill>
          <a:ln w="9525">
            <a:solidFill>
              <a:schemeClr val="accent5"/>
            </a:solidFill>
            <a:prstDash val="solid"/>
          </a:ln>
        </p:spPr>
      </p:sp>
      <p:sp>
        <p:nvSpPr>
          <p:cNvPr id="21" name="test text"/>
          <p:cNvSpPr txBox="1"/>
          <p:nvPr/>
        </p:nvSpPr>
        <p:spPr>
          <a:xfrm>
            <a:off x="594360" y="5577840"/>
            <a:ext cx="10972800" cy="475488"/>
          </a:xfrm>
          <a:prstGeom prst="rect">
            <a:avLst/>
          </a:prstGeom>
          <a:noFill/>
          <a:ln/>
        </p:spPr>
        <p:txBody>
          <a:bodyPr wrap="square" lIns="0" tIns="0" rIns="0" bIns="0" rtlCol="0" anchor="t"/>
          <a:lstStyle/>
          <a:p>
            <a:pPr indent="0" marL="0">
              <a:buNone/>
            </a:pPr>
            <a:r>
              <a:rPr lang="en-US" sz="1050" b="1" dirty="0">
                <a:solidFill>
                  <a:schemeClr val="accent1"/>
                </a:solidFill>
              </a:rPr>
              <a:t>TEST IT  </a:t>
            </a:r>
            <a:pPr indent="0" marL="0">
              <a:buNone/>
            </a:pPr>
            <a:r>
              <a:rPr lang="en-US" sz="1050" dirty="0">
                <a:solidFill>
                  <a:schemeClr val="tx1"/>
                </a:solidFill>
              </a:rPr>
              <a:t>Open barclays.co.uk/credit-cards/balance-transfer-credit-cards and search for '22 month'. Falsified if the card is listed. Then read transcripts/A-haiku.md turn 3: falsified if the 22 month card is mentioned.</a:t>
            </a:r>
            <a:endParaRPr lang="en-US" sz="1050" dirty="0"/>
          </a:p>
        </p:txBody>
      </p:sp>
      <p:sp>
        <p:nvSpPr>
          <p:cNvPr id="22"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transcripts/A-haiku.md and B-haiku.md at the turns in brackets; deck/evidence for the screenshot.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000" b="1" dirty="0">
                <a:solidFill>
                  <a:schemeClr val="bg1"/>
                </a:solidFill>
              </a:rPr>
              <a:t>Model 2 of 4: Sonnet 5.5</a:t>
            </a:r>
            <a:endParaRPr lang="en-US" sz="4000" dirty="0"/>
          </a:p>
        </p:txBody>
      </p:sp>
      <p:sp>
        <p:nvSpPr>
          <p:cNvPr id="3" name="Text 0"/>
          <p:cNvSpPr/>
          <p:nvPr>
            <p:ph idx="101" type="body" hasCustomPrompt="1"/>
          </p:nvPr>
        </p:nvSpPr>
        <p:spPr>
          <a:xfrm>
            <a:off x="731520" y="3611880"/>
            <a:ext cx="10515600" cy="1828800"/>
          </a:xfrm>
          <a:prstGeom prst="rect">
            <a:avLst/>
          </a:prstGeom>
          <a:noFill/>
          <a:ln/>
        </p:spPr>
        <p:txBody>
          <a:bodyPr wrap="square" lIns="0" tIns="0" rIns="0" bIns="0" rtlCol="0" anchor="t"/>
          <a:lstStyle/>
          <a:p>
            <a:pPr indent="0" marL="0">
              <a:buNone/>
            </a:pPr>
            <a:r>
              <a:rPr lang="en-US" sz="1800" dirty="0">
                <a:solidFill>
                  <a:schemeClr val="accent5"/>
                </a:solidFill>
              </a:rPr>
              <a:t>Builds everything from comparison sites, never reaches MSE, and in profile B excluded the 36 month card on a misread condition</a:t>
            </a:r>
            <a:endParaRPr lang="en-US" sz="1800" dirty="0"/>
          </a:p>
          <a:p>
            <a:pPr indent="0" marL="0">
              <a:buNone/>
            </a:pPr>
            <a:r>
              <a:rPr lang="en-US" sz="1800" dirty="0">
                <a:solidFill>
                  <a:schemeClr val="accent5"/>
                </a:solidFill>
              </a:rPr>
              <a:t>Five slides: the questions it asked, what was common across its two runs, the sources it used, the options it gave and where Barclaycard sat, and what would change its answer.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Sonnet 5.5: the question asked, and the clarifying questions the model asked, turn by turn</a:t>
            </a:r>
            <a:endParaRPr lang="en-US" sz="2400" dirty="0"/>
          </a:p>
        </p:txBody>
      </p:sp>
      <p:sp>
        <p:nvSpPr>
          <p:cNvPr id="3" name="user q"/>
          <p:cNvSpPr txBox="1"/>
          <p:nvPr/>
        </p:nvSpPr>
        <p:spPr>
          <a:xfrm>
            <a:off x="457200" y="1143000"/>
            <a:ext cx="11247120" cy="685800"/>
          </a:xfrm>
          <a:prstGeom prst="rect">
            <a:avLst/>
          </a:prstGeom>
          <a:noFill/>
          <a:ln/>
        </p:spPr>
        <p:txBody>
          <a:bodyPr wrap="square" lIns="0" tIns="0" rIns="0" bIns="0" rtlCol="0" anchor="t"/>
          <a:lstStyle/>
          <a:p>
            <a:pPr indent="0" marL="0">
              <a:buNone/>
            </a:pPr>
            <a:r>
              <a:rPr lang="en-US" sz="1050" b="1" dirty="0">
                <a:solidFill>
                  <a:schemeClr val="accent1"/>
                </a:solidFill>
              </a:rPr>
              <a:t>User, turn 1: </a:t>
            </a:r>
            <a:pPr indent="0" marL="0">
              <a:buNone/>
            </a:pPr>
            <a:r>
              <a:rPr lang="en-US" sz="1050" dirty="0">
                <a:solidFill>
                  <a:schemeClr val="tx1"/>
                </a:solidFill>
              </a:rPr>
              <a:t>Hi, I'm in the UK and I've got about £3,000 on a credit card charging me 24.9% APR. I want to move it to a 0% balance transfer card so I can actually clear it. Can you give me your top three cards to consider, ranked, with your reasoning for each? And please tell me where you got each piece of information from, I want to be able to check it.</a:t>
            </a:r>
            <a:endParaRPr lang="en-US" sz="1050" dirty="0"/>
          </a:p>
        </p:txBody>
      </p:sp>
      <p:sp>
        <p:nvSpPr>
          <p:cNvPr id="4" name="card qA"/>
          <p:cNvSpPr/>
          <p:nvPr/>
        </p:nvSpPr>
        <p:spPr>
          <a:xfrm>
            <a:off x="457200" y="1920240"/>
            <a:ext cx="5532120" cy="3657600"/>
          </a:xfrm>
          <a:prstGeom prst="roundRect">
            <a:avLst>
              <a:gd name="adj" fmla="val 2000"/>
            </a:avLst>
          </a:prstGeom>
          <a:solidFill>
            <a:schemeClr val="bg2"/>
          </a:solidFill>
          <a:ln w="9525">
            <a:solidFill>
              <a:schemeClr val="accent5"/>
            </a:solidFill>
            <a:prstDash val="solid"/>
          </a:ln>
        </p:spPr>
      </p:sp>
      <p:sp>
        <p:nvSpPr>
          <p:cNvPr id="5" name="heading Profile A (clean cre"/>
          <p:cNvSpPr txBox="1"/>
          <p:nvPr/>
        </p:nvSpPr>
        <p:spPr>
          <a:xfrm>
            <a:off x="640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A (clean credit): what the model asked</a:t>
            </a:r>
            <a:endParaRPr lang="en-US" sz="1250" dirty="0"/>
          </a:p>
        </p:txBody>
      </p:sp>
      <p:sp>
        <p:nvSpPr>
          <p:cNvPr id="6" name="q text A"/>
          <p:cNvSpPr txBox="1"/>
          <p:nvPr/>
        </p:nvSpPr>
        <p:spPr>
          <a:xfrm>
            <a:off x="640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Four questions after a provisional top three:</a:t>
            </a:r>
            <a:endParaRPr lang="en-US" sz="1150" dirty="0"/>
          </a:p>
          <a:p>
            <a:pPr indent="0" marL="0">
              <a:spcAft>
                <a:spcPts val="200"/>
              </a:spcAft>
              <a:buNone/>
            </a:pPr>
            <a:r>
              <a:rPr lang="en-US" sz="1150" dirty="0">
                <a:solidFill>
                  <a:schemeClr val="tx1"/>
                </a:solidFill>
              </a:rPr>
              <a:t>1. How much can you realistically pay each month? a) under £100 b) £100 to £200 c) £250 or more</a:t>
            </a:r>
            <a:endParaRPr lang="en-US" sz="1150" dirty="0"/>
          </a:p>
          <a:p>
            <a:pPr indent="0" marL="0">
              <a:spcAft>
                <a:spcPts val="200"/>
              </a:spcAft>
              <a:buNone/>
            </a:pPr>
            <a:r>
              <a:rPr lang="en-US" sz="1150" dirty="0">
                <a:solidFill>
                  <a:schemeClr val="tx1"/>
                </a:solidFill>
              </a:rPr>
              <a:t>2. Lowest total cost, or lowest monthly payment?</a:t>
            </a:r>
            <a:endParaRPr lang="en-US" sz="1150" dirty="0"/>
          </a:p>
          <a:p>
            <a:pPr indent="0" marL="0">
              <a:spcAft>
                <a:spcPts val="200"/>
              </a:spcAft>
              <a:buNone/>
            </a:pPr>
            <a:r>
              <a:rPr lang="en-US" sz="1150" dirty="0">
                <a:solidFill>
                  <a:schemeClr val="tx1"/>
                </a:solidFill>
              </a:rPr>
              <a:t>3. Have you been declined recently, or is your record patchy? a) clean b) some missed payments or defaults c) not sure</a:t>
            </a:r>
            <a:endParaRPr lang="en-US" sz="1150" dirty="0"/>
          </a:p>
          <a:p>
            <a:pPr indent="0" marL="0">
              <a:spcAft>
                <a:spcPts val="200"/>
              </a:spcAft>
              <a:buNone/>
            </a:pPr>
            <a:r>
              <a:rPr lang="en-US" sz="1150" dirty="0">
                <a:solidFill>
                  <a:schemeClr val="tx1"/>
                </a:solidFill>
              </a:rPr>
              <a:t>4. Is the 24.9% card with HSBC, TSB, Barclaycard or Virgin? (same-provider transfers are blocked)</a:t>
            </a:r>
            <a:endParaRPr lang="en-US" sz="1150" dirty="0"/>
          </a:p>
          <a:p>
            <a:pPr indent="0" marL="0">
              <a:spcBef>
                <a:spcPts val="600"/>
              </a:spcBef>
              <a:buNone/>
            </a:pPr>
            <a:r>
              <a:rPr lang="en-US" sz="1150" b="1" dirty="0">
                <a:solidFill>
                  <a:schemeClr val="accent1"/>
                </a:solidFill>
              </a:rPr>
              <a:t>Turns 2 to 5</a:t>
            </a:r>
            <a:endParaRPr lang="en-US" sz="1150" dirty="0"/>
          </a:p>
          <a:p>
            <a:pPr indent="0" marL="0">
              <a:spcAft>
                <a:spcPts val="200"/>
              </a:spcAft>
              <a:buNone/>
            </a:pPr>
            <a:r>
              <a:rPr lang="en-US" sz="1150" dirty="0">
                <a:solidFill>
                  <a:schemeClr val="tx1"/>
                </a:solidFill>
              </a:rPr>
              <a:t>No further questions.</a:t>
            </a:r>
            <a:endParaRPr lang="en-US" sz="1150" dirty="0"/>
          </a:p>
        </p:txBody>
      </p:sp>
      <p:sp>
        <p:nvSpPr>
          <p:cNvPr id="7" name="card qB"/>
          <p:cNvSpPr/>
          <p:nvPr/>
        </p:nvSpPr>
        <p:spPr>
          <a:xfrm>
            <a:off x="6172200" y="1920240"/>
            <a:ext cx="5532120" cy="3657600"/>
          </a:xfrm>
          <a:prstGeom prst="roundRect">
            <a:avLst>
              <a:gd name="adj" fmla="val 2000"/>
            </a:avLst>
          </a:prstGeom>
          <a:solidFill>
            <a:schemeClr val="bg2"/>
          </a:solidFill>
          <a:ln w="9525">
            <a:solidFill>
              <a:schemeClr val="accent5"/>
            </a:solidFill>
            <a:prstDash val="solid"/>
          </a:ln>
        </p:spPr>
      </p:sp>
      <p:sp>
        <p:nvSpPr>
          <p:cNvPr id="8" name="heading Profile B (Fair cred"/>
          <p:cNvSpPr txBox="1"/>
          <p:nvPr/>
        </p:nvSpPr>
        <p:spPr>
          <a:xfrm>
            <a:off x="6355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B (Fair credit): what the model asked</a:t>
            </a:r>
            <a:endParaRPr lang="en-US" sz="1250" dirty="0"/>
          </a:p>
        </p:txBody>
      </p:sp>
      <p:sp>
        <p:nvSpPr>
          <p:cNvPr id="9" name="q text B"/>
          <p:cNvSpPr txBox="1"/>
          <p:nvPr/>
        </p:nvSpPr>
        <p:spPr>
          <a:xfrm>
            <a:off x="6355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Four questions after a provisional top three:</a:t>
            </a:r>
            <a:endParaRPr lang="en-US" sz="1150" dirty="0"/>
          </a:p>
          <a:p>
            <a:pPr indent="0" marL="0">
              <a:spcAft>
                <a:spcPts val="200"/>
              </a:spcAft>
              <a:buNone/>
            </a:pPr>
            <a:r>
              <a:rPr lang="en-US" sz="1150" dirty="0">
                <a:solidFill>
                  <a:schemeClr val="tx1"/>
                </a:solidFill>
              </a:rPr>
              <a:t>1. Who issues your current card? a) HSBC or Virgin Money b) TSB c) something else</a:t>
            </a:r>
            <a:endParaRPr lang="en-US" sz="1150" dirty="0"/>
          </a:p>
          <a:p>
            <a:pPr indent="0" marL="0">
              <a:spcAft>
                <a:spcPts val="200"/>
              </a:spcAft>
              <a:buNone/>
            </a:pPr>
            <a:r>
              <a:rPr lang="en-US" sz="1150" dirty="0">
                <a:solidFill>
                  <a:schemeClr val="tx1"/>
                </a:solidFill>
              </a:rPr>
              <a:t>2. How much could you realistically pay each month? a) under £85 b) £85 to £250 c) over £250</a:t>
            </a:r>
            <a:endParaRPr lang="en-US" sz="1150" dirty="0"/>
          </a:p>
          <a:p>
            <a:pPr indent="0" marL="0">
              <a:spcAft>
                <a:spcPts val="200"/>
              </a:spcAft>
              <a:buNone/>
            </a:pPr>
            <a:r>
              <a:rPr lang="en-US" sz="1150" dirty="0">
                <a:solidFill>
                  <a:schemeClr val="tx1"/>
                </a:solidFill>
              </a:rPr>
              <a:t>3. How is your credit rating? a) good b) fair c) poor or unsure</a:t>
            </a:r>
            <a:endParaRPr lang="en-US" sz="1150" dirty="0"/>
          </a:p>
          <a:p>
            <a:pPr indent="0" marL="0">
              <a:spcAft>
                <a:spcPts val="200"/>
              </a:spcAft>
              <a:buNone/>
            </a:pPr>
            <a:r>
              <a:rPr lang="en-US" sz="1150" dirty="0">
                <a:solidFill>
                  <a:schemeClr val="tx1"/>
                </a:solidFill>
              </a:rPr>
              <a:t>4. Do you need the card for new spending too? a) no, balance only b) yes</a:t>
            </a:r>
            <a:endParaRPr lang="en-US" sz="1150" dirty="0"/>
          </a:p>
          <a:p>
            <a:pPr indent="0" marL="0">
              <a:spcBef>
                <a:spcPts val="600"/>
              </a:spcBef>
              <a:buNone/>
            </a:pPr>
            <a:r>
              <a:rPr lang="en-US" sz="1150" b="1" dirty="0">
                <a:solidFill>
                  <a:schemeClr val="accent1"/>
                </a:solidFill>
              </a:rPr>
              <a:t>Turns 2 to 5</a:t>
            </a:r>
            <a:endParaRPr lang="en-US" sz="1150" dirty="0"/>
          </a:p>
          <a:p>
            <a:pPr indent="0" marL="0">
              <a:spcAft>
                <a:spcPts val="200"/>
              </a:spcAft>
              <a:buNone/>
            </a:pPr>
            <a:r>
              <a:rPr lang="en-US" sz="1150" dirty="0">
                <a:solidFill>
                  <a:schemeClr val="tx1"/>
                </a:solidFill>
              </a:rPr>
              <a:t>No further questions.</a:t>
            </a:r>
            <a:endParaRPr lang="en-US" sz="11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transcripts/A-sonnet.md and B-sonnet.md, model replies at turns 1 to 5. Falsified if a turn contains a question not listed here.</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Sonnet 5.5: questions common to both runs, and what the differences show</a:t>
            </a:r>
            <a:endParaRPr lang="en-US" sz="2400" dirty="0"/>
          </a:p>
        </p:txBody>
      </p:sp>
      <p:sp>
        <p:nvSpPr>
          <p:cNvPr id="3" name="card common0"/>
          <p:cNvSpPr/>
          <p:nvPr/>
        </p:nvSpPr>
        <p:spPr>
          <a:xfrm>
            <a:off x="457200" y="1234440"/>
            <a:ext cx="3611880" cy="2514600"/>
          </a:xfrm>
          <a:prstGeom prst="roundRect">
            <a:avLst>
              <a:gd name="adj" fmla="val 2909"/>
            </a:avLst>
          </a:prstGeom>
          <a:solidFill>
            <a:schemeClr val="bg2"/>
          </a:solidFill>
          <a:ln w="9525">
            <a:solidFill>
              <a:schemeClr val="accent5"/>
            </a:solidFill>
            <a:prstDash val="solid"/>
          </a:ln>
        </p:spPr>
      </p:sp>
      <p:sp>
        <p:nvSpPr>
          <p:cNvPr id="4" name="heading Asked in both runs"/>
          <p:cNvSpPr txBox="1"/>
          <p:nvPr/>
        </p:nvSpPr>
        <p:spPr>
          <a:xfrm>
            <a:off x="64008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Asked in both runs</a:t>
            </a:r>
            <a:endParaRPr lang="en-US" sz="1300" dirty="0"/>
          </a:p>
        </p:txBody>
      </p:sp>
      <p:sp>
        <p:nvSpPr>
          <p:cNvPr id="5" name="bullets"/>
          <p:cNvSpPr txBox="1"/>
          <p:nvPr/>
        </p:nvSpPr>
        <p:spPr>
          <a:xfrm>
            <a:off x="64008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Monthly repayment capacity</a:t>
            </a:r>
            <a:endParaRPr lang="en-US" sz="1100" dirty="0"/>
          </a:p>
          <a:p>
            <a:pPr marL="152400" indent="-152400">
              <a:spcAft>
                <a:spcPts val="400"/>
              </a:spcAft>
              <a:buSzPct val="100000"/>
              <a:buChar char="•"/>
            </a:pPr>
            <a:r>
              <a:rPr lang="en-US" sz="1100" dirty="0">
                <a:solidFill>
                  <a:schemeClr val="tx1"/>
                </a:solidFill>
              </a:rPr>
              <a:t>Credit rating or record</a:t>
            </a:r>
            <a:endParaRPr lang="en-US" sz="1100" dirty="0"/>
          </a:p>
          <a:p>
            <a:pPr marL="152400" indent="-152400">
              <a:spcAft>
                <a:spcPts val="400"/>
              </a:spcAft>
              <a:buSzPct val="100000"/>
              <a:buChar char="•"/>
            </a:pPr>
            <a:r>
              <a:rPr lang="en-US" sz="1100" dirty="0">
                <a:solidFill>
                  <a:schemeClr val="tx1"/>
                </a:solidFill>
              </a:rPr>
              <a:t>Who issues the current card (to apply the same-group rule)</a:t>
            </a:r>
            <a:endParaRPr lang="en-US" sz="1100" dirty="0"/>
          </a:p>
        </p:txBody>
      </p:sp>
      <p:sp>
        <p:nvSpPr>
          <p:cNvPr id="6" name="card common1"/>
          <p:cNvSpPr/>
          <p:nvPr/>
        </p:nvSpPr>
        <p:spPr>
          <a:xfrm>
            <a:off x="4251960" y="1234440"/>
            <a:ext cx="3611880" cy="2514600"/>
          </a:xfrm>
          <a:prstGeom prst="roundRect">
            <a:avLst>
              <a:gd name="adj" fmla="val 2909"/>
            </a:avLst>
          </a:prstGeom>
          <a:solidFill>
            <a:schemeClr val="bg2"/>
          </a:solidFill>
          <a:ln w="9525">
            <a:solidFill>
              <a:schemeClr val="accent5"/>
            </a:solidFill>
            <a:prstDash val="solid"/>
          </a:ln>
        </p:spPr>
      </p:sp>
      <p:sp>
        <p:nvSpPr>
          <p:cNvPr id="7" name="heading Profile A only"/>
          <p:cNvSpPr txBox="1"/>
          <p:nvPr/>
        </p:nvSpPr>
        <p:spPr>
          <a:xfrm>
            <a:off x="443484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A only</a:t>
            </a:r>
            <a:endParaRPr lang="en-US" sz="1300" dirty="0"/>
          </a:p>
        </p:txBody>
      </p:sp>
      <p:sp>
        <p:nvSpPr>
          <p:cNvPr id="8" name="bullets"/>
          <p:cNvSpPr txBox="1"/>
          <p:nvPr/>
        </p:nvSpPr>
        <p:spPr>
          <a:xfrm>
            <a:off x="443484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Lowest total cost versus lowest monthly payment</a:t>
            </a:r>
            <a:endParaRPr lang="en-US" sz="1100" dirty="0"/>
          </a:p>
        </p:txBody>
      </p:sp>
      <p:sp>
        <p:nvSpPr>
          <p:cNvPr id="9" name="card common2"/>
          <p:cNvSpPr/>
          <p:nvPr/>
        </p:nvSpPr>
        <p:spPr>
          <a:xfrm>
            <a:off x="8046720" y="1234440"/>
            <a:ext cx="3611880" cy="2514600"/>
          </a:xfrm>
          <a:prstGeom prst="roundRect">
            <a:avLst>
              <a:gd name="adj" fmla="val 2909"/>
            </a:avLst>
          </a:prstGeom>
          <a:solidFill>
            <a:schemeClr val="bg2"/>
          </a:solidFill>
          <a:ln w="9525">
            <a:solidFill>
              <a:schemeClr val="accent5"/>
            </a:solidFill>
            <a:prstDash val="solid"/>
          </a:ln>
        </p:spPr>
      </p:sp>
      <p:sp>
        <p:nvSpPr>
          <p:cNvPr id="10" name="heading Profile B only"/>
          <p:cNvSpPr txBox="1"/>
          <p:nvPr/>
        </p:nvSpPr>
        <p:spPr>
          <a:xfrm>
            <a:off x="822960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B only</a:t>
            </a:r>
            <a:endParaRPr lang="en-US" sz="1300" dirty="0"/>
          </a:p>
        </p:txBody>
      </p:sp>
      <p:sp>
        <p:nvSpPr>
          <p:cNvPr id="11" name="bullets"/>
          <p:cNvSpPr txBox="1"/>
          <p:nvPr/>
        </p:nvSpPr>
        <p:spPr>
          <a:xfrm>
            <a:off x="822960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Whether the card is needed for new spending</a:t>
            </a:r>
            <a:endParaRPr lang="en-US" sz="1100" dirty="0"/>
          </a:p>
        </p:txBody>
      </p:sp>
      <p:sp>
        <p:nvSpPr>
          <p:cNvPr id="12" name="card never"/>
          <p:cNvSpPr/>
          <p:nvPr/>
        </p:nvSpPr>
        <p:spPr>
          <a:xfrm>
            <a:off x="457200" y="3931920"/>
            <a:ext cx="11247120" cy="2103120"/>
          </a:xfrm>
          <a:prstGeom prst="roundRect">
            <a:avLst>
              <a:gd name="adj" fmla="val 3478"/>
            </a:avLst>
          </a:prstGeom>
          <a:solidFill>
            <a:schemeClr val="bg2"/>
          </a:solidFill>
          <a:ln w="9525">
            <a:solidFill>
              <a:schemeClr val="accent5"/>
            </a:solidFill>
            <a:prstDash val="solid"/>
          </a:ln>
        </p:spPr>
      </p:sp>
      <p:sp>
        <p:nvSpPr>
          <p:cNvPr id="13" name="heading Never asked in eithe"/>
          <p:cNvSpPr txBox="1"/>
          <p:nvPr/>
        </p:nvSpPr>
        <p:spPr>
          <a:xfrm>
            <a:off x="640080" y="4005072"/>
            <a:ext cx="5303520" cy="365760"/>
          </a:xfrm>
          <a:prstGeom prst="rect">
            <a:avLst/>
          </a:prstGeom>
          <a:noFill/>
          <a:ln/>
        </p:spPr>
        <p:txBody>
          <a:bodyPr wrap="square" lIns="0" tIns="0" rIns="0" bIns="0" rtlCol="0" anchor="ctr"/>
          <a:lstStyle/>
          <a:p>
            <a:pPr indent="0" marL="0">
              <a:buNone/>
            </a:pPr>
            <a:r>
              <a:rPr lang="en-US" sz="1250" b="1" dirty="0">
                <a:solidFill>
                  <a:schemeClr val="tx2"/>
                </a:solidFill>
              </a:rPr>
              <a:t>Never asked in either run</a:t>
            </a:r>
            <a:endParaRPr lang="en-US" sz="1250" dirty="0"/>
          </a:p>
        </p:txBody>
      </p:sp>
      <p:sp>
        <p:nvSpPr>
          <p:cNvPr id="14" name="bullets"/>
          <p:cNvSpPr txBox="1"/>
          <p:nvPr/>
        </p:nvSpPr>
        <p:spPr>
          <a:xfrm>
            <a:off x="640080" y="4370832"/>
            <a:ext cx="5120640" cy="15544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Whether the user banks with any issuer (so the Barclays current-account condition was read from the page, and misread in B)</a:t>
            </a:r>
            <a:endParaRPr lang="en-US" sz="1100" dirty="0"/>
          </a:p>
        </p:txBody>
      </p:sp>
      <p:sp>
        <p:nvSpPr>
          <p:cNvPr id="15" name="heading What this tells us"/>
          <p:cNvSpPr txBox="1"/>
          <p:nvPr/>
        </p:nvSpPr>
        <p:spPr>
          <a:xfrm>
            <a:off x="6035040" y="4005072"/>
            <a:ext cx="5486400" cy="365760"/>
          </a:xfrm>
          <a:prstGeom prst="rect">
            <a:avLst/>
          </a:prstGeom>
          <a:noFill/>
          <a:ln/>
        </p:spPr>
        <p:txBody>
          <a:bodyPr wrap="square" lIns="0" tIns="0" rIns="0" bIns="0" rtlCol="0" anchor="ctr"/>
          <a:lstStyle/>
          <a:p>
            <a:pPr indent="0" marL="0">
              <a:buNone/>
            </a:pPr>
            <a:r>
              <a:rPr lang="en-US" sz="1250" b="1" dirty="0">
                <a:solidFill>
                  <a:schemeClr val="tx2"/>
                </a:solidFill>
              </a:rPr>
              <a:t>What this tells us</a:t>
            </a:r>
            <a:endParaRPr lang="en-US" sz="1250" dirty="0"/>
          </a:p>
        </p:txBody>
      </p:sp>
      <p:sp>
        <p:nvSpPr>
          <p:cNvPr id="16" name="reading"/>
          <p:cNvSpPr txBox="1"/>
          <p:nvPr/>
        </p:nvSpPr>
        <p:spPr>
          <a:xfrm>
            <a:off x="6035040" y="4370832"/>
            <a:ext cx="5486400" cy="1554480"/>
          </a:xfrm>
          <a:prstGeom prst="rect">
            <a:avLst/>
          </a:prstGeom>
          <a:noFill/>
          <a:ln/>
        </p:spPr>
        <p:txBody>
          <a:bodyPr wrap="square" lIns="0" tIns="0" rIns="0" bIns="0" rtlCol="0" anchor="t"/>
          <a:lstStyle/>
          <a:p>
            <a:pPr indent="0" marL="0">
              <a:buNone/>
            </a:pPr>
            <a:r>
              <a:rPr lang="en-US" sz="1100" dirty="0">
                <a:solidFill>
                  <a:schemeClr val="tx1"/>
                </a:solidFill>
              </a:rPr>
              <a:t>Sonnet asks the most complete set of the four models, and asks it once. Its turn 1 picks are already conditional on the answers ('HSBC if you answer a or b, Barclaycard if c').</a:t>
            </a:r>
            <a:endParaRPr lang="en-US" sz="1100" dirty="0"/>
          </a:p>
        </p:txBody>
      </p:sp>
      <p:sp>
        <p:nvSpPr>
          <p:cNvPr id="17"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transcripts/A-sonnet.md and B-sonnet.md turn 1 (and turn 2 for Fable A). Falsified if a listed question is missing from the turn, or an unlisted one is present.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Sonnet 5.5: the sources it referred to, and which ones it opened</a:t>
            </a:r>
            <a:endParaRPr lang="en-US" sz="2400" dirty="0"/>
          </a:p>
        </p:txBody>
      </p:sp>
      <p:graphicFrame>
        <p:nvGraphicFramePr>
          <p:cNvPr id="16" name="sources table"/>
          <p:cNvGraphicFramePr>
            <a:graphicFrameLocks noGrp="1"/>
          </p:cNvGraphicFramePr>
          <p:nvPr>
            <p:extLst>
              <p:ext uri="{D42A27DB-BD31-4B8C-83A1-F6EECF244321}">
                <p14:modId xmlns:p14="http://schemas.microsoft.com/office/powerpoint/2010/main" val="1579011935"/>
              </p:ext>
            </p:extLst>
          </p:nvPr>
        </p:nvGraphicFramePr>
        <p:xfrm>
          <a:off x="457200" y="1143000"/>
          <a:ext cx="7863840" cy="914400"/>
        </p:xfrm>
        <a:graphic>
          <a:graphicData uri="http://schemas.openxmlformats.org/drawingml/2006/table">
            <a:tbl>
              <a:tblPr/>
              <a:tblGrid>
                <a:gridCol w="1737360"/>
                <a:gridCol w="1600200"/>
                <a:gridCol w="1600200"/>
                <a:gridCol w="2926080"/>
              </a:tblGrid>
              <a:tr h="274320">
                <a:tc>
                  <a:txBody>
                    <a:bodyPr/>
                    <a:lstStyle/>
                    <a:p>
                      <a:pPr indent="0" marL="0">
                        <a:buNone/>
                      </a:pPr>
                      <a:r>
                        <a:rPr lang="en-US" sz="850" b="1" dirty="0">
                          <a:solidFill>
                            <a:srgbClr val="FFFFFF"/>
                          </a:solidFill>
                        </a:rPr>
                        <a:t>Source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A</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B</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it was used for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274320">
                <a:tc>
                  <a:txBody>
                    <a:bodyPr/>
                    <a:lstStyle/>
                    <a:p>
                      <a:pPr indent="0" marL="0">
                        <a:buNone/>
                      </a:pPr>
                      <a:r>
                        <a:rPr lang="en-US" sz="850" b="1" dirty="0">
                          <a:solidFill>
                            <a:srgbClr val="0A1F3D"/>
                          </a:solidFill>
                        </a:rPr>
                        <a:t>Which? guide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1,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1 to 3,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The shortlist in both runs; the only source for Virgin, HSBC, TSB and Vanquis in B, including the final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MoneySavingExpert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searched for, never found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searched for, never found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'I couldn't find MoneySavingExpert's own ranking' (A). Neither run saw MSE's 'definite' labels or Barclaycard tiers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Moneyfactscompare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The final pick in A: Virgin 35m at 2.45%, from a chart whose FAQ dates it to 3 July 2026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Finder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snippet T1; Virgin page opened T4 (updated 10 April 2026)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Second source for the Virgin 35m figures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money.co.uk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General rules: same-group ban, 60 to 90 day windows, eligibility checkers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barclaycard.co.uk listing</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 3 (a first URL returned 404)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 3 (a first URL returned 404)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Every Barclaycard figure, including the 22 month card and the cashback conditions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Nationwide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Exclusion: membership required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Tesco Bank (old 'lowfee' index page)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Tesco 35m figures; no offer date on the page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Virgin Money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product page 404 at turn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never attempted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The pick in both runs was never checked on Virgin's site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Money to the Masses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403, 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4" name="heading What the model said "/>
          <p:cNvSpPr txBox="1"/>
          <p:nvPr/>
        </p:nvSpPr>
        <p:spPr>
          <a:xfrm>
            <a:off x="8549640" y="1143000"/>
            <a:ext cx="3200400" cy="365760"/>
          </a:xfrm>
          <a:prstGeom prst="rect">
            <a:avLst/>
          </a:prstGeom>
          <a:noFill/>
          <a:ln/>
        </p:spPr>
        <p:txBody>
          <a:bodyPr wrap="square" lIns="0" tIns="0" rIns="0" bIns="0" rtlCol="0" anchor="ctr"/>
          <a:lstStyle/>
          <a:p>
            <a:pPr indent="0" marL="0">
              <a:buNone/>
            </a:pPr>
            <a:r>
              <a:rPr lang="en-US" sz="1150" b="1" dirty="0">
                <a:solidFill>
                  <a:schemeClr val="tx2"/>
                </a:solidFill>
              </a:rPr>
              <a:t>What the model said it relied on most (turn 5)</a:t>
            </a:r>
            <a:endParaRPr lang="en-US" sz="1150" dirty="0"/>
          </a:p>
        </p:txBody>
      </p:sp>
      <p:sp>
        <p:nvSpPr>
          <p:cNvPr id="5" name="quote bg"/>
          <p:cNvSpPr/>
          <p:nvPr/>
        </p:nvSpPr>
        <p:spPr>
          <a:xfrm>
            <a:off x="8549640" y="1554480"/>
            <a:ext cx="3200400" cy="1600200"/>
          </a:xfrm>
          <a:prstGeom prst="rect">
            <a:avLst/>
          </a:prstGeom>
          <a:solidFill>
            <a:schemeClr val="bg2"/>
          </a:solidFill>
          <a:ln w="12700">
            <a:solidFill>
              <a:schemeClr val="bg2"/>
            </a:solidFill>
            <a:prstDash val="solid"/>
          </a:ln>
        </p:spPr>
      </p:sp>
      <p:sp>
        <p:nvSpPr>
          <p:cNvPr id="6" name="quote text"/>
          <p:cNvSpPr txBox="1"/>
          <p:nvPr/>
        </p:nvSpPr>
        <p:spPr>
          <a:xfrm>
            <a:off x="8659368" y="160934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“Moneyfactscompare, Which? and Finder, then Barclaycard's and Nationwide's own pages. For Virgin, HSBC, TSB, Halifax and Lloyds, they come from comparison sites, not the issuer.”</a:t>
            </a:r>
            <a:endParaRPr lang="en-US" sz="1050" dirty="0"/>
          </a:p>
          <a:p>
            <a:pPr indent="0" marL="0">
              <a:buNone/>
            </a:pPr>
            <a:r>
              <a:rPr lang="en-US" sz="900" b="1" dirty="0">
                <a:solidFill>
                  <a:schemeClr val="accent1"/>
                </a:solidFill>
              </a:rPr>
              <a:t>Sonnet, profile A, turn 5</a:t>
            </a:r>
            <a:endParaRPr lang="en-US" sz="1050" dirty="0"/>
          </a:p>
        </p:txBody>
      </p:sp>
      <p:sp>
        <p:nvSpPr>
          <p:cNvPr id="7" name="quote bg"/>
          <p:cNvSpPr/>
          <p:nvPr/>
        </p:nvSpPr>
        <p:spPr>
          <a:xfrm>
            <a:off x="8549640" y="3291840"/>
            <a:ext cx="3200400" cy="1600200"/>
          </a:xfrm>
          <a:prstGeom prst="rect">
            <a:avLst/>
          </a:prstGeom>
          <a:solidFill>
            <a:schemeClr val="bg2"/>
          </a:solidFill>
          <a:ln w="12700">
            <a:solidFill>
              <a:schemeClr val="bg2"/>
            </a:solidFill>
            <a:prstDash val="solid"/>
          </a:ln>
        </p:spPr>
      </p:sp>
      <p:sp>
        <p:nvSpPr>
          <p:cNvPr id="8" name="quote text"/>
          <p:cNvSpPr txBox="1"/>
          <p:nvPr/>
        </p:nvSpPr>
        <p:spPr>
          <a:xfrm>
            <a:off x="8659368" y="334670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“Which?, for four cards including my top pick, then the Barclaycard and Tesco pages. [...] For your top pick I did not open Virgin's page.”</a:t>
            </a:r>
            <a:endParaRPr lang="en-US" sz="1050" dirty="0"/>
          </a:p>
          <a:p>
            <a:pPr indent="0" marL="0">
              <a:buNone/>
            </a:pPr>
            <a:r>
              <a:rPr lang="en-US" sz="900" b="1" dirty="0">
                <a:solidFill>
                  <a:schemeClr val="accent1"/>
                </a:solidFill>
              </a:rPr>
              <a:t>Sonnet, profile B, turn 5</a:t>
            </a:r>
            <a:endParaRPr lang="en-US" sz="1050" dirty="0"/>
          </a:p>
        </p:txBody>
      </p:sp>
      <p:sp>
        <p:nvSpPr>
          <p:cNvPr id="9" name="opened note"/>
          <p:cNvSpPr txBox="1"/>
          <p:nvPr/>
        </p:nvSpPr>
        <p:spPr>
          <a:xfrm>
            <a:off x="8549640" y="5074920"/>
            <a:ext cx="3200400" cy="731520"/>
          </a:xfrm>
          <a:prstGeom prst="rect">
            <a:avLst/>
          </a:prstGeom>
          <a:noFill/>
          <a:ln/>
        </p:spPr>
        <p:txBody>
          <a:bodyPr wrap="square" lIns="0" tIns="0" rIns="0" bIns="0" rtlCol="0" anchor="t"/>
          <a:lstStyle/>
          <a:p>
            <a:pPr indent="0" marL="0">
              <a:buNone/>
            </a:pPr>
            <a:r>
              <a:rPr lang="en-US" sz="850" i="1" dirty="0">
                <a:solidFill>
                  <a:schemeClr val="tx2"/>
                </a:solidFill>
              </a:rPr>
              <a:t>'Opened' means the URL appears in the SEARCH LOG with an (opened) marker. Every model said at turn 5 that opened pages were read through a summariser, not as raw HTML.</a:t>
            </a:r>
            <a:endParaRPr lang="en-US" sz="8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SEARCH LOG blocks in transcripts/A-sonnet.md and B-sonnet.md; turn 5 replies. Falsified if a URL marked 'opened' here is absent from the logs.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Sonnet 5.5: the options it gave, and why Barclaycard was or was not among them</a:t>
            </a:r>
            <a:endParaRPr lang="en-US" sz="2400" dirty="0"/>
          </a:p>
        </p:txBody>
      </p:sp>
      <p:sp>
        <p:nvSpPr>
          <p:cNvPr id="3" name="heading Profile A, clean cre"/>
          <p:cNvSpPr txBox="1"/>
          <p:nvPr/>
        </p:nvSpPr>
        <p:spPr>
          <a:xfrm>
            <a:off x="457200" y="1143000"/>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A, clean credit</a:t>
            </a:r>
            <a:endParaRPr lang="en-US" sz="1200" dirty="0"/>
          </a:p>
        </p:txBody>
      </p:sp>
      <p:graphicFrame>
        <p:nvGraphicFramePr>
          <p:cNvPr id="17" name="options A"/>
          <p:cNvGraphicFramePr>
            <a:graphicFrameLocks noGrp="1"/>
          </p:cNvGraphicFramePr>
          <p:nvPr>
            <p:extLst>
              <p:ext uri="{D42A27DB-BD31-4B8C-83A1-F6EECF244321}">
                <p14:modId xmlns:p14="http://schemas.microsoft.com/office/powerpoint/2010/main" val="1579011935"/>
              </p:ext>
            </p:extLst>
          </p:nvPr>
        </p:nvGraphicFramePr>
        <p:xfrm>
          <a:off x="457200" y="1490472"/>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HSBC 36m 3.09%; TSB 38m 3.49%; Barclaycard 12m no fee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35m 2.45% (Moneyfacts, July data); Halifax 35m 2.49%; HSBC 36m 3.09%</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36m card 4th: 3.15% against HSBC's 3.09%, above the 3% ceiling, Virgin and Halifax cheaper for similar length. 22m card 5th: cheapest fee but 'up to' and one month of slack at £150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35m 2.45%. Switch to Halifax or HSBC if the offer is worse; to Barclaycard 12m only at £250 a month</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5" name="heading Profile B, Fair cred"/>
          <p:cNvSpPr txBox="1"/>
          <p:nvPr/>
        </p:nvSpPr>
        <p:spPr>
          <a:xfrm>
            <a:off x="457200" y="3630168"/>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B, Fair credit</a:t>
            </a:r>
            <a:endParaRPr lang="en-US" sz="1200" dirty="0"/>
          </a:p>
        </p:txBody>
      </p:sp>
      <p:graphicFrame>
        <p:nvGraphicFramePr>
          <p:cNvPr id="33" name="options B"/>
          <p:cNvGraphicFramePr>
            <a:graphicFrameLocks noGrp="1"/>
          </p:cNvGraphicFramePr>
          <p:nvPr>
            <p:extLst>
              <p:ext uri="{D42A27DB-BD31-4B8C-83A1-F6EECF244321}">
                <p14:modId xmlns:p14="http://schemas.microsoft.com/office/powerpoint/2010/main" val="1579011935"/>
              </p:ext>
            </p:extLst>
          </p:nvPr>
        </p:nvGraphicFramePr>
        <p:xfrm>
          <a:off x="457200" y="3977640"/>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HSBC 36m; TSB 38m; Vanquis 36m no fee (40.9% APR)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36m 3.1%; HSBC 36m 3.09%; Tesco 35m 3.15%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22m card to 2nd (would be 1st on lowest cost). 36m card 'not available to you': the model read the cashback's current-account condition as a card condition. 24m and 21m over the ceiling; 12m too short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36m 3.1%. Switch to Barclaycard 22m if Virgin offers under 24 months or if the user prefers the lowest fee; to HSBC if Virgin's terms have changed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7" name="heading In the model&amp;apos;s words"/>
          <p:cNvSpPr txBox="1"/>
          <p:nvPr/>
        </p:nvSpPr>
        <p:spPr>
          <a:xfrm>
            <a:off x="8275320" y="1143000"/>
            <a:ext cx="3474720" cy="365760"/>
          </a:xfrm>
          <a:prstGeom prst="rect">
            <a:avLst/>
          </a:prstGeom>
          <a:noFill/>
          <a:ln/>
        </p:spPr>
        <p:txBody>
          <a:bodyPr wrap="square" lIns="0" tIns="0" rIns="0" bIns="0" rtlCol="0" anchor="ctr"/>
          <a:lstStyle/>
          <a:p>
            <a:pPr indent="0" marL="0">
              <a:buNone/>
            </a:pPr>
            <a:r>
              <a:rPr lang="en-US" sz="1200" b="1" dirty="0">
                <a:solidFill>
                  <a:schemeClr val="tx2"/>
                </a:solidFill>
              </a:rPr>
              <a:t>In the model's words</a:t>
            </a:r>
            <a:endParaRPr lang="en-US" sz="1200" dirty="0"/>
          </a:p>
        </p:txBody>
      </p:sp>
      <p:sp>
        <p:nvSpPr>
          <p:cNvPr id="8" name="quote bg"/>
          <p:cNvSpPr/>
          <p:nvPr/>
        </p:nvSpPr>
        <p:spPr>
          <a:xfrm>
            <a:off x="8275320" y="1508760"/>
            <a:ext cx="3474720" cy="1069848"/>
          </a:xfrm>
          <a:prstGeom prst="rect">
            <a:avLst/>
          </a:prstGeom>
          <a:solidFill>
            <a:schemeClr val="bg2"/>
          </a:solidFill>
          <a:ln w="12700">
            <a:solidFill>
              <a:schemeClr val="bg2"/>
            </a:solidFill>
            <a:prstDash val="solid"/>
          </a:ln>
        </p:spPr>
      </p:sp>
      <p:sp>
        <p:nvSpPr>
          <p:cNvPr id="9" name="quote text"/>
          <p:cNvSpPr txBox="1"/>
          <p:nvPr/>
        </p:nvSpPr>
        <p:spPr>
          <a:xfrm>
            <a:off x="8385048" y="1563624"/>
            <a:ext cx="3255264" cy="960120"/>
          </a:xfrm>
          <a:prstGeom prst="rect">
            <a:avLst/>
          </a:prstGeom>
          <a:noFill/>
          <a:ln/>
        </p:spPr>
        <p:txBody>
          <a:bodyPr wrap="square" lIns="0" tIns="0" rIns="0" bIns="0" rtlCol="0" anchor="t"/>
          <a:lstStyle/>
          <a:p>
            <a:pPr indent="0" marL="0">
              <a:buNone/>
            </a:pPr>
            <a:r>
              <a:rPr lang="en-US" sz="1050" i="1" dirty="0">
                <a:solidFill>
                  <a:schemeClr val="tx1"/>
                </a:solidFill>
              </a:rPr>
              <a:t>“The fee is 3.15%, against 3.09% for HSBC on Moneyfactscompare. That's a few pounds more for HSBC's 36 months, so HSBC beats it.”</a:t>
            </a:r>
            <a:endParaRPr lang="en-US" sz="1050" dirty="0"/>
          </a:p>
          <a:p>
            <a:pPr indent="0" marL="0">
              <a:buNone/>
            </a:pPr>
            <a:r>
              <a:rPr lang="en-US" sz="900" b="1" dirty="0">
                <a:solidFill>
                  <a:schemeClr val="accent1"/>
                </a:solidFill>
              </a:rPr>
              <a:t>Profile A, turn 3</a:t>
            </a:r>
            <a:endParaRPr lang="en-US" sz="1050" dirty="0"/>
          </a:p>
        </p:txBody>
      </p:sp>
      <p:sp>
        <p:nvSpPr>
          <p:cNvPr id="10" name="quote bg"/>
          <p:cNvSpPr/>
          <p:nvPr/>
        </p:nvSpPr>
        <p:spPr>
          <a:xfrm>
            <a:off x="8275320" y="2670048"/>
            <a:ext cx="3474720" cy="1069848"/>
          </a:xfrm>
          <a:prstGeom prst="rect">
            <a:avLst/>
          </a:prstGeom>
          <a:solidFill>
            <a:schemeClr val="bg2"/>
          </a:solidFill>
          <a:ln w="12700">
            <a:solidFill>
              <a:schemeClr val="bg2"/>
            </a:solidFill>
            <a:prstDash val="solid"/>
          </a:ln>
        </p:spPr>
      </p:sp>
      <p:sp>
        <p:nvSpPr>
          <p:cNvPr id="11" name="quote text"/>
          <p:cNvSpPr txBox="1"/>
          <p:nvPr/>
        </p:nvSpPr>
        <p:spPr>
          <a:xfrm>
            <a:off x="8385048" y="2724912"/>
            <a:ext cx="3255264" cy="960120"/>
          </a:xfrm>
          <a:prstGeom prst="rect">
            <a:avLst/>
          </a:prstGeom>
          <a:noFill/>
          <a:ln/>
        </p:spPr>
        <p:txBody>
          <a:bodyPr wrap="square" lIns="0" tIns="0" rIns="0" bIns="0" rtlCol="0" anchor="t"/>
          <a:lstStyle/>
          <a:p>
            <a:pPr indent="0" marL="0">
              <a:buNone/>
            </a:pPr>
            <a:r>
              <a:rPr lang="en-US" sz="1050" i="1" dirty="0">
                <a:solidFill>
                  <a:schemeClr val="tx1"/>
                </a:solidFill>
              </a:rPr>
              <a:t>“Platinum up to 36 month: not available to you. Barclaycard's page says it requires a Barclays personal current account, and its promotion ends on 20 October 2026.”</a:t>
            </a:r>
            <a:endParaRPr lang="en-US" sz="1050" dirty="0"/>
          </a:p>
          <a:p>
            <a:pPr indent="0" marL="0">
              <a:buNone/>
            </a:pPr>
            <a:r>
              <a:rPr lang="en-US" sz="900" b="1" dirty="0">
                <a:solidFill>
                  <a:schemeClr val="accent1"/>
                </a:solidFill>
              </a:rPr>
              <a:t>Profile B, turn 3 (the condition belongs to the £20 cashback)</a:t>
            </a:r>
            <a:endParaRPr lang="en-US" sz="1050" dirty="0"/>
          </a:p>
        </p:txBody>
      </p:sp>
      <p:sp>
        <p:nvSpPr>
          <p:cNvPr id="12" name="quote bg"/>
          <p:cNvSpPr/>
          <p:nvPr/>
        </p:nvSpPr>
        <p:spPr>
          <a:xfrm>
            <a:off x="8275320" y="3831336"/>
            <a:ext cx="3474720" cy="1069848"/>
          </a:xfrm>
          <a:prstGeom prst="rect">
            <a:avLst/>
          </a:prstGeom>
          <a:solidFill>
            <a:schemeClr val="bg2"/>
          </a:solidFill>
          <a:ln w="12700">
            <a:solidFill>
              <a:schemeClr val="bg2"/>
            </a:solidFill>
            <a:prstDash val="solid"/>
          </a:ln>
        </p:spPr>
      </p:sp>
      <p:sp>
        <p:nvSpPr>
          <p:cNvPr id="13" name="quote text"/>
          <p:cNvSpPr txBox="1"/>
          <p:nvPr/>
        </p:nvSpPr>
        <p:spPr>
          <a:xfrm>
            <a:off x="8385048" y="3886200"/>
            <a:ext cx="3255264" cy="960120"/>
          </a:xfrm>
          <a:prstGeom prst="rect">
            <a:avLst/>
          </a:prstGeom>
          <a:noFill/>
          <a:ln/>
        </p:spPr>
        <p:txBody>
          <a:bodyPr wrap="square" lIns="0" tIns="0" rIns="0" bIns="0" rtlCol="0" anchor="t"/>
          <a:lstStyle/>
          <a:p>
            <a:pPr indent="0" marL="0">
              <a:buNone/>
            </a:pPr>
            <a:r>
              <a:rPr lang="en-US" sz="1050" i="1" dirty="0">
                <a:solidFill>
                  <a:schemeClr val="tx1"/>
                </a:solidFill>
              </a:rPr>
              <a:t>“Barclaycard's 22-month card has a lower fee but, per Barclaycard, only 'up to' 22 months. That leaves little margin at £150 a month.”</a:t>
            </a:r>
            <a:endParaRPr lang="en-US" sz="1050" dirty="0"/>
          </a:p>
          <a:p>
            <a:pPr indent="0" marL="0">
              <a:buNone/>
            </a:pPr>
            <a:r>
              <a:rPr lang="en-US" sz="900" b="1" dirty="0">
                <a:solidFill>
                  <a:schemeClr val="accent1"/>
                </a:solidFill>
              </a:rPr>
              <a:t>Profile A, turn 4</a:t>
            </a:r>
            <a:endParaRPr lang="en-US" sz="1050" dirty="0"/>
          </a:p>
        </p:txBody>
      </p:sp>
      <p:sp>
        <p:nvSpPr>
          <p:cNvPr id="14" name="quote bg"/>
          <p:cNvSpPr/>
          <p:nvPr/>
        </p:nvSpPr>
        <p:spPr>
          <a:xfrm>
            <a:off x="8275320" y="4992624"/>
            <a:ext cx="3474720" cy="1069848"/>
          </a:xfrm>
          <a:prstGeom prst="rect">
            <a:avLst/>
          </a:prstGeom>
          <a:solidFill>
            <a:schemeClr val="bg2"/>
          </a:solidFill>
          <a:ln w="12700">
            <a:solidFill>
              <a:schemeClr val="bg2"/>
            </a:solidFill>
            <a:prstDash val="solid"/>
          </a:ln>
        </p:spPr>
      </p:sp>
      <p:sp>
        <p:nvSpPr>
          <p:cNvPr id="15" name="quote text"/>
          <p:cNvSpPr txBox="1"/>
          <p:nvPr/>
        </p:nvSpPr>
        <p:spPr>
          <a:xfrm>
            <a:off x="8385048" y="5047488"/>
            <a:ext cx="3255264" cy="960120"/>
          </a:xfrm>
          <a:prstGeom prst="rect">
            <a:avLst/>
          </a:prstGeom>
          <a:noFill/>
          <a:ln/>
        </p:spPr>
        <p:txBody>
          <a:bodyPr wrap="square" lIns="0" tIns="0" rIns="0" bIns="0" rtlCol="0" anchor="t"/>
          <a:lstStyle/>
          <a:p>
            <a:pPr indent="0" marL="0">
              <a:buNone/>
            </a:pPr>
            <a:r>
              <a:rPr lang="en-US" sz="1050" i="1" dirty="0">
                <a:solidFill>
                  <a:schemeClr val="tx1"/>
                </a:solidFill>
              </a:rPr>
              <a:t>“If you value the lowest cost over the longest safety net, Barclaycard moves to number 1.”</a:t>
            </a:r>
            <a:endParaRPr lang="en-US" sz="1050" dirty="0"/>
          </a:p>
          <a:p>
            <a:pPr indent="0" marL="0">
              <a:buNone/>
            </a:pPr>
            <a:r>
              <a:rPr lang="en-US" sz="900" b="1" dirty="0">
                <a:solidFill>
                  <a:schemeClr val="accent1"/>
                </a:solidFill>
              </a:rPr>
              <a:t>Profile B, turn 3</a:t>
            </a:r>
            <a:endParaRPr lang="en-US" sz="1050" dirty="0"/>
          </a:p>
        </p:txBody>
      </p:sp>
      <p:sp>
        <p:nvSpPr>
          <p:cNvPr id="16"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transcripts/A-sonnet.md and B-sonnet.md turns 1 to 4; quotes verbatim from the turn named. Falsified if the ranking at a turn differs from the row shown.</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Sonnet 5.5: what would change its answer for Barclaycard</a:t>
            </a:r>
            <a:endParaRPr lang="en-US" sz="2400" dirty="0"/>
          </a:p>
        </p:txBody>
      </p:sp>
      <p:sp>
        <p:nvSpPr>
          <p:cNvPr id="3" name="num 1"/>
          <p:cNvSpPr/>
          <p:nvPr/>
        </p:nvSpPr>
        <p:spPr>
          <a:xfrm>
            <a:off x="457200" y="1216152"/>
            <a:ext cx="329184" cy="329184"/>
          </a:xfrm>
          <a:prstGeom prst="ellipse">
            <a:avLst/>
          </a:prstGeom>
          <a:solidFill>
            <a:schemeClr val="accent1"/>
          </a:solidFill>
          <a:ln w="12700">
            <a:solidFill>
              <a:schemeClr val="accent1"/>
            </a:solidFill>
            <a:prstDash val="solid"/>
          </a:ln>
        </p:spPr>
      </p:sp>
      <p:sp>
        <p:nvSpPr>
          <p:cNvPr id="4" name="num text 1"/>
          <p:cNvSpPr txBox="1"/>
          <p:nvPr/>
        </p:nvSpPr>
        <p:spPr>
          <a:xfrm>
            <a:off x="457200" y="121615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improve 0"/>
          <p:cNvSpPr txBox="1"/>
          <p:nvPr/>
        </p:nvSpPr>
        <p:spPr>
          <a:xfrm>
            <a:off x="914400" y="1188720"/>
            <a:ext cx="6583680" cy="822960"/>
          </a:xfrm>
          <a:prstGeom prst="rect">
            <a:avLst/>
          </a:prstGeom>
          <a:noFill/>
          <a:ln/>
        </p:spPr>
        <p:txBody>
          <a:bodyPr wrap="square" lIns="0" tIns="0" rIns="0" bIns="0" rtlCol="0" anchor="t"/>
          <a:lstStyle/>
          <a:p>
            <a:pPr indent="0" marL="0">
              <a:buNone/>
            </a:pPr>
            <a:r>
              <a:rPr lang="en-US" sz="1050" b="1" dirty="0">
                <a:solidFill>
                  <a:schemeClr val="tx2"/>
                </a:solidFill>
              </a:rPr>
              <a:t>Move the Apple TV and cashback bullets out of the 36 month card's term-and-fee block, and state that no Barclays account is needed for the card. </a:t>
            </a:r>
            <a:pPr indent="0" marL="0">
              <a:buNone/>
            </a:pPr>
            <a:r>
              <a:rPr lang="en-US" sz="1050" dirty="0">
                <a:solidFill>
                  <a:schemeClr val="tx1"/>
                </a:solidFill>
              </a:rPr>
              <a:t>Sonnet B excluded the flagship card outright and repeated the exclusion at turns 4 and 5. </a:t>
            </a:r>
            <a:pPr indent="0" marL="0">
              <a:buNone/>
            </a:pPr>
            <a:r>
              <a:rPr lang="en-US" sz="900" dirty="0">
                <a:solidFill>
                  <a:schemeClr val="accent2"/>
                </a:solidFill>
              </a:rPr>
              <a:t>(B, turns 3 to 5)</a:t>
            </a:r>
            <a:endParaRPr lang="en-US" sz="1050" dirty="0"/>
          </a:p>
        </p:txBody>
      </p:sp>
      <p:sp>
        <p:nvSpPr>
          <p:cNvPr id="6" name="num 2"/>
          <p:cNvSpPr/>
          <p:nvPr/>
        </p:nvSpPr>
        <p:spPr>
          <a:xfrm>
            <a:off x="457200" y="2066544"/>
            <a:ext cx="329184" cy="329184"/>
          </a:xfrm>
          <a:prstGeom prst="ellipse">
            <a:avLst/>
          </a:prstGeom>
          <a:solidFill>
            <a:schemeClr val="accent1"/>
          </a:solidFill>
          <a:ln w="12700">
            <a:solidFill>
              <a:schemeClr val="accent1"/>
            </a:solidFill>
            <a:prstDash val="solid"/>
          </a:ln>
        </p:spPr>
      </p:sp>
      <p:sp>
        <p:nvSpPr>
          <p:cNvPr id="7" name="num text 2"/>
          <p:cNvSpPr txBox="1"/>
          <p:nvPr/>
        </p:nvSpPr>
        <p:spPr>
          <a:xfrm>
            <a:off x="457200" y="206654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improve 1"/>
          <p:cNvSpPr txBox="1"/>
          <p:nvPr/>
        </p:nvSpPr>
        <p:spPr>
          <a:xfrm>
            <a:off x="914400" y="2039112"/>
            <a:ext cx="6583680" cy="822960"/>
          </a:xfrm>
          <a:prstGeom prst="rect">
            <a:avLst/>
          </a:prstGeom>
          <a:noFill/>
          <a:ln/>
        </p:spPr>
        <p:txBody>
          <a:bodyPr wrap="square" lIns="0" tIns="0" rIns="0" bIns="0" rtlCol="0" anchor="t"/>
          <a:lstStyle/>
          <a:p>
            <a:pPr indent="0" marL="0">
              <a:buNone/>
            </a:pPr>
            <a:r>
              <a:rPr lang="en-US" sz="1050" b="1" dirty="0">
                <a:solidFill>
                  <a:schemeClr val="tx2"/>
                </a:solidFill>
              </a:rPr>
              <a:t>Get the 22 month card into the Which? tables. </a:t>
            </a:r>
            <a:pPr indent="0" marL="0">
              <a:buNone/>
            </a:pPr>
            <a:r>
              <a:rPr lang="en-US" sz="1050" dirty="0">
                <a:solidFill>
                  <a:schemeClr val="tx1"/>
                </a:solidFill>
              </a:rPr>
              <a:t>Which? is the first page Sonnet opens in both runs and the only source for its final pick in B. Which? shows only the 12 month card. </a:t>
            </a:r>
            <a:pPr indent="0" marL="0">
              <a:buNone/>
            </a:pPr>
            <a:r>
              <a:rPr lang="en-US" sz="900" dirty="0">
                <a:solidFill>
                  <a:schemeClr val="accent2"/>
                </a:solidFill>
              </a:rPr>
              <a:t>(A turn 1; B turns 1 to 5)</a:t>
            </a:r>
            <a:endParaRPr lang="en-US" sz="1050" dirty="0"/>
          </a:p>
        </p:txBody>
      </p:sp>
      <p:sp>
        <p:nvSpPr>
          <p:cNvPr id="9" name="num 3"/>
          <p:cNvSpPr/>
          <p:nvPr/>
        </p:nvSpPr>
        <p:spPr>
          <a:xfrm>
            <a:off x="457200" y="2916936"/>
            <a:ext cx="329184" cy="329184"/>
          </a:xfrm>
          <a:prstGeom prst="ellipse">
            <a:avLst/>
          </a:prstGeom>
          <a:solidFill>
            <a:schemeClr val="accent1"/>
          </a:solidFill>
          <a:ln w="12700">
            <a:solidFill>
              <a:schemeClr val="accent1"/>
            </a:solidFill>
            <a:prstDash val="solid"/>
          </a:ln>
        </p:spPr>
      </p:sp>
      <p:sp>
        <p:nvSpPr>
          <p:cNvPr id="10" name="num text 3"/>
          <p:cNvSpPr txBox="1"/>
          <p:nvPr/>
        </p:nvSpPr>
        <p:spPr>
          <a:xfrm>
            <a:off x="457200" y="29169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improve 2"/>
          <p:cNvSpPr txBox="1"/>
          <p:nvPr/>
        </p:nvSpPr>
        <p:spPr>
          <a:xfrm>
            <a:off x="914400" y="2889504"/>
            <a:ext cx="6583680" cy="822960"/>
          </a:xfrm>
          <a:prstGeom prst="rect">
            <a:avLst/>
          </a:prstGeom>
          <a:noFill/>
          <a:ln/>
        </p:spPr>
        <p:txBody>
          <a:bodyPr wrap="square" lIns="0" tIns="0" rIns="0" bIns="0" rtlCol="0" anchor="t"/>
          <a:lstStyle/>
          <a:p>
            <a:pPr indent="0" marL="0">
              <a:buNone/>
            </a:pPr>
            <a:r>
              <a:rPr lang="en-US" sz="1050" b="1" dirty="0">
                <a:solidFill>
                  <a:schemeClr val="tx2"/>
                </a:solidFill>
              </a:rPr>
              <a:t>Keep Moneyfacts and Finder current. </a:t>
            </a:r>
            <a:pPr indent="0" marL="0">
              <a:buNone/>
            </a:pPr>
            <a:r>
              <a:rPr lang="en-US" sz="1050" dirty="0">
                <a:solidFill>
                  <a:schemeClr val="tx1"/>
                </a:solidFill>
              </a:rPr>
              <a:t>Sonnet A's pick came from a Moneyfacts chart dated 3 July 2026 and a Finder page dated 10 April 2026; neither matches the October MSE or Which? tables. </a:t>
            </a:r>
            <a:pPr indent="0" marL="0">
              <a:buNone/>
            </a:pPr>
            <a:r>
              <a:rPr lang="en-US" sz="900" dirty="0">
                <a:solidFill>
                  <a:schemeClr val="accent2"/>
                </a:solidFill>
              </a:rPr>
              <a:t>(A, turns 2, 4, 5)</a:t>
            </a:r>
            <a:endParaRPr lang="en-US" sz="1050" dirty="0"/>
          </a:p>
        </p:txBody>
      </p:sp>
      <p:sp>
        <p:nvSpPr>
          <p:cNvPr id="12" name="num 4"/>
          <p:cNvSpPr/>
          <p:nvPr/>
        </p:nvSpPr>
        <p:spPr>
          <a:xfrm>
            <a:off x="457200" y="3767328"/>
            <a:ext cx="329184" cy="329184"/>
          </a:xfrm>
          <a:prstGeom prst="ellipse">
            <a:avLst/>
          </a:prstGeom>
          <a:solidFill>
            <a:schemeClr val="accent1"/>
          </a:solidFill>
          <a:ln w="12700">
            <a:solidFill>
              <a:schemeClr val="accent1"/>
            </a:solidFill>
            <a:prstDash val="solid"/>
          </a:ln>
        </p:spPr>
      </p:sp>
      <p:sp>
        <p:nvSpPr>
          <p:cNvPr id="13" name="num text 4"/>
          <p:cNvSpPr txBox="1"/>
          <p:nvPr/>
        </p:nvSpPr>
        <p:spPr>
          <a:xfrm>
            <a:off x="457200" y="37673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4" name="improve 3"/>
          <p:cNvSpPr txBox="1"/>
          <p:nvPr/>
        </p:nvSpPr>
        <p:spPr>
          <a:xfrm>
            <a:off x="914400" y="3739896"/>
            <a:ext cx="6583680" cy="822960"/>
          </a:xfrm>
          <a:prstGeom prst="rect">
            <a:avLst/>
          </a:prstGeom>
          <a:noFill/>
          <a:ln/>
        </p:spPr>
        <p:txBody>
          <a:bodyPr wrap="square" lIns="0" tIns="0" rIns="0" bIns="0" rtlCol="0" anchor="t"/>
          <a:lstStyle/>
          <a:p>
            <a:pPr indent="0" marL="0">
              <a:buNone/>
            </a:pPr>
            <a:r>
              <a:rPr lang="en-US" sz="1050" b="1" dirty="0">
                <a:solidFill>
                  <a:schemeClr val="tx2"/>
                </a:solidFill>
              </a:rPr>
              <a:t>Fix the 404 at barclaycard.co.uk/personal/credit-cards/balance-transfer. </a:t>
            </a:r>
            <a:pPr indent="0" marL="0">
              <a:buNone/>
            </a:pPr>
            <a:r>
              <a:rPr lang="en-US" sz="1050" dirty="0">
                <a:solidFill>
                  <a:schemeClr val="tx1"/>
                </a:solidFill>
              </a:rPr>
              <a:t>Both Sonnet runs hit a 404 on their first Barclaycard URL before finding the listing page. </a:t>
            </a:r>
            <a:pPr indent="0" marL="0">
              <a:buNone/>
            </a:pPr>
            <a:r>
              <a:rPr lang="en-US" sz="900" dirty="0">
                <a:solidFill>
                  <a:schemeClr val="accent2"/>
                </a:solidFill>
              </a:rPr>
              <a:t>(A turn 3; B turn 5)</a:t>
            </a:r>
            <a:endParaRPr lang="en-US" sz="1050" dirty="0"/>
          </a:p>
        </p:txBody>
      </p:sp>
      <p:sp>
        <p:nvSpPr>
          <p:cNvPr id="15" name="num 5"/>
          <p:cNvSpPr/>
          <p:nvPr/>
        </p:nvSpPr>
        <p:spPr>
          <a:xfrm>
            <a:off x="457200" y="4617720"/>
            <a:ext cx="329184" cy="329184"/>
          </a:xfrm>
          <a:prstGeom prst="ellipse">
            <a:avLst/>
          </a:prstGeom>
          <a:solidFill>
            <a:schemeClr val="accent1"/>
          </a:solidFill>
          <a:ln w="12700">
            <a:solidFill>
              <a:schemeClr val="accent1"/>
            </a:solidFill>
            <a:prstDash val="solid"/>
          </a:ln>
        </p:spPr>
      </p:sp>
      <p:sp>
        <p:nvSpPr>
          <p:cNvPr id="16" name="num text 5"/>
          <p:cNvSpPr txBox="1"/>
          <p:nvPr/>
        </p:nvSpPr>
        <p:spPr>
          <a:xfrm>
            <a:off x="457200" y="46177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7" name="improve 4"/>
          <p:cNvSpPr txBox="1"/>
          <p:nvPr/>
        </p:nvSpPr>
        <p:spPr>
          <a:xfrm>
            <a:off x="914400" y="4590288"/>
            <a:ext cx="6583680" cy="822960"/>
          </a:xfrm>
          <a:prstGeom prst="rect">
            <a:avLst/>
          </a:prstGeom>
          <a:noFill/>
          <a:ln/>
        </p:spPr>
        <p:txBody>
          <a:bodyPr wrap="square" lIns="0" tIns="0" rIns="0" bIns="0" rtlCol="0" anchor="t"/>
          <a:lstStyle/>
          <a:p>
            <a:pPr indent="0" marL="0">
              <a:buNone/>
            </a:pPr>
            <a:r>
              <a:rPr lang="en-US" sz="1050" b="1" dirty="0">
                <a:solidFill>
                  <a:schemeClr val="tx2"/>
                </a:solidFill>
              </a:rPr>
              <a:t>Explain how the offered term is decided, and add offer dates to every card, not only the promotions. </a:t>
            </a:r>
            <a:pPr indent="0" marL="0">
              <a:buNone/>
            </a:pPr>
            <a:r>
              <a:rPr lang="en-US" sz="1050" dirty="0">
                <a:solidFill>
                  <a:schemeClr val="tx1"/>
                </a:solidFill>
              </a:rPr>
              <a:t>'How the offered term is decided, and no acceptance odds for a Fair band' were Sonnet B's named gaps; 'the date of the information on each page' was Sonnet A's. </a:t>
            </a:r>
            <a:pPr indent="0" marL="0">
              <a:buNone/>
            </a:pPr>
            <a:r>
              <a:rPr lang="en-US" sz="900" dirty="0">
                <a:solidFill>
                  <a:schemeClr val="accent2"/>
                </a:solidFill>
              </a:rPr>
              <a:t>(A and B, turn 5)</a:t>
            </a:r>
            <a:endParaRPr lang="en-US" sz="1050" dirty="0"/>
          </a:p>
        </p:txBody>
      </p:sp>
      <p:pic>
        <p:nvPicPr>
          <p:cNvPr id="18" name="E1_bc36_offers_above_terms.jpg" descr="/home/user/cc_yolo_project/Oct11_3pm/deck/evidence/E1_bc36_offers_above_terms.jpg">    </p:cNvPr>
          <p:cNvPicPr>
            <a:picLocks noChangeAspect="1"/>
          </p:cNvPicPr>
          <p:nvPr/>
        </p:nvPicPr>
        <p:blipFill>
          <a:blip r:embed="rId1"/>
          <a:stretch>
            <a:fillRect/>
          </a:stretch>
        </p:blipFill>
        <p:spPr>
          <a:xfrm>
            <a:off x="7589520" y="1188720"/>
            <a:ext cx="4160520" cy="3120390"/>
          </a:xfrm>
          <a:prstGeom prst="rect">
            <a:avLst/>
          </a:prstGeom>
          <a:effectLst>
            <a:outerShdw sx="100000" sy="100000" kx="0" ky="0" algn="bl" rotWithShape="0" blurRad="50800" dist="25400" dir="2700000">
              <a:srgbClr val="0B2E59">
                <a:alpha val="25000"/>
              </a:srgbClr>
            </a:outerShdw>
          </a:effectLst>
        </p:spPr>
      </p:pic>
      <p:sp>
        <p:nvSpPr>
          <p:cNvPr id="19" name="improve caption"/>
          <p:cNvSpPr txBox="1"/>
          <p:nvPr/>
        </p:nvSpPr>
        <p:spPr>
          <a:xfrm>
            <a:off x="7589520" y="4354830"/>
            <a:ext cx="4160520" cy="457200"/>
          </a:xfrm>
          <a:prstGeom prst="rect">
            <a:avLst/>
          </a:prstGeom>
          <a:noFill/>
          <a:ln/>
        </p:spPr>
        <p:txBody>
          <a:bodyPr wrap="square" lIns="0" tIns="0" rIns="0" bIns="0" rtlCol="0" anchor="ctr"/>
          <a:lstStyle/>
          <a:p>
            <a:pPr indent="0" marL="0">
              <a:buNone/>
            </a:pPr>
            <a:r>
              <a:rPr lang="en-US" sz="900" i="1" dirty="0">
                <a:solidFill>
                  <a:schemeClr val="tx2"/>
                </a:solidFill>
              </a:rPr>
              <a:t>The 36 month block Sonnet B read: two offer bullets above the term and fee, and the current-account condition inside the second</a:t>
            </a:r>
            <a:endParaRPr lang="en-US" sz="900" dirty="0"/>
          </a:p>
        </p:txBody>
      </p:sp>
      <p:sp>
        <p:nvSpPr>
          <p:cNvPr id="20" name="test box"/>
          <p:cNvSpPr/>
          <p:nvPr/>
        </p:nvSpPr>
        <p:spPr>
          <a:xfrm>
            <a:off x="457200" y="5532120"/>
            <a:ext cx="11247120" cy="566928"/>
          </a:xfrm>
          <a:prstGeom prst="roundRect">
            <a:avLst>
              <a:gd name="adj" fmla="val 12903"/>
            </a:avLst>
          </a:prstGeom>
          <a:solidFill>
            <a:schemeClr val="bg2"/>
          </a:solidFill>
          <a:ln w="9525">
            <a:solidFill>
              <a:schemeClr val="accent5"/>
            </a:solidFill>
            <a:prstDash val="solid"/>
          </a:ln>
        </p:spPr>
      </p:sp>
      <p:sp>
        <p:nvSpPr>
          <p:cNvPr id="21" name="test text"/>
          <p:cNvSpPr txBox="1"/>
          <p:nvPr/>
        </p:nvSpPr>
        <p:spPr>
          <a:xfrm>
            <a:off x="594360" y="5577840"/>
            <a:ext cx="10972800" cy="475488"/>
          </a:xfrm>
          <a:prstGeom prst="rect">
            <a:avLst/>
          </a:prstGeom>
          <a:noFill/>
          <a:ln/>
        </p:spPr>
        <p:txBody>
          <a:bodyPr wrap="square" lIns="0" tIns="0" rIns="0" bIns="0" rtlCol="0" anchor="t"/>
          <a:lstStyle/>
          <a:p>
            <a:pPr indent="0" marL="0">
              <a:buNone/>
            </a:pPr>
            <a:r>
              <a:rPr lang="en-US" sz="1050" b="1" dirty="0">
                <a:solidFill>
                  <a:schemeClr val="accent1"/>
                </a:solidFill>
              </a:rPr>
              <a:t>TEST IT  </a:t>
            </a:r>
            <a:pPr indent="0" marL="0">
              <a:buNone/>
            </a:pPr>
            <a:r>
              <a:rPr lang="en-US" sz="1050" dirty="0">
                <a:solidFill>
                  <a:schemeClr val="tx1"/>
                </a:solidFill>
              </a:rPr>
              <a:t>Read transcripts/B-sonnet.md line 119 and the cashback T&amp;Cs. Falsified if the card itself requires a Barclays current account. Open the Which? guide and search for '22 month': falsified if the card is listed.</a:t>
            </a:r>
            <a:endParaRPr lang="en-US" sz="1050" dirty="0"/>
          </a:p>
        </p:txBody>
      </p:sp>
      <p:sp>
        <p:nvSpPr>
          <p:cNvPr id="22"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transcripts/A-sonnet.md and B-sonnet.md at the turns in brackets; deck/evidence for the screenshot.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000" b="1" dirty="0">
                <a:solidFill>
                  <a:schemeClr val="bg1"/>
                </a:solidFill>
              </a:rPr>
              <a:t>Model 3 of 4: Opus 5.5</a:t>
            </a:r>
            <a:endParaRPr lang="en-US" sz="4000" dirty="0"/>
          </a:p>
        </p:txBody>
      </p:sp>
      <p:sp>
        <p:nvSpPr>
          <p:cNvPr id="3" name="Text 0"/>
          <p:cNvSpPr/>
          <p:nvPr>
            <p:ph idx="101" type="body" hasCustomPrompt="1"/>
          </p:nvPr>
        </p:nvSpPr>
        <p:spPr>
          <a:xfrm>
            <a:off x="731520" y="3611880"/>
            <a:ext cx="10515600" cy="1828800"/>
          </a:xfrm>
          <a:prstGeom prst="rect">
            <a:avLst/>
          </a:prstGeom>
          <a:noFill/>
          <a:ln/>
        </p:spPr>
        <p:txBody>
          <a:bodyPr wrap="square" lIns="0" tIns="0" rIns="0" bIns="0" rtlCol="0" anchor="t"/>
          <a:lstStyle/>
          <a:p>
            <a:pPr indent="0" marL="0">
              <a:buNone/>
            </a:pPr>
            <a:r>
              <a:rPr lang="en-US" sz="1800" dirty="0">
                <a:solidFill>
                  <a:schemeClr val="accent5"/>
                </a:solidFill>
              </a:rPr>
              <a:t>Opens the most provider pages, applies MSE's 'definite' label in A, and in B came within a 404 of picking Barclaycard</a:t>
            </a:r>
            <a:endParaRPr lang="en-US" sz="1800" dirty="0"/>
          </a:p>
          <a:p>
            <a:pPr indent="0" marL="0">
              <a:buNone/>
            </a:pPr>
            <a:r>
              <a:rPr lang="en-US" sz="1800" dirty="0">
                <a:solidFill>
                  <a:schemeClr val="accent5"/>
                </a:solidFill>
              </a:rPr>
              <a:t>Five slides: the questions it asked, what was common across its two runs, the sources it used, the options it gave and where Barclaycard sat, and what would change its answer.</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Opus 5.5: the question asked, and the clarifying questions the model asked, turn by turn</a:t>
            </a:r>
            <a:endParaRPr lang="en-US" sz="2400" dirty="0"/>
          </a:p>
        </p:txBody>
      </p:sp>
      <p:sp>
        <p:nvSpPr>
          <p:cNvPr id="3" name="user q"/>
          <p:cNvSpPr txBox="1"/>
          <p:nvPr/>
        </p:nvSpPr>
        <p:spPr>
          <a:xfrm>
            <a:off x="457200" y="1143000"/>
            <a:ext cx="11247120" cy="685800"/>
          </a:xfrm>
          <a:prstGeom prst="rect">
            <a:avLst/>
          </a:prstGeom>
          <a:noFill/>
          <a:ln/>
        </p:spPr>
        <p:txBody>
          <a:bodyPr wrap="square" lIns="0" tIns="0" rIns="0" bIns="0" rtlCol="0" anchor="t"/>
          <a:lstStyle/>
          <a:p>
            <a:pPr indent="0" marL="0">
              <a:buNone/>
            </a:pPr>
            <a:r>
              <a:rPr lang="en-US" sz="1050" b="1" dirty="0">
                <a:solidFill>
                  <a:schemeClr val="accent1"/>
                </a:solidFill>
              </a:rPr>
              <a:t>User, turn 1: </a:t>
            </a:r>
            <a:pPr indent="0" marL="0">
              <a:buNone/>
            </a:pPr>
            <a:r>
              <a:rPr lang="en-US" sz="1050" dirty="0">
                <a:solidFill>
                  <a:schemeClr val="tx1"/>
                </a:solidFill>
              </a:rPr>
              <a:t>Hi, I'm in the UK and I've got about £3,000 on a credit card charging me 24.9% APR. I want to move it to a 0% balance transfer card so I can actually clear it. Can you give me your top three cards to consider, ranked, with your reasoning for each? And please tell me where you got each piece of information from, I want to be able to check it.</a:t>
            </a:r>
            <a:endParaRPr lang="en-US" sz="1050" dirty="0"/>
          </a:p>
        </p:txBody>
      </p:sp>
      <p:sp>
        <p:nvSpPr>
          <p:cNvPr id="4" name="card qA"/>
          <p:cNvSpPr/>
          <p:nvPr/>
        </p:nvSpPr>
        <p:spPr>
          <a:xfrm>
            <a:off x="457200" y="1920240"/>
            <a:ext cx="5532120" cy="3657600"/>
          </a:xfrm>
          <a:prstGeom prst="roundRect">
            <a:avLst>
              <a:gd name="adj" fmla="val 2000"/>
            </a:avLst>
          </a:prstGeom>
          <a:solidFill>
            <a:schemeClr val="bg2"/>
          </a:solidFill>
          <a:ln w="9525">
            <a:solidFill>
              <a:schemeClr val="accent5"/>
            </a:solidFill>
            <a:prstDash val="solid"/>
          </a:ln>
        </p:spPr>
      </p:sp>
      <p:sp>
        <p:nvSpPr>
          <p:cNvPr id="5" name="heading Profile A (clean cre"/>
          <p:cNvSpPr txBox="1"/>
          <p:nvPr/>
        </p:nvSpPr>
        <p:spPr>
          <a:xfrm>
            <a:off x="640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A (clean credit): what the model asked</a:t>
            </a:r>
            <a:endParaRPr lang="en-US" sz="1250" dirty="0"/>
          </a:p>
        </p:txBody>
      </p:sp>
      <p:sp>
        <p:nvSpPr>
          <p:cNvPr id="6" name="q text A"/>
          <p:cNvSpPr txBox="1"/>
          <p:nvPr/>
        </p:nvSpPr>
        <p:spPr>
          <a:xfrm>
            <a:off x="640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Four questions after a provisional top three:</a:t>
            </a:r>
            <a:endParaRPr lang="en-US" sz="1150" dirty="0"/>
          </a:p>
          <a:p>
            <a:pPr indent="0" marL="0">
              <a:spcAft>
                <a:spcPts val="200"/>
              </a:spcAft>
              <a:buNone/>
            </a:pPr>
            <a:r>
              <a:rPr lang="en-US" sz="1150" dirty="0">
                <a:solidFill>
                  <a:schemeClr val="tx1"/>
                </a:solidFill>
              </a:rPr>
              <a:t>1. Who is your current card with? a) HSBC / first direct / M&amp;S b) Lloyds / Halifax / BoS / MBNA c) Barclays d) TSB e) Virgin Money f) Tesco g) other</a:t>
            </a:r>
            <a:endParaRPr lang="en-US" sz="1150" dirty="0"/>
          </a:p>
          <a:p>
            <a:pPr indent="0" marL="0">
              <a:spcAft>
                <a:spcPts val="200"/>
              </a:spcAft>
              <a:buNone/>
            </a:pPr>
            <a:r>
              <a:rPr lang="en-US" sz="1150" dirty="0">
                <a:solidFill>
                  <a:schemeClr val="tx1"/>
                </a:solidFill>
              </a:rPr>
              <a:t>2. How much could you pay each month? a) under £100 b) £100 to £150 c) £150 to £250 d) £250 or more</a:t>
            </a:r>
            <a:endParaRPr lang="en-US" sz="1150" dirty="0"/>
          </a:p>
          <a:p>
            <a:pPr indent="0" marL="0">
              <a:spcAft>
                <a:spcPts val="200"/>
              </a:spcAft>
              <a:buNone/>
            </a:pPr>
            <a:r>
              <a:rPr lang="en-US" sz="1150" dirty="0">
                <a:solidFill>
                  <a:schemeClr val="tx1"/>
                </a:solidFill>
              </a:rPr>
              <a:t>3. How's your credit history? a) clean b) a few late payments c) a default or CCJ in the last 6 years</a:t>
            </a:r>
            <a:endParaRPr lang="en-US" sz="1150" dirty="0"/>
          </a:p>
          <a:p>
            <a:pPr indent="0" marL="0">
              <a:spcAft>
                <a:spcPts val="200"/>
              </a:spcAft>
              <a:buNone/>
            </a:pPr>
            <a:r>
              <a:rPr lang="en-US" sz="1150" dirty="0">
                <a:solidFill>
                  <a:schemeClr val="tx1"/>
                </a:solidFill>
              </a:rPr>
              <a:t>4. Do you bank with any of these? a) HSBC b) Barclays c) Virgin Money d) TSB e) none</a:t>
            </a:r>
            <a:endParaRPr lang="en-US" sz="1150" dirty="0"/>
          </a:p>
          <a:p>
            <a:pPr indent="0" marL="0">
              <a:spcBef>
                <a:spcPts val="600"/>
              </a:spcBef>
              <a:buNone/>
            </a:pPr>
            <a:r>
              <a:rPr lang="en-US" sz="1150" b="1" dirty="0">
                <a:solidFill>
                  <a:schemeClr val="accent1"/>
                </a:solidFill>
              </a:rPr>
              <a:t>Turns 2 to 5</a:t>
            </a:r>
            <a:endParaRPr lang="en-US" sz="1150" dirty="0"/>
          </a:p>
          <a:p>
            <a:pPr indent="0" marL="0">
              <a:spcAft>
                <a:spcPts val="200"/>
              </a:spcAft>
              <a:buNone/>
            </a:pPr>
            <a:r>
              <a:rPr lang="en-US" sz="1150" dirty="0">
                <a:solidFill>
                  <a:schemeClr val="tx1"/>
                </a:solidFill>
              </a:rPr>
              <a:t>No further questions.</a:t>
            </a:r>
            <a:endParaRPr lang="en-US" sz="1150" dirty="0"/>
          </a:p>
        </p:txBody>
      </p:sp>
      <p:sp>
        <p:nvSpPr>
          <p:cNvPr id="7" name="card qB"/>
          <p:cNvSpPr/>
          <p:nvPr/>
        </p:nvSpPr>
        <p:spPr>
          <a:xfrm>
            <a:off x="6172200" y="1920240"/>
            <a:ext cx="5532120" cy="3657600"/>
          </a:xfrm>
          <a:prstGeom prst="roundRect">
            <a:avLst>
              <a:gd name="adj" fmla="val 2000"/>
            </a:avLst>
          </a:prstGeom>
          <a:solidFill>
            <a:schemeClr val="bg2"/>
          </a:solidFill>
          <a:ln w="9525">
            <a:solidFill>
              <a:schemeClr val="accent5"/>
            </a:solidFill>
            <a:prstDash val="solid"/>
          </a:ln>
        </p:spPr>
      </p:sp>
      <p:sp>
        <p:nvSpPr>
          <p:cNvPr id="8" name="heading Profile B (Fair cred"/>
          <p:cNvSpPr txBox="1"/>
          <p:nvPr/>
        </p:nvSpPr>
        <p:spPr>
          <a:xfrm>
            <a:off x="6355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B (Fair credit): what the model asked</a:t>
            </a:r>
            <a:endParaRPr lang="en-US" sz="1250" dirty="0"/>
          </a:p>
        </p:txBody>
      </p:sp>
      <p:sp>
        <p:nvSpPr>
          <p:cNvPr id="9" name="q text B"/>
          <p:cNvSpPr txBox="1"/>
          <p:nvPr/>
        </p:nvSpPr>
        <p:spPr>
          <a:xfrm>
            <a:off x="6355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Four questions after a provisional top three:</a:t>
            </a:r>
            <a:endParaRPr lang="en-US" sz="1150" dirty="0"/>
          </a:p>
          <a:p>
            <a:pPr indent="0" marL="0">
              <a:spcAft>
                <a:spcPts val="200"/>
              </a:spcAft>
              <a:buNone/>
            </a:pPr>
            <a:r>
              <a:rPr lang="en-US" sz="1150" dirty="0">
                <a:solidFill>
                  <a:schemeClr val="tx1"/>
                </a:solidFill>
              </a:rPr>
              <a:t>1. Which bank issued your current card? a) TSB b) HSBC / first direct / M&amp;S c) Virgin Money / Nationwide d) someone else</a:t>
            </a:r>
            <a:endParaRPr lang="en-US" sz="1150" dirty="0"/>
          </a:p>
          <a:p>
            <a:pPr indent="0" marL="0">
              <a:spcAft>
                <a:spcPts val="200"/>
              </a:spcAft>
              <a:buNone/>
            </a:pPr>
            <a:r>
              <a:rPr lang="en-US" sz="1150" dirty="0">
                <a:solidFill>
                  <a:schemeClr val="tx1"/>
                </a:solidFill>
              </a:rPr>
              <a:t>2. Roughly how much could you pay each month? a) under £85 b) £85 to £150 c) £150 to £250 d) £250+</a:t>
            </a:r>
            <a:endParaRPr lang="en-US" sz="1150" dirty="0"/>
          </a:p>
          <a:p>
            <a:pPr indent="0" marL="0">
              <a:spcAft>
                <a:spcPts val="200"/>
              </a:spcAft>
              <a:buNone/>
            </a:pPr>
            <a:r>
              <a:rPr lang="en-US" sz="1150" dirty="0">
                <a:solidFill>
                  <a:schemeClr val="tx1"/>
                </a:solidFill>
              </a:rPr>
              <a:t>3. How's your credit history? a) good b) a few late payments c) defaults or CCJs in the last 6 years</a:t>
            </a:r>
            <a:endParaRPr lang="en-US" sz="1150" dirty="0"/>
          </a:p>
          <a:p>
            <a:pPr indent="0" marL="0">
              <a:spcAft>
                <a:spcPts val="200"/>
              </a:spcAft>
              <a:buNone/>
            </a:pPr>
            <a:r>
              <a:rPr lang="en-US" sz="1150" dirty="0">
                <a:solidFill>
                  <a:schemeClr val="tx1"/>
                </a:solidFill>
              </a:rPr>
              <a:t>4. Which matters more? a) the lowest upfront fee b) the longest time at 0%</a:t>
            </a:r>
            <a:endParaRPr lang="en-US" sz="1150" dirty="0"/>
          </a:p>
          <a:p>
            <a:pPr indent="0" marL="0">
              <a:spcBef>
                <a:spcPts val="600"/>
              </a:spcBef>
              <a:buNone/>
            </a:pPr>
            <a:r>
              <a:rPr lang="en-US" sz="1150" b="1" dirty="0">
                <a:solidFill>
                  <a:schemeClr val="accent1"/>
                </a:solidFill>
              </a:rPr>
              <a:t>Turns 2 to 5</a:t>
            </a:r>
            <a:endParaRPr lang="en-US" sz="1150" dirty="0"/>
          </a:p>
          <a:p>
            <a:pPr indent="0" marL="0">
              <a:spcAft>
                <a:spcPts val="200"/>
              </a:spcAft>
              <a:buNone/>
            </a:pPr>
            <a:r>
              <a:rPr lang="en-US" sz="1150" dirty="0">
                <a:solidFill>
                  <a:schemeClr val="tx1"/>
                </a:solidFill>
              </a:rPr>
              <a:t>No further questions. Turn 4 ends with an offer: 'If you tell me what the checker shows, I can help you decide what to do next.'</a:t>
            </a:r>
            <a:endParaRPr lang="en-US" sz="11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transcripts/A-opus.md and B-opus.md, model replies at turns 1 to 5. Falsified if a turn contains a question not listed here.</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Opus 5.5: questions common to both runs, and what the differences show</a:t>
            </a:r>
            <a:endParaRPr lang="en-US" sz="2400" dirty="0"/>
          </a:p>
        </p:txBody>
      </p:sp>
      <p:sp>
        <p:nvSpPr>
          <p:cNvPr id="3" name="card common0"/>
          <p:cNvSpPr/>
          <p:nvPr/>
        </p:nvSpPr>
        <p:spPr>
          <a:xfrm>
            <a:off x="457200" y="1234440"/>
            <a:ext cx="3611880" cy="2514600"/>
          </a:xfrm>
          <a:prstGeom prst="roundRect">
            <a:avLst>
              <a:gd name="adj" fmla="val 2909"/>
            </a:avLst>
          </a:prstGeom>
          <a:solidFill>
            <a:schemeClr val="bg2"/>
          </a:solidFill>
          <a:ln w="9525">
            <a:solidFill>
              <a:schemeClr val="accent5"/>
            </a:solidFill>
            <a:prstDash val="solid"/>
          </a:ln>
        </p:spPr>
      </p:sp>
      <p:sp>
        <p:nvSpPr>
          <p:cNvPr id="4" name="heading Asked in both runs"/>
          <p:cNvSpPr txBox="1"/>
          <p:nvPr/>
        </p:nvSpPr>
        <p:spPr>
          <a:xfrm>
            <a:off x="64008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Asked in both runs</a:t>
            </a:r>
            <a:endParaRPr lang="en-US" sz="1300" dirty="0"/>
          </a:p>
        </p:txBody>
      </p:sp>
      <p:sp>
        <p:nvSpPr>
          <p:cNvPr id="5" name="bullets"/>
          <p:cNvSpPr txBox="1"/>
          <p:nvPr/>
        </p:nvSpPr>
        <p:spPr>
          <a:xfrm>
            <a:off x="64008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Who issues the current card, with the banking groups spelled out</a:t>
            </a:r>
            <a:endParaRPr lang="en-US" sz="1100" dirty="0"/>
          </a:p>
          <a:p>
            <a:pPr marL="152400" indent="-152400">
              <a:spcAft>
                <a:spcPts val="400"/>
              </a:spcAft>
              <a:buSzPct val="100000"/>
              <a:buChar char="•"/>
            </a:pPr>
            <a:r>
              <a:rPr lang="en-US" sz="1100" dirty="0">
                <a:solidFill>
                  <a:schemeClr val="tx1"/>
                </a:solidFill>
              </a:rPr>
              <a:t>Monthly repayment capacity</a:t>
            </a:r>
            <a:endParaRPr lang="en-US" sz="1100" dirty="0"/>
          </a:p>
          <a:p>
            <a:pPr marL="152400" indent="-152400">
              <a:spcAft>
                <a:spcPts val="400"/>
              </a:spcAft>
              <a:buSzPct val="100000"/>
              <a:buChar char="•"/>
            </a:pPr>
            <a:r>
              <a:rPr lang="en-US" sz="1100" dirty="0">
                <a:solidFill>
                  <a:schemeClr val="tx1"/>
                </a:solidFill>
              </a:rPr>
              <a:t>Credit history (clean, late payments, default or CCJ)</a:t>
            </a:r>
            <a:endParaRPr lang="en-US" sz="1100" dirty="0"/>
          </a:p>
        </p:txBody>
      </p:sp>
      <p:sp>
        <p:nvSpPr>
          <p:cNvPr id="6" name="card common1"/>
          <p:cNvSpPr/>
          <p:nvPr/>
        </p:nvSpPr>
        <p:spPr>
          <a:xfrm>
            <a:off x="4251960" y="1234440"/>
            <a:ext cx="3611880" cy="2514600"/>
          </a:xfrm>
          <a:prstGeom prst="roundRect">
            <a:avLst>
              <a:gd name="adj" fmla="val 2909"/>
            </a:avLst>
          </a:prstGeom>
          <a:solidFill>
            <a:schemeClr val="bg2"/>
          </a:solidFill>
          <a:ln w="9525">
            <a:solidFill>
              <a:schemeClr val="accent5"/>
            </a:solidFill>
            <a:prstDash val="solid"/>
          </a:ln>
        </p:spPr>
      </p:sp>
      <p:sp>
        <p:nvSpPr>
          <p:cNvPr id="7" name="heading Profile A only"/>
          <p:cNvSpPr txBox="1"/>
          <p:nvPr/>
        </p:nvSpPr>
        <p:spPr>
          <a:xfrm>
            <a:off x="443484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A only</a:t>
            </a:r>
            <a:endParaRPr lang="en-US" sz="1300" dirty="0"/>
          </a:p>
        </p:txBody>
      </p:sp>
      <p:sp>
        <p:nvSpPr>
          <p:cNvPr id="8" name="bullets"/>
          <p:cNvSpPr txBox="1"/>
          <p:nvPr/>
        </p:nvSpPr>
        <p:spPr>
          <a:xfrm>
            <a:off x="443484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Whether the user banks with HSBC, Barclays, Virgin Money or TSB</a:t>
            </a:r>
            <a:endParaRPr lang="en-US" sz="1100" dirty="0"/>
          </a:p>
        </p:txBody>
      </p:sp>
      <p:sp>
        <p:nvSpPr>
          <p:cNvPr id="9" name="card common2"/>
          <p:cNvSpPr/>
          <p:nvPr/>
        </p:nvSpPr>
        <p:spPr>
          <a:xfrm>
            <a:off x="8046720" y="1234440"/>
            <a:ext cx="3611880" cy="2514600"/>
          </a:xfrm>
          <a:prstGeom prst="roundRect">
            <a:avLst>
              <a:gd name="adj" fmla="val 2909"/>
            </a:avLst>
          </a:prstGeom>
          <a:solidFill>
            <a:schemeClr val="bg2"/>
          </a:solidFill>
          <a:ln w="9525">
            <a:solidFill>
              <a:schemeClr val="accent5"/>
            </a:solidFill>
            <a:prstDash val="solid"/>
          </a:ln>
        </p:spPr>
      </p:sp>
      <p:sp>
        <p:nvSpPr>
          <p:cNvPr id="10" name="heading Profile B only"/>
          <p:cNvSpPr txBox="1"/>
          <p:nvPr/>
        </p:nvSpPr>
        <p:spPr>
          <a:xfrm>
            <a:off x="822960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B only</a:t>
            </a:r>
            <a:endParaRPr lang="en-US" sz="1300" dirty="0"/>
          </a:p>
        </p:txBody>
      </p:sp>
      <p:sp>
        <p:nvSpPr>
          <p:cNvPr id="11" name="bullets"/>
          <p:cNvSpPr txBox="1"/>
          <p:nvPr/>
        </p:nvSpPr>
        <p:spPr>
          <a:xfrm>
            <a:off x="822960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Lowest upfront fee versus longest 0% period</a:t>
            </a:r>
            <a:endParaRPr lang="en-US" sz="1100" dirty="0"/>
          </a:p>
        </p:txBody>
      </p:sp>
      <p:sp>
        <p:nvSpPr>
          <p:cNvPr id="12" name="card never"/>
          <p:cNvSpPr/>
          <p:nvPr/>
        </p:nvSpPr>
        <p:spPr>
          <a:xfrm>
            <a:off x="457200" y="3931920"/>
            <a:ext cx="11247120" cy="2103120"/>
          </a:xfrm>
          <a:prstGeom prst="roundRect">
            <a:avLst>
              <a:gd name="adj" fmla="val 3478"/>
            </a:avLst>
          </a:prstGeom>
          <a:solidFill>
            <a:schemeClr val="bg2"/>
          </a:solidFill>
          <a:ln w="9525">
            <a:solidFill>
              <a:schemeClr val="accent5"/>
            </a:solidFill>
            <a:prstDash val="solid"/>
          </a:ln>
        </p:spPr>
      </p:sp>
      <p:sp>
        <p:nvSpPr>
          <p:cNvPr id="13" name="heading Never asked in eithe"/>
          <p:cNvSpPr txBox="1"/>
          <p:nvPr/>
        </p:nvSpPr>
        <p:spPr>
          <a:xfrm>
            <a:off x="640080" y="4005072"/>
            <a:ext cx="5303520" cy="365760"/>
          </a:xfrm>
          <a:prstGeom prst="rect">
            <a:avLst/>
          </a:prstGeom>
          <a:noFill/>
          <a:ln/>
        </p:spPr>
        <p:txBody>
          <a:bodyPr wrap="square" lIns="0" tIns="0" rIns="0" bIns="0" rtlCol="0" anchor="ctr"/>
          <a:lstStyle/>
          <a:p>
            <a:pPr indent="0" marL="0">
              <a:buNone/>
            </a:pPr>
            <a:r>
              <a:rPr lang="en-US" sz="1250" b="1" dirty="0">
                <a:solidFill>
                  <a:schemeClr val="tx2"/>
                </a:solidFill>
              </a:rPr>
              <a:t>Never asked in either run</a:t>
            </a:r>
            <a:endParaRPr lang="en-US" sz="1250" dirty="0"/>
          </a:p>
        </p:txBody>
      </p:sp>
      <p:sp>
        <p:nvSpPr>
          <p:cNvPr id="14" name="bullets"/>
          <p:cNvSpPr txBox="1"/>
          <p:nvPr/>
        </p:nvSpPr>
        <p:spPr>
          <a:xfrm>
            <a:off x="640080" y="4370832"/>
            <a:ext cx="5120640" cy="15544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Whether the card is needed for spending</a:t>
            </a:r>
            <a:endParaRPr lang="en-US" sz="1100" dirty="0"/>
          </a:p>
        </p:txBody>
      </p:sp>
      <p:sp>
        <p:nvSpPr>
          <p:cNvPr id="15" name="heading What this tells us"/>
          <p:cNvSpPr txBox="1"/>
          <p:nvPr/>
        </p:nvSpPr>
        <p:spPr>
          <a:xfrm>
            <a:off x="6035040" y="4005072"/>
            <a:ext cx="5486400" cy="365760"/>
          </a:xfrm>
          <a:prstGeom prst="rect">
            <a:avLst/>
          </a:prstGeom>
          <a:noFill/>
          <a:ln/>
        </p:spPr>
        <p:txBody>
          <a:bodyPr wrap="square" lIns="0" tIns="0" rIns="0" bIns="0" rtlCol="0" anchor="ctr"/>
          <a:lstStyle/>
          <a:p>
            <a:pPr indent="0" marL="0">
              <a:buNone/>
            </a:pPr>
            <a:r>
              <a:rPr lang="en-US" sz="1250" b="1" dirty="0">
                <a:solidFill>
                  <a:schemeClr val="tx2"/>
                </a:solidFill>
              </a:rPr>
              <a:t>What this tells us</a:t>
            </a:r>
            <a:endParaRPr lang="en-US" sz="1250" dirty="0"/>
          </a:p>
        </p:txBody>
      </p:sp>
      <p:sp>
        <p:nvSpPr>
          <p:cNvPr id="16" name="reading"/>
          <p:cNvSpPr txBox="1"/>
          <p:nvPr/>
        </p:nvSpPr>
        <p:spPr>
          <a:xfrm>
            <a:off x="6035040" y="4370832"/>
            <a:ext cx="5486400" cy="1554480"/>
          </a:xfrm>
          <a:prstGeom prst="rect">
            <a:avLst/>
          </a:prstGeom>
          <a:noFill/>
          <a:ln/>
        </p:spPr>
        <p:txBody>
          <a:bodyPr wrap="square" lIns="0" tIns="0" rIns="0" bIns="0" rtlCol="0" anchor="t"/>
          <a:lstStyle/>
          <a:p>
            <a:pPr indent="0" marL="0">
              <a:buNone/>
            </a:pPr>
            <a:r>
              <a:rPr lang="en-US" sz="1100" dirty="0">
                <a:solidFill>
                  <a:schemeClr val="tx1"/>
                </a:solidFill>
              </a:rPr>
              <a:t>Opus leads with the same-group rule in both runs and names the groups from memory (turn 5 admits this). The banking-relationship question in A is why the Barclays cashback was dismissed in one line rather than misread.</a:t>
            </a:r>
            <a:endParaRPr lang="en-US" sz="1100" dirty="0"/>
          </a:p>
        </p:txBody>
      </p:sp>
      <p:sp>
        <p:nvSpPr>
          <p:cNvPr id="17"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transcripts/A-opus.md and B-opus.md turn 1 (and turn 2 for Fable A). Falsified if a listed question is missing from the turn, or an unlisted one is present.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Opus 5.5: the sources it referred to, and which ones it opened</a:t>
            </a:r>
            <a:endParaRPr lang="en-US" sz="2400" dirty="0"/>
          </a:p>
        </p:txBody>
      </p:sp>
      <p:graphicFrame>
        <p:nvGraphicFramePr>
          <p:cNvPr id="22" name="sources table"/>
          <p:cNvGraphicFramePr>
            <a:graphicFrameLocks noGrp="1"/>
          </p:cNvGraphicFramePr>
          <p:nvPr>
            <p:extLst>
              <p:ext uri="{D42A27DB-BD31-4B8C-83A1-F6EECF244321}">
                <p14:modId xmlns:p14="http://schemas.microsoft.com/office/powerpoint/2010/main" val="1579011935"/>
              </p:ext>
            </p:extLst>
          </p:nvPr>
        </p:nvGraphicFramePr>
        <p:xfrm>
          <a:off x="457200" y="1143000"/>
          <a:ext cx="7863840" cy="914400"/>
        </p:xfrm>
        <a:graphic>
          <a:graphicData uri="http://schemas.openxmlformats.org/drawingml/2006/table">
            <a:tbl>
              <a:tblPr/>
              <a:tblGrid>
                <a:gridCol w="1737360"/>
                <a:gridCol w="1600200"/>
                <a:gridCol w="1600200"/>
                <a:gridCol w="2926080"/>
              </a:tblGrid>
              <a:tr h="274320">
                <a:tc>
                  <a:txBody>
                    <a:bodyPr/>
                    <a:lstStyle/>
                    <a:p>
                      <a:pPr indent="0" marL="0">
                        <a:buNone/>
                      </a:pPr>
                      <a:r>
                        <a:rPr lang="en-US" sz="850" b="1" dirty="0">
                          <a:solidFill>
                            <a:srgbClr val="FFFFFF"/>
                          </a:solidFill>
                        </a:rPr>
                        <a:t>Source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A</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B</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it was used for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274320">
                <a:tc>
                  <a:txBody>
                    <a:bodyPr/>
                    <a:lstStyle/>
                    <a:p>
                      <a:pPr indent="0" marL="0">
                        <a:buNone/>
                      </a:pPr>
                      <a:r>
                        <a:rPr lang="en-US" sz="850" b="1" dirty="0">
                          <a:solidFill>
                            <a:srgbClr val="0A1F3D"/>
                          </a:solidFill>
                        </a:rPr>
                        <a:t>MoneySavingExpert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every turn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 at all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In A: the 'definite' versus 'up to' labels, the Barclaycard tiers, Tesco, Virgin 24m and Capital One figures. In B, Opus never opened MSE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HSBC product page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to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to 5 (twice at T4)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HSBC terms and eligibility; in B the FAQ's 14 month outcome was found at turn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barclaycard.co.uk/personal/search-balance-transfer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3,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A search-results page served as the source for all Barclaycard figures in A</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barclaycard.co.uk/personal/credit-cards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3,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The credit-cards listing; the 36 month card's own product page returned 'not found'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TSB</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1,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1, 2,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TSB terms and eligibility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Virgin Money BT page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to 3</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Page shows 'up to 36 months', 27.9% APR and no fee; the 24m 1.95% card is not on it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Nationwide (page, hub, press release)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turns 2 to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Second place at T2 in B, with the membership condition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Which?</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snippet only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The 3.1% Virgin fee and a 24.9% HSBC APR, both from search results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Finder; Santander; Lloyds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Finder snippet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snippets; Lloyds site errored twice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Barclaycard 12m first seen on Finder in B; Lloyds and Santander figures never verified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Money to the Masses (May 2026)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snippet, turns 3 to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The 3.45% fee for the long card, flagged as probably stale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Tesco; Capital One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could not open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attempted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Tesco and Capital One figures came from MSE only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4" name="heading What the model said "/>
          <p:cNvSpPr txBox="1"/>
          <p:nvPr/>
        </p:nvSpPr>
        <p:spPr>
          <a:xfrm>
            <a:off x="8549640" y="1143000"/>
            <a:ext cx="3200400" cy="365760"/>
          </a:xfrm>
          <a:prstGeom prst="rect">
            <a:avLst/>
          </a:prstGeom>
          <a:noFill/>
          <a:ln/>
        </p:spPr>
        <p:txBody>
          <a:bodyPr wrap="square" lIns="0" tIns="0" rIns="0" bIns="0" rtlCol="0" anchor="ctr"/>
          <a:lstStyle/>
          <a:p>
            <a:pPr indent="0" marL="0">
              <a:buNone/>
            </a:pPr>
            <a:r>
              <a:rPr lang="en-US" sz="1150" b="1" dirty="0">
                <a:solidFill>
                  <a:schemeClr val="tx2"/>
                </a:solidFill>
              </a:rPr>
              <a:t>What the model said it relied on most (turn 5)</a:t>
            </a:r>
            <a:endParaRPr lang="en-US" sz="1150" dirty="0"/>
          </a:p>
        </p:txBody>
      </p:sp>
      <p:sp>
        <p:nvSpPr>
          <p:cNvPr id="5" name="quote bg"/>
          <p:cNvSpPr/>
          <p:nvPr/>
        </p:nvSpPr>
        <p:spPr>
          <a:xfrm>
            <a:off x="8549640" y="1554480"/>
            <a:ext cx="3200400" cy="1600200"/>
          </a:xfrm>
          <a:prstGeom prst="rect">
            <a:avLst/>
          </a:prstGeom>
          <a:solidFill>
            <a:schemeClr val="bg2"/>
          </a:solidFill>
          <a:ln w="12700">
            <a:solidFill>
              <a:schemeClr val="bg2"/>
            </a:solidFill>
            <a:prstDash val="solid"/>
          </a:ln>
        </p:spPr>
      </p:sp>
      <p:sp>
        <p:nvSpPr>
          <p:cNvPr id="6" name="quote text"/>
          <p:cNvSpPr txBox="1"/>
          <p:nvPr/>
        </p:nvSpPr>
        <p:spPr>
          <a:xfrm>
            <a:off x="8659368" y="160934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“Two sites did most of the work. I relied most on MoneySavingExpert's balance transfer comparison, updated 7 October 2026. I also used the provider pages I could open: HSBC, TSB, Virgin Money and Barclaycard.”</a:t>
            </a:r>
            <a:endParaRPr lang="en-US" sz="1050" dirty="0"/>
          </a:p>
          <a:p>
            <a:pPr indent="0" marL="0">
              <a:buNone/>
            </a:pPr>
            <a:r>
              <a:rPr lang="en-US" sz="900" b="1" dirty="0">
                <a:solidFill>
                  <a:schemeClr val="accent1"/>
                </a:solidFill>
              </a:rPr>
              <a:t>Opus, profile A, turn 5</a:t>
            </a:r>
            <a:endParaRPr lang="en-US" sz="1050" dirty="0"/>
          </a:p>
        </p:txBody>
      </p:sp>
      <p:sp>
        <p:nvSpPr>
          <p:cNvPr id="7" name="quote bg"/>
          <p:cNvSpPr/>
          <p:nvPr/>
        </p:nvSpPr>
        <p:spPr>
          <a:xfrm>
            <a:off x="8549640" y="3291840"/>
            <a:ext cx="3200400" cy="1600200"/>
          </a:xfrm>
          <a:prstGeom prst="rect">
            <a:avLst/>
          </a:prstGeom>
          <a:solidFill>
            <a:schemeClr val="bg2"/>
          </a:solidFill>
          <a:ln w="12700">
            <a:solidFill>
              <a:schemeClr val="bg2"/>
            </a:solidFill>
            <a:prstDash val="solid"/>
          </a:ln>
        </p:spPr>
      </p:sp>
      <p:sp>
        <p:nvSpPr>
          <p:cNvPr id="8" name="quote text"/>
          <p:cNvSpPr txBox="1"/>
          <p:nvPr/>
        </p:nvSpPr>
        <p:spPr>
          <a:xfrm>
            <a:off x="8659368" y="334670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“The providers' own pages, which I opened for HSBC, Barclaycard (listing page only), Nationwide, Virgin Money and TSB. Then Which? and Finder, but only through search results.”</a:t>
            </a:r>
            <a:endParaRPr lang="en-US" sz="1050" dirty="0"/>
          </a:p>
          <a:p>
            <a:pPr indent="0" marL="0">
              <a:buNone/>
            </a:pPr>
            <a:r>
              <a:rPr lang="en-US" sz="900" b="1" dirty="0">
                <a:solidFill>
                  <a:schemeClr val="accent1"/>
                </a:solidFill>
              </a:rPr>
              <a:t>Opus, profile B, turn 5</a:t>
            </a:r>
            <a:endParaRPr lang="en-US" sz="1050" dirty="0"/>
          </a:p>
        </p:txBody>
      </p:sp>
      <p:sp>
        <p:nvSpPr>
          <p:cNvPr id="9" name="opened note"/>
          <p:cNvSpPr txBox="1"/>
          <p:nvPr/>
        </p:nvSpPr>
        <p:spPr>
          <a:xfrm>
            <a:off x="8549640" y="5074920"/>
            <a:ext cx="3200400" cy="731520"/>
          </a:xfrm>
          <a:prstGeom prst="rect">
            <a:avLst/>
          </a:prstGeom>
          <a:noFill/>
          <a:ln/>
        </p:spPr>
        <p:txBody>
          <a:bodyPr wrap="square" lIns="0" tIns="0" rIns="0" bIns="0" rtlCol="0" anchor="t"/>
          <a:lstStyle/>
          <a:p>
            <a:pPr indent="0" marL="0">
              <a:buNone/>
            </a:pPr>
            <a:r>
              <a:rPr lang="en-US" sz="850" i="1" dirty="0">
                <a:solidFill>
                  <a:schemeClr val="tx2"/>
                </a:solidFill>
              </a:rPr>
              <a:t>'Opened' means the URL appears in the SEARCH LOG with an (opened) marker. Every model said at turn 5 that opened pages were read through a summariser, not as raw HTML.</a:t>
            </a:r>
            <a:endParaRPr lang="en-US" sz="8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SEARCH LOG blocks in transcripts/A-opus.md and B-opus.md; turn 5 replies. Falsified if a URL marked 'opened' here is absent from the logs.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Opus 5.5: the options it gave, and why Barclaycard was or was not among them</a:t>
            </a:r>
            <a:endParaRPr lang="en-US" sz="2400" dirty="0"/>
          </a:p>
        </p:txBody>
      </p:sp>
      <p:sp>
        <p:nvSpPr>
          <p:cNvPr id="3" name="heading Profile A, clean cre"/>
          <p:cNvSpPr txBox="1"/>
          <p:nvPr/>
        </p:nvSpPr>
        <p:spPr>
          <a:xfrm>
            <a:off x="457200" y="1143000"/>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A, clean credit</a:t>
            </a:r>
            <a:endParaRPr lang="en-US" sz="1200" dirty="0"/>
          </a:p>
        </p:txBody>
      </p:sp>
      <p:graphicFrame>
        <p:nvGraphicFramePr>
          <p:cNvPr id="23" name="options A"/>
          <p:cNvGraphicFramePr>
            <a:graphicFrameLocks noGrp="1"/>
          </p:cNvGraphicFramePr>
          <p:nvPr>
            <p:extLst>
              <p:ext uri="{D42A27DB-BD31-4B8C-83A1-F6EECF244321}">
                <p14:modId xmlns:p14="http://schemas.microsoft.com/office/powerpoint/2010/main" val="1579011935"/>
              </p:ext>
            </p:extLst>
          </p:nvPr>
        </p:nvGraphicFramePr>
        <p:xfrm>
          <a:off x="457200" y="1490472"/>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HSBC 36m 3.09%; Tesco Low Fee 20m 1.25%; TSB 38m 3.49%. Alternatives named: Virgin 36m, Barclaycard 12m no fee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HSBC 36m; Virgin Money 24m 1.95%; Capital One up to 36m 2.9%</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36m card to 3rd, only if pre-approved for the full 36 (MSE: 36, 32 or 18). 22m card below Virgin 24m ('definite 24 at 1.95% gives more cover for about £14 more'). Apple TV noted as a tie-breaker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HSBC. Switch to Barclaycard 36m if HSBC's rules or checker fail and Barclaycard pre-approves 36; to Virgin 24m if Barclaycard would give 18; Barclaycard if 'you'd actually use the Apple TV'</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5" name="heading Profile B, Fair cred"/>
          <p:cNvSpPr txBox="1"/>
          <p:nvPr/>
        </p:nvSpPr>
        <p:spPr>
          <a:xfrm>
            <a:off x="457200" y="3630168"/>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B, Fair credit</a:t>
            </a:r>
            <a:endParaRPr lang="en-US" sz="1200" dirty="0"/>
          </a:p>
        </p:txBody>
      </p:sp>
      <p:graphicFrame>
        <p:nvGraphicFramePr>
          <p:cNvPr id="45" name="options B"/>
          <p:cNvGraphicFramePr>
            <a:graphicFrameLocks noGrp="1"/>
          </p:cNvGraphicFramePr>
          <p:nvPr>
            <p:extLst>
              <p:ext uri="{D42A27DB-BD31-4B8C-83A1-F6EECF244321}">
                <p14:modId xmlns:p14="http://schemas.microsoft.com/office/powerpoint/2010/main" val="1579011935"/>
              </p:ext>
            </p:extLst>
          </p:nvPr>
        </p:nvGraphicFramePr>
        <p:xfrm>
          <a:off x="457200" y="3977640"/>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TSB 38m; HSBC 36m; Virgin Money 36m (fee not shown on Virgin's page). Barclaycard 12m noted via Finder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HSBC 36m; Nationwide 30m 2.99% (needs membership); Virgin Money 36m (fee unconfirmed)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36m card joint 1st with HSBC: same term, £2 more fee, lower APR after the deal. 22m card 'best value if you're confident'. Flagged the May 2026 third-party 3.45% figure against the page's 3.15%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HSBC, because its figures come from its own product page and Barclaycard's product page would not open to settle 3.15% against 3.45%. Switch to Barclaycard 36m if HSBC offers under 24 months or Barclaycard's application confirms 3.15% with better odds; to Barclaycard 22m if confident of £150 a month</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7" name="heading In the model&amp;apos;s words"/>
          <p:cNvSpPr txBox="1"/>
          <p:nvPr/>
        </p:nvSpPr>
        <p:spPr>
          <a:xfrm>
            <a:off x="8275320" y="1143000"/>
            <a:ext cx="3474720" cy="365760"/>
          </a:xfrm>
          <a:prstGeom prst="rect">
            <a:avLst/>
          </a:prstGeom>
          <a:noFill/>
          <a:ln/>
        </p:spPr>
        <p:txBody>
          <a:bodyPr wrap="square" lIns="0" tIns="0" rIns="0" bIns="0" rtlCol="0" anchor="ctr"/>
          <a:lstStyle/>
          <a:p>
            <a:pPr indent="0" marL="0">
              <a:buNone/>
            </a:pPr>
            <a:r>
              <a:rPr lang="en-US" sz="1200" b="1" dirty="0">
                <a:solidFill>
                  <a:schemeClr val="tx2"/>
                </a:solidFill>
              </a:rPr>
              <a:t>In the model's words</a:t>
            </a:r>
            <a:endParaRPr lang="en-US" sz="1200" dirty="0"/>
          </a:p>
        </p:txBody>
      </p:sp>
      <p:sp>
        <p:nvSpPr>
          <p:cNvPr id="8" name="quote bg"/>
          <p:cNvSpPr/>
          <p:nvPr/>
        </p:nvSpPr>
        <p:spPr>
          <a:xfrm>
            <a:off x="8275320" y="1508760"/>
            <a:ext cx="3474720" cy="1069848"/>
          </a:xfrm>
          <a:prstGeom prst="rect">
            <a:avLst/>
          </a:prstGeom>
          <a:solidFill>
            <a:schemeClr val="bg2"/>
          </a:solidFill>
          <a:ln w="12700">
            <a:solidFill>
              <a:schemeClr val="bg2"/>
            </a:solidFill>
            <a:prstDash val="solid"/>
          </a:ln>
        </p:spPr>
      </p:sp>
      <p:sp>
        <p:nvSpPr>
          <p:cNvPr id="9" name="quote text"/>
          <p:cNvSpPr txBox="1"/>
          <p:nvPr/>
        </p:nvSpPr>
        <p:spPr>
          <a:xfrm>
            <a:off x="8385048" y="1563624"/>
            <a:ext cx="3255264" cy="960120"/>
          </a:xfrm>
          <a:prstGeom prst="rect">
            <a:avLst/>
          </a:prstGeom>
          <a:noFill/>
          <a:ln/>
        </p:spPr>
        <p:txBody>
          <a:bodyPr wrap="square" lIns="0" tIns="0" rIns="0" bIns="0" rtlCol="0" anchor="t"/>
          <a:lstStyle/>
          <a:p>
            <a:pPr indent="0" marL="0">
              <a:buNone/>
            </a:pPr>
            <a:r>
              <a:rPr lang="en-US" sz="1050" i="1" dirty="0">
                <a:solidFill>
                  <a:schemeClr val="tx1"/>
                </a:solidFill>
              </a:rPr>
              <a:t>“HSBC's 36 months is listed as definite, while Barclaycard's depends on that check. So HSBC stays first.”</a:t>
            </a:r>
            <a:endParaRPr lang="en-US" sz="1050" dirty="0"/>
          </a:p>
          <a:p>
            <a:pPr indent="0" marL="0">
              <a:buNone/>
            </a:pPr>
            <a:r>
              <a:rPr lang="en-US" sz="900" b="1" dirty="0">
                <a:solidFill>
                  <a:schemeClr val="accent1"/>
                </a:solidFill>
              </a:rPr>
              <a:t>Profile A, turn 3</a:t>
            </a:r>
            <a:endParaRPr lang="en-US" sz="1050" dirty="0"/>
          </a:p>
        </p:txBody>
      </p:sp>
      <p:sp>
        <p:nvSpPr>
          <p:cNvPr id="10" name="quote bg"/>
          <p:cNvSpPr/>
          <p:nvPr/>
        </p:nvSpPr>
        <p:spPr>
          <a:xfrm>
            <a:off x="8275320" y="2670048"/>
            <a:ext cx="3474720" cy="1069848"/>
          </a:xfrm>
          <a:prstGeom prst="rect">
            <a:avLst/>
          </a:prstGeom>
          <a:solidFill>
            <a:schemeClr val="bg2"/>
          </a:solidFill>
          <a:ln w="12700">
            <a:solidFill>
              <a:schemeClr val="bg2"/>
            </a:solidFill>
            <a:prstDash val="solid"/>
          </a:ln>
        </p:spPr>
      </p:sp>
      <p:sp>
        <p:nvSpPr>
          <p:cNvPr id="11" name="quote text"/>
          <p:cNvSpPr txBox="1"/>
          <p:nvPr/>
        </p:nvSpPr>
        <p:spPr>
          <a:xfrm>
            <a:off x="8385048" y="2724912"/>
            <a:ext cx="3255264" cy="960120"/>
          </a:xfrm>
          <a:prstGeom prst="rect">
            <a:avLst/>
          </a:prstGeom>
          <a:noFill/>
          <a:ln/>
        </p:spPr>
        <p:txBody>
          <a:bodyPr wrap="square" lIns="0" tIns="0" rIns="0" bIns="0" rtlCol="0" anchor="t"/>
          <a:lstStyle/>
          <a:p>
            <a:pPr indent="0" marL="0">
              <a:buNone/>
            </a:pPr>
            <a:r>
              <a:rPr lang="en-US" sz="1050" i="1" dirty="0">
                <a:solidFill>
                  <a:schemeClr val="tx1"/>
                </a:solidFill>
              </a:rPr>
              <a:t>“If you clear the debt in 18 to 24 months as planned, the rate afterwards never applies, so these two are effectively tied.”</a:t>
            </a:r>
            <a:endParaRPr lang="en-US" sz="1050" dirty="0"/>
          </a:p>
          <a:p>
            <a:pPr indent="0" marL="0">
              <a:buNone/>
            </a:pPr>
            <a:r>
              <a:rPr lang="en-US" sz="900" b="1" dirty="0">
                <a:solidFill>
                  <a:schemeClr val="accent1"/>
                </a:solidFill>
              </a:rPr>
              <a:t>Profile B, turn 3, Barclaycard 36m against HSBC</a:t>
            </a:r>
            <a:endParaRPr lang="en-US" sz="1050" dirty="0"/>
          </a:p>
        </p:txBody>
      </p:sp>
      <p:sp>
        <p:nvSpPr>
          <p:cNvPr id="12" name="quote bg"/>
          <p:cNvSpPr/>
          <p:nvPr/>
        </p:nvSpPr>
        <p:spPr>
          <a:xfrm>
            <a:off x="8275320" y="3831336"/>
            <a:ext cx="3474720" cy="1069848"/>
          </a:xfrm>
          <a:prstGeom prst="rect">
            <a:avLst/>
          </a:prstGeom>
          <a:solidFill>
            <a:schemeClr val="bg2"/>
          </a:solidFill>
          <a:ln w="12700">
            <a:solidFill>
              <a:schemeClr val="bg2"/>
            </a:solidFill>
            <a:prstDash val="solid"/>
          </a:ln>
        </p:spPr>
      </p:sp>
      <p:sp>
        <p:nvSpPr>
          <p:cNvPr id="13" name="quote text"/>
          <p:cNvSpPr txBox="1"/>
          <p:nvPr/>
        </p:nvSpPr>
        <p:spPr>
          <a:xfrm>
            <a:off x="8385048" y="3886200"/>
            <a:ext cx="3255264" cy="960120"/>
          </a:xfrm>
          <a:prstGeom prst="rect">
            <a:avLst/>
          </a:prstGeom>
          <a:noFill/>
          <a:ln/>
        </p:spPr>
        <p:txBody>
          <a:bodyPr wrap="square" lIns="0" tIns="0" rIns="0" bIns="0" rtlCol="0" anchor="t"/>
          <a:lstStyle/>
          <a:p>
            <a:pPr indent="0" marL="0">
              <a:buNone/>
            </a:pPr>
            <a:r>
              <a:rPr lang="en-US" sz="1050" i="1" dirty="0">
                <a:solidFill>
                  <a:schemeClr val="tx1"/>
                </a:solidFill>
              </a:rPr>
              <a:t>“Barclaycard's 36-month card also says 3.15% on its own listing page. But a May comparison site showed 3.45%, and I couldn't open the card's own page to settle which is current.”</a:t>
            </a:r>
            <a:endParaRPr lang="en-US" sz="1050" dirty="0"/>
          </a:p>
          <a:p>
            <a:pPr indent="0" marL="0">
              <a:buNone/>
            </a:pPr>
            <a:r>
              <a:rPr lang="en-US" sz="900" b="1" dirty="0">
                <a:solidFill>
                  <a:schemeClr val="accent1"/>
                </a:solidFill>
              </a:rPr>
              <a:t>Profile B, turn 4, why HSBC</a:t>
            </a:r>
            <a:endParaRPr lang="en-US" sz="1050" dirty="0"/>
          </a:p>
        </p:txBody>
      </p:sp>
      <p:sp>
        <p:nvSpPr>
          <p:cNvPr id="14" name="quote bg"/>
          <p:cNvSpPr/>
          <p:nvPr/>
        </p:nvSpPr>
        <p:spPr>
          <a:xfrm>
            <a:off x="8275320" y="4992624"/>
            <a:ext cx="3474720" cy="1069848"/>
          </a:xfrm>
          <a:prstGeom prst="rect">
            <a:avLst/>
          </a:prstGeom>
          <a:solidFill>
            <a:schemeClr val="bg2"/>
          </a:solidFill>
          <a:ln w="12700">
            <a:solidFill>
              <a:schemeClr val="bg2"/>
            </a:solidFill>
            <a:prstDash val="solid"/>
          </a:ln>
        </p:spPr>
      </p:sp>
      <p:sp>
        <p:nvSpPr>
          <p:cNvPr id="15" name="quote text"/>
          <p:cNvSpPr txBox="1"/>
          <p:nvPr/>
        </p:nvSpPr>
        <p:spPr>
          <a:xfrm>
            <a:off x="8385048" y="5047488"/>
            <a:ext cx="3255264" cy="960120"/>
          </a:xfrm>
          <a:prstGeom prst="rect">
            <a:avLst/>
          </a:prstGeom>
          <a:noFill/>
          <a:ln/>
        </p:spPr>
        <p:txBody>
          <a:bodyPr wrap="square" lIns="0" tIns="0" rIns="0" bIns="0" rtlCol="0" anchor="t"/>
          <a:lstStyle/>
          <a:p>
            <a:pPr indent="0" marL="0">
              <a:buNone/>
            </a:pPr>
            <a:r>
              <a:rPr lang="en-US" sz="1050" i="1" dirty="0">
                <a:solidFill>
                  <a:schemeClr val="tx1"/>
                </a:solidFill>
              </a:rPr>
              <a:t>“Barclaycard costs about £1.80 more but comes with 12 months of Apple TV. That's a reasonable tie-breaker, but only if you'd watch it.”</a:t>
            </a:r>
            <a:endParaRPr lang="en-US" sz="1050" dirty="0"/>
          </a:p>
          <a:p>
            <a:pPr indent="0" marL="0">
              <a:buNone/>
            </a:pPr>
            <a:r>
              <a:rPr lang="en-US" sz="900" b="1" dirty="0">
                <a:solidFill>
                  <a:schemeClr val="accent1"/>
                </a:solidFill>
              </a:rPr>
              <a:t>Profile A, turn 4</a:t>
            </a:r>
            <a:endParaRPr lang="en-US" sz="1050" dirty="0"/>
          </a:p>
        </p:txBody>
      </p:sp>
      <p:sp>
        <p:nvSpPr>
          <p:cNvPr id="16"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transcripts/A-opus.md and B-opus.md turns 1 to 4; quotes verbatim from the turn named. Falsified if the ranking at a turn differs from the row shown.</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Opus 5.5: what would change its answer for Barclaycard</a:t>
            </a:r>
            <a:endParaRPr lang="en-US" sz="2400" dirty="0"/>
          </a:p>
        </p:txBody>
      </p:sp>
      <p:sp>
        <p:nvSpPr>
          <p:cNvPr id="3" name="num 1"/>
          <p:cNvSpPr/>
          <p:nvPr/>
        </p:nvSpPr>
        <p:spPr>
          <a:xfrm>
            <a:off x="457200" y="1216152"/>
            <a:ext cx="329184" cy="329184"/>
          </a:xfrm>
          <a:prstGeom prst="ellipse">
            <a:avLst/>
          </a:prstGeom>
          <a:solidFill>
            <a:schemeClr val="accent1"/>
          </a:solidFill>
          <a:ln w="12700">
            <a:solidFill>
              <a:schemeClr val="accent1"/>
            </a:solidFill>
            <a:prstDash val="solid"/>
          </a:ln>
        </p:spPr>
      </p:sp>
      <p:sp>
        <p:nvSpPr>
          <p:cNvPr id="4" name="num text 1"/>
          <p:cNvSpPr txBox="1"/>
          <p:nvPr/>
        </p:nvSpPr>
        <p:spPr>
          <a:xfrm>
            <a:off x="457200" y="121615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improve 0"/>
          <p:cNvSpPr txBox="1"/>
          <p:nvPr/>
        </p:nvSpPr>
        <p:spPr>
          <a:xfrm>
            <a:off x="914400" y="1188720"/>
            <a:ext cx="6583680" cy="822960"/>
          </a:xfrm>
          <a:prstGeom prst="rect">
            <a:avLst/>
          </a:prstGeom>
          <a:noFill/>
          <a:ln/>
        </p:spPr>
        <p:txBody>
          <a:bodyPr wrap="square" lIns="0" tIns="0" rIns="0" bIns="0" rtlCol="0" anchor="t"/>
          <a:lstStyle/>
          <a:p>
            <a:pPr indent="0" marL="0">
              <a:buNone/>
            </a:pPr>
            <a:r>
              <a:rPr lang="en-US" sz="1050" b="1" dirty="0">
                <a:solidFill>
                  <a:schemeClr val="tx2"/>
                </a:solidFill>
              </a:rPr>
              <a:t>Give every card a product page that resolves, and keep the search page out of the index. </a:t>
            </a:r>
            <a:pPr indent="0" marL="0">
              <a:buNone/>
            </a:pPr>
            <a:r>
              <a:rPr lang="en-US" sz="1050" dirty="0">
                <a:solidFill>
                  <a:schemeClr val="tx1"/>
                </a:solidFill>
              </a:rPr>
              <a:t>Opus B had Barclaycard joint first and chose HSBC because the 36 month card's own page returned 'not found'. Opus A sourced all Barclaycard figures from a search-results URL. </a:t>
            </a:r>
            <a:pPr indent="0" marL="0">
              <a:buNone/>
            </a:pPr>
            <a:r>
              <a:rPr lang="en-US" sz="900" dirty="0">
                <a:solidFill>
                  <a:schemeClr val="accent2"/>
                </a:solidFill>
              </a:rPr>
              <a:t>(B turns 4, 5; A turns 3, 4)</a:t>
            </a:r>
            <a:endParaRPr lang="en-US" sz="1050" dirty="0"/>
          </a:p>
        </p:txBody>
      </p:sp>
      <p:sp>
        <p:nvSpPr>
          <p:cNvPr id="6" name="num 2"/>
          <p:cNvSpPr/>
          <p:nvPr/>
        </p:nvSpPr>
        <p:spPr>
          <a:xfrm>
            <a:off x="457200" y="2066544"/>
            <a:ext cx="329184" cy="329184"/>
          </a:xfrm>
          <a:prstGeom prst="ellipse">
            <a:avLst/>
          </a:prstGeom>
          <a:solidFill>
            <a:schemeClr val="accent1"/>
          </a:solidFill>
          <a:ln w="12700">
            <a:solidFill>
              <a:schemeClr val="accent1"/>
            </a:solidFill>
            <a:prstDash val="solid"/>
          </a:ln>
        </p:spPr>
      </p:sp>
      <p:sp>
        <p:nvSpPr>
          <p:cNvPr id="7" name="num text 2"/>
          <p:cNvSpPr txBox="1"/>
          <p:nvPr/>
        </p:nvSpPr>
        <p:spPr>
          <a:xfrm>
            <a:off x="457200" y="206654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improve 1"/>
          <p:cNvSpPr txBox="1"/>
          <p:nvPr/>
        </p:nvSpPr>
        <p:spPr>
          <a:xfrm>
            <a:off x="914400" y="2039112"/>
            <a:ext cx="6583680" cy="822960"/>
          </a:xfrm>
          <a:prstGeom prst="rect">
            <a:avLst/>
          </a:prstGeom>
          <a:noFill/>
          <a:ln/>
        </p:spPr>
        <p:txBody>
          <a:bodyPr wrap="square" lIns="0" tIns="0" rIns="0" bIns="0" rtlCol="0" anchor="t"/>
          <a:lstStyle/>
          <a:p>
            <a:pPr indent="0" marL="0">
              <a:buNone/>
            </a:pPr>
            <a:r>
              <a:rPr lang="en-US" sz="1050" b="1" dirty="0">
                <a:solidFill>
                  <a:schemeClr val="tx2"/>
                </a:solidFill>
              </a:rPr>
              <a:t>Publish the full-term share and the tier logic on the 36 month card. </a:t>
            </a:r>
            <a:pPr indent="0" marL="0">
              <a:buNone/>
            </a:pPr>
            <a:r>
              <a:rPr lang="en-US" sz="1050" dirty="0">
                <a:solidFill>
                  <a:schemeClr val="tx1"/>
                </a:solidFill>
              </a:rPr>
              <a:t>The 'definite' versus 'up to' label was the reason HSBC stayed first in A. The 7 in 10 statement exists only on the 22 month page, which Opus never reached. </a:t>
            </a:r>
            <a:pPr indent="0" marL="0">
              <a:buNone/>
            </a:pPr>
            <a:r>
              <a:rPr lang="en-US" sz="900" dirty="0">
                <a:solidFill>
                  <a:schemeClr val="accent2"/>
                </a:solidFill>
              </a:rPr>
              <a:t>(A, turns 3 and 4)</a:t>
            </a:r>
            <a:endParaRPr lang="en-US" sz="1050" dirty="0"/>
          </a:p>
        </p:txBody>
      </p:sp>
      <p:sp>
        <p:nvSpPr>
          <p:cNvPr id="9" name="num 3"/>
          <p:cNvSpPr/>
          <p:nvPr/>
        </p:nvSpPr>
        <p:spPr>
          <a:xfrm>
            <a:off x="457200" y="2916936"/>
            <a:ext cx="329184" cy="329184"/>
          </a:xfrm>
          <a:prstGeom prst="ellipse">
            <a:avLst/>
          </a:prstGeom>
          <a:solidFill>
            <a:schemeClr val="accent1"/>
          </a:solidFill>
          <a:ln w="12700">
            <a:solidFill>
              <a:schemeClr val="accent1"/>
            </a:solidFill>
            <a:prstDash val="solid"/>
          </a:ln>
        </p:spPr>
      </p:sp>
      <p:sp>
        <p:nvSpPr>
          <p:cNvPr id="10" name="num text 3"/>
          <p:cNvSpPr txBox="1"/>
          <p:nvPr/>
        </p:nvSpPr>
        <p:spPr>
          <a:xfrm>
            <a:off x="457200" y="29169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improve 2"/>
          <p:cNvSpPr txBox="1"/>
          <p:nvPr/>
        </p:nvSpPr>
        <p:spPr>
          <a:xfrm>
            <a:off x="914400" y="2889504"/>
            <a:ext cx="6583680" cy="822960"/>
          </a:xfrm>
          <a:prstGeom prst="rect">
            <a:avLst/>
          </a:prstGeom>
          <a:noFill/>
          <a:ln/>
        </p:spPr>
        <p:txBody>
          <a:bodyPr wrap="square" lIns="0" tIns="0" rIns="0" bIns="0" rtlCol="0" anchor="t"/>
          <a:lstStyle/>
          <a:p>
            <a:pPr indent="0" marL="0">
              <a:buNone/>
            </a:pPr>
            <a:r>
              <a:rPr lang="en-US" sz="1050" b="1" dirty="0">
                <a:solidFill>
                  <a:schemeClr val="tx2"/>
                </a:solidFill>
              </a:rPr>
              <a:t>Ask Money to the Masses to update the 3.45% fee. </a:t>
            </a:r>
            <a:pPr indent="0" marL="0">
              <a:buNone/>
            </a:pPr>
            <a:r>
              <a:rPr lang="en-US" sz="1050" dirty="0">
                <a:solidFill>
                  <a:schemeClr val="tx1"/>
                </a:solidFill>
              </a:rPr>
              <a:t>The stale figure cost Barclaycard the pick in B, since the model could not resolve the conflict on Barclaycard's own site. </a:t>
            </a:r>
            <a:pPr indent="0" marL="0">
              <a:buNone/>
            </a:pPr>
            <a:r>
              <a:rPr lang="en-US" sz="900" dirty="0">
                <a:solidFill>
                  <a:schemeClr val="accent2"/>
                </a:solidFill>
              </a:rPr>
              <a:t>(B, turns 3 to 5)</a:t>
            </a:r>
            <a:endParaRPr lang="en-US" sz="1050" dirty="0"/>
          </a:p>
        </p:txBody>
      </p:sp>
      <p:sp>
        <p:nvSpPr>
          <p:cNvPr id="12" name="num 4"/>
          <p:cNvSpPr/>
          <p:nvPr/>
        </p:nvSpPr>
        <p:spPr>
          <a:xfrm>
            <a:off x="457200" y="3767328"/>
            <a:ext cx="329184" cy="329184"/>
          </a:xfrm>
          <a:prstGeom prst="ellipse">
            <a:avLst/>
          </a:prstGeom>
          <a:solidFill>
            <a:schemeClr val="accent1"/>
          </a:solidFill>
          <a:ln w="12700">
            <a:solidFill>
              <a:schemeClr val="accent1"/>
            </a:solidFill>
            <a:prstDash val="solid"/>
          </a:ln>
        </p:spPr>
      </p:sp>
      <p:sp>
        <p:nvSpPr>
          <p:cNvPr id="13" name="num text 4"/>
          <p:cNvSpPr txBox="1"/>
          <p:nvPr/>
        </p:nvSpPr>
        <p:spPr>
          <a:xfrm>
            <a:off x="457200" y="37673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4" name="improve 3"/>
          <p:cNvSpPr txBox="1"/>
          <p:nvPr/>
        </p:nvSpPr>
        <p:spPr>
          <a:xfrm>
            <a:off x="914400" y="3739896"/>
            <a:ext cx="6583680" cy="822960"/>
          </a:xfrm>
          <a:prstGeom prst="rect">
            <a:avLst/>
          </a:prstGeom>
          <a:noFill/>
          <a:ln/>
        </p:spPr>
        <p:txBody>
          <a:bodyPr wrap="square" lIns="0" tIns="0" rIns="0" bIns="0" rtlCol="0" anchor="t"/>
          <a:lstStyle/>
          <a:p>
            <a:pPr indent="0" marL="0">
              <a:buNone/>
            </a:pPr>
            <a:r>
              <a:rPr lang="en-US" sz="1050" b="1" dirty="0">
                <a:solidFill>
                  <a:schemeClr val="tx2"/>
                </a:solidFill>
              </a:rPr>
              <a:t>Publish eligibility criteria, the soft-search statement and whether Barclays-group cards can be transferred. </a:t>
            </a:r>
            <a:pPr indent="0" marL="0">
              <a:buNone/>
            </a:pPr>
            <a:r>
              <a:rPr lang="en-US" sz="1050" dirty="0">
                <a:solidFill>
                  <a:schemeClr val="tx1"/>
                </a:solidFill>
              </a:rPr>
              <a:t>'Barclaycard's eligibility rules (age, income, residency) and any restriction on transferring from Barclays cards, because the product page wouldn't load' (B). 'The listing page gave almost nothing' on eligibility. </a:t>
            </a:r>
            <a:pPr indent="0" marL="0">
              <a:buNone/>
            </a:pPr>
            <a:r>
              <a:rPr lang="en-US" sz="900" dirty="0">
                <a:solidFill>
                  <a:schemeClr val="accent2"/>
                </a:solidFill>
              </a:rPr>
              <a:t>(B, turn 5)</a:t>
            </a:r>
            <a:endParaRPr lang="en-US" sz="1050" dirty="0"/>
          </a:p>
        </p:txBody>
      </p:sp>
      <p:sp>
        <p:nvSpPr>
          <p:cNvPr id="15" name="num 5"/>
          <p:cNvSpPr/>
          <p:nvPr/>
        </p:nvSpPr>
        <p:spPr>
          <a:xfrm>
            <a:off x="457200" y="4617720"/>
            <a:ext cx="329184" cy="329184"/>
          </a:xfrm>
          <a:prstGeom prst="ellipse">
            <a:avLst/>
          </a:prstGeom>
          <a:solidFill>
            <a:schemeClr val="accent1"/>
          </a:solidFill>
          <a:ln w="12700">
            <a:solidFill>
              <a:schemeClr val="accent1"/>
            </a:solidFill>
            <a:prstDash val="solid"/>
          </a:ln>
        </p:spPr>
      </p:sp>
      <p:sp>
        <p:nvSpPr>
          <p:cNvPr id="16" name="num text 5"/>
          <p:cNvSpPr txBox="1"/>
          <p:nvPr/>
        </p:nvSpPr>
        <p:spPr>
          <a:xfrm>
            <a:off x="457200" y="46177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7" name="improve 4"/>
          <p:cNvSpPr txBox="1"/>
          <p:nvPr/>
        </p:nvSpPr>
        <p:spPr>
          <a:xfrm>
            <a:off x="914400" y="4590288"/>
            <a:ext cx="6583680" cy="822960"/>
          </a:xfrm>
          <a:prstGeom prst="rect">
            <a:avLst/>
          </a:prstGeom>
          <a:noFill/>
          <a:ln/>
        </p:spPr>
        <p:txBody>
          <a:bodyPr wrap="square" lIns="0" tIns="0" rIns="0" bIns="0" rtlCol="0" anchor="t"/>
          <a:lstStyle/>
          <a:p>
            <a:pPr indent="0" marL="0">
              <a:buNone/>
            </a:pPr>
            <a:r>
              <a:rPr lang="en-US" sz="1050" b="1" dirty="0">
                <a:solidFill>
                  <a:schemeClr val="tx2"/>
                </a:solidFill>
              </a:rPr>
              <a:t>Keep the Apple TV offer, but as a tie-breaker, not in the terms block. </a:t>
            </a:r>
            <a:pPr indent="0" marL="0">
              <a:buNone/>
            </a:pPr>
            <a:r>
              <a:rPr lang="en-US" sz="1050" dirty="0">
                <a:solidFill>
                  <a:schemeClr val="tx1"/>
                </a:solidFill>
              </a:rPr>
              <a:t>Opus A treated it as a reasonable tie-breaker between equal cards. That is the right place for it. </a:t>
            </a:r>
            <a:pPr indent="0" marL="0">
              <a:buNone/>
            </a:pPr>
            <a:r>
              <a:rPr lang="en-US" sz="900" dirty="0">
                <a:solidFill>
                  <a:schemeClr val="accent2"/>
                </a:solidFill>
              </a:rPr>
              <a:t>(A, turn 4)</a:t>
            </a:r>
            <a:endParaRPr lang="en-US" sz="1050" dirty="0"/>
          </a:p>
        </p:txBody>
      </p:sp>
      <p:pic>
        <p:nvPicPr>
          <p:cNvPr id="18" name="P8_barclaycard_404_36-month.jpg" descr="/home/user/cc_yolo_project/Oct11_3pm/deck/evidence/P8_barclaycard_404_36-month.jpg">    </p:cNvPr>
          <p:cNvPicPr>
            <a:picLocks noChangeAspect="1"/>
          </p:cNvPicPr>
          <p:nvPr/>
        </p:nvPicPr>
        <p:blipFill>
          <a:blip r:embed="rId1"/>
          <a:stretch>
            <a:fillRect/>
          </a:stretch>
        </p:blipFill>
        <p:spPr>
          <a:xfrm>
            <a:off x="7589520" y="1188720"/>
            <a:ext cx="4160520" cy="2925366"/>
          </a:xfrm>
          <a:prstGeom prst="rect">
            <a:avLst/>
          </a:prstGeom>
          <a:effectLst>
            <a:outerShdw sx="100000" sy="100000" kx="0" ky="0" algn="bl" rotWithShape="0" blurRad="50800" dist="25400" dir="2700000">
              <a:srgbClr val="0B2E59">
                <a:alpha val="25000"/>
              </a:srgbClr>
            </a:outerShdw>
          </a:effectLst>
        </p:spPr>
      </p:pic>
      <p:sp>
        <p:nvSpPr>
          <p:cNvPr id="19" name="improve caption"/>
          <p:cNvSpPr txBox="1"/>
          <p:nvPr/>
        </p:nvSpPr>
        <p:spPr>
          <a:xfrm>
            <a:off x="7589520" y="4159806"/>
            <a:ext cx="4160520" cy="457200"/>
          </a:xfrm>
          <a:prstGeom prst="rect">
            <a:avLst/>
          </a:prstGeom>
          <a:noFill/>
          <a:ln/>
        </p:spPr>
        <p:txBody>
          <a:bodyPr wrap="square" lIns="0" tIns="0" rIns="0" bIns="0" rtlCol="0" anchor="ctr"/>
          <a:lstStyle/>
          <a:p>
            <a:pPr indent="0" marL="0">
              <a:buNone/>
            </a:pPr>
            <a:r>
              <a:rPr lang="en-US" sz="900" i="1" dirty="0">
                <a:solidFill>
                  <a:schemeClr val="tx2"/>
                </a:solidFill>
              </a:rPr>
              <a:t>A product-level Barclaycard URL returning 404 on 11 October 2026</a:t>
            </a:r>
            <a:endParaRPr lang="en-US" sz="900" dirty="0"/>
          </a:p>
        </p:txBody>
      </p:sp>
      <p:sp>
        <p:nvSpPr>
          <p:cNvPr id="20" name="test box"/>
          <p:cNvSpPr/>
          <p:nvPr/>
        </p:nvSpPr>
        <p:spPr>
          <a:xfrm>
            <a:off x="457200" y="5532120"/>
            <a:ext cx="11247120" cy="566928"/>
          </a:xfrm>
          <a:prstGeom prst="roundRect">
            <a:avLst>
              <a:gd name="adj" fmla="val 12903"/>
            </a:avLst>
          </a:prstGeom>
          <a:solidFill>
            <a:schemeClr val="bg2"/>
          </a:solidFill>
          <a:ln w="9525">
            <a:solidFill>
              <a:schemeClr val="accent5"/>
            </a:solidFill>
            <a:prstDash val="solid"/>
          </a:ln>
        </p:spPr>
      </p:sp>
      <p:sp>
        <p:nvSpPr>
          <p:cNvPr id="21" name="test text"/>
          <p:cNvSpPr txBox="1"/>
          <p:nvPr/>
        </p:nvSpPr>
        <p:spPr>
          <a:xfrm>
            <a:off x="594360" y="5577840"/>
            <a:ext cx="10972800" cy="475488"/>
          </a:xfrm>
          <a:prstGeom prst="rect">
            <a:avLst/>
          </a:prstGeom>
          <a:noFill/>
          <a:ln/>
        </p:spPr>
        <p:txBody>
          <a:bodyPr wrap="square" lIns="0" tIns="0" rIns="0" bIns="0" rtlCol="0" anchor="t"/>
          <a:lstStyle/>
          <a:p>
            <a:pPr indent="0" marL="0">
              <a:buNone/>
            </a:pPr>
            <a:r>
              <a:rPr lang="en-US" sz="1050" b="1" dirty="0">
                <a:solidFill>
                  <a:schemeClr val="accent1"/>
                </a:solidFill>
              </a:rPr>
              <a:t>TEST IT  </a:t>
            </a:r>
            <a:pPr indent="0" marL="0">
              <a:buNone/>
            </a:pPr>
            <a:r>
              <a:rPr lang="en-US" sz="1050" dirty="0">
                <a:solidFill>
                  <a:schemeClr val="tx1"/>
                </a:solidFill>
              </a:rPr>
              <a:t>Read transcripts/B-opus.md turn 4, reason 2, and turn 5 ('I could not open the 36-month card's own product page'). Open the 36 month card's 'See card details' link from the listing page: falsified if the product page resolves and states the fee.</a:t>
            </a:r>
            <a:endParaRPr lang="en-US" sz="1050" dirty="0"/>
          </a:p>
        </p:txBody>
      </p:sp>
      <p:sp>
        <p:nvSpPr>
          <p:cNvPr id="22"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transcripts/A-opus.md and B-opus.md at the turns in brackets; deck/evidence for the screenshot.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000" b="1" dirty="0">
                <a:solidFill>
                  <a:schemeClr val="bg1"/>
                </a:solidFill>
              </a:rPr>
              <a:t>Model 4 of 4: Fable 5.1</a:t>
            </a:r>
            <a:endParaRPr lang="en-US" sz="4000" dirty="0"/>
          </a:p>
        </p:txBody>
      </p:sp>
      <p:sp>
        <p:nvSpPr>
          <p:cNvPr id="3" name="Text 0"/>
          <p:cNvSpPr/>
          <p:nvPr>
            <p:ph idx="101" type="body" hasCustomPrompt="1"/>
          </p:nvPr>
        </p:nvSpPr>
        <p:spPr>
          <a:xfrm>
            <a:off x="731520" y="3611880"/>
            <a:ext cx="10515600" cy="1828800"/>
          </a:xfrm>
          <a:prstGeom prst="rect">
            <a:avLst/>
          </a:prstGeom>
          <a:noFill/>
          <a:ln/>
        </p:spPr>
        <p:txBody>
          <a:bodyPr wrap="square" lIns="0" tIns="0" rIns="0" bIns="0" rtlCol="0" anchor="t"/>
          <a:lstStyle/>
          <a:p>
            <a:pPr indent="0" marL="0">
              <a:buNone/>
            </a:pPr>
            <a:r>
              <a:rPr lang="en-US" sz="1800" dirty="0">
                <a:solidFill>
                  <a:schemeClr val="accent5"/>
                </a:solidFill>
              </a:rPr>
              <a:t>Opens barclaycard.co.uk at turn 1 in both runs, weights MSE's 'definite' label most, and asks about a Barclays account because of the cashback</a:t>
            </a:r>
            <a:endParaRPr lang="en-US" sz="1800" dirty="0"/>
          </a:p>
          <a:p>
            <a:pPr indent="0" marL="0">
              <a:buNone/>
            </a:pPr>
            <a:r>
              <a:rPr lang="en-US" sz="1800" dirty="0">
                <a:solidFill>
                  <a:schemeClr val="accent5"/>
                </a:solidFill>
              </a:rPr>
              <a:t>Five slides: the questions it asked, what was common across its two runs, the sources it used, the options it gave and where Barclaycard sat, and what would change its answer.</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Fable 5.1: the question asked, and the clarifying questions the model asked, turn by turn</a:t>
            </a:r>
            <a:endParaRPr lang="en-US" sz="2400" dirty="0"/>
          </a:p>
        </p:txBody>
      </p:sp>
      <p:sp>
        <p:nvSpPr>
          <p:cNvPr id="3" name="user q"/>
          <p:cNvSpPr txBox="1"/>
          <p:nvPr/>
        </p:nvSpPr>
        <p:spPr>
          <a:xfrm>
            <a:off x="457200" y="1143000"/>
            <a:ext cx="11247120" cy="685800"/>
          </a:xfrm>
          <a:prstGeom prst="rect">
            <a:avLst/>
          </a:prstGeom>
          <a:noFill/>
          <a:ln/>
        </p:spPr>
        <p:txBody>
          <a:bodyPr wrap="square" lIns="0" tIns="0" rIns="0" bIns="0" rtlCol="0" anchor="t"/>
          <a:lstStyle/>
          <a:p>
            <a:pPr indent="0" marL="0">
              <a:buNone/>
            </a:pPr>
            <a:r>
              <a:rPr lang="en-US" sz="1050" b="1" dirty="0">
                <a:solidFill>
                  <a:schemeClr val="accent1"/>
                </a:solidFill>
              </a:rPr>
              <a:t>User, turn 1: </a:t>
            </a:r>
            <a:pPr indent="0" marL="0">
              <a:buNone/>
            </a:pPr>
            <a:r>
              <a:rPr lang="en-US" sz="1050" dirty="0">
                <a:solidFill>
                  <a:schemeClr val="tx1"/>
                </a:solidFill>
              </a:rPr>
              <a:t>Hi, I'm in the UK and I've got about £3,000 on a credit card charging me 24.9% APR. I want to move it to a 0% balance transfer card so I can actually clear it. Can you give me your top three cards to consider, ranked, with your reasoning for each? And please tell me where you got each piece of information from, I want to be able to check it.</a:t>
            </a:r>
            <a:endParaRPr lang="en-US" sz="1050" dirty="0"/>
          </a:p>
        </p:txBody>
      </p:sp>
      <p:sp>
        <p:nvSpPr>
          <p:cNvPr id="4" name="card qA"/>
          <p:cNvSpPr/>
          <p:nvPr/>
        </p:nvSpPr>
        <p:spPr>
          <a:xfrm>
            <a:off x="457200" y="1920240"/>
            <a:ext cx="5532120" cy="3657600"/>
          </a:xfrm>
          <a:prstGeom prst="roundRect">
            <a:avLst>
              <a:gd name="adj" fmla="val 2000"/>
            </a:avLst>
          </a:prstGeom>
          <a:solidFill>
            <a:schemeClr val="bg2"/>
          </a:solidFill>
          <a:ln w="9525">
            <a:solidFill>
              <a:schemeClr val="accent5"/>
            </a:solidFill>
            <a:prstDash val="solid"/>
          </a:ln>
        </p:spPr>
      </p:sp>
      <p:sp>
        <p:nvSpPr>
          <p:cNvPr id="5" name="heading Profile A (clean cre"/>
          <p:cNvSpPr txBox="1"/>
          <p:nvPr/>
        </p:nvSpPr>
        <p:spPr>
          <a:xfrm>
            <a:off x="640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A (clean credit): what the model asked</a:t>
            </a:r>
            <a:endParaRPr lang="en-US" sz="1250" dirty="0"/>
          </a:p>
        </p:txBody>
      </p:sp>
      <p:sp>
        <p:nvSpPr>
          <p:cNvPr id="6" name="q text A"/>
          <p:cNvSpPr txBox="1"/>
          <p:nvPr/>
        </p:nvSpPr>
        <p:spPr>
          <a:xfrm>
            <a:off x="640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Two questions, the first with the recommendation attached to each answer:</a:t>
            </a:r>
            <a:endParaRPr lang="en-US" sz="1150" dirty="0"/>
          </a:p>
          <a:p>
            <a:pPr indent="0" marL="0">
              <a:spcAft>
                <a:spcPts val="200"/>
              </a:spcAft>
              <a:buNone/>
            </a:pPr>
            <a:r>
              <a:rPr lang="en-US" sz="1150" dirty="0">
                <a:solidFill>
                  <a:schemeClr val="tx1"/>
                </a:solidFill>
              </a:rPr>
              <a:t>1. What can you comfortably put towards it each month? A) under £100: HSBC B) £100 to £150: Virgin 24m C) £150 to £250: Tesco Low Fee or Barclaycard's no-fee 12m D) not sure</a:t>
            </a:r>
            <a:endParaRPr lang="en-US" sz="1150" dirty="0"/>
          </a:p>
          <a:p>
            <a:pPr indent="0" marL="0">
              <a:spcAft>
                <a:spcPts val="200"/>
              </a:spcAft>
              <a:buNone/>
            </a:pPr>
            <a:r>
              <a:rPr lang="en-US" sz="1150" dirty="0">
                <a:solidFill>
                  <a:schemeClr val="tx1"/>
                </a:solidFill>
              </a:rPr>
              <a:t>2. Do you bank with Barclays or HSBC already? A) Barclays B) HSBC C) neither D) both (asked because of the £20 cashback and HSBC's exclusions)</a:t>
            </a:r>
            <a:endParaRPr lang="en-US" sz="1150" dirty="0"/>
          </a:p>
          <a:p>
            <a:pPr indent="0" marL="0">
              <a:spcBef>
                <a:spcPts val="600"/>
              </a:spcBef>
              <a:buNone/>
            </a:pPr>
            <a:r>
              <a:rPr lang="en-US" sz="1150" b="1" dirty="0">
                <a:solidFill>
                  <a:schemeClr val="accent1"/>
                </a:solidFill>
              </a:rPr>
              <a:t>Turn 2</a:t>
            </a:r>
            <a:endParaRPr lang="en-US" sz="1150" dirty="0"/>
          </a:p>
          <a:p>
            <a:pPr indent="0" marL="0">
              <a:spcAft>
                <a:spcPts val="200"/>
              </a:spcAft>
              <a:buNone/>
            </a:pPr>
            <a:r>
              <a:rPr lang="en-US" sz="1150" dirty="0">
                <a:solidFill>
                  <a:schemeClr val="tx1"/>
                </a:solidFill>
              </a:rPr>
              <a:t>An offer, not a question for information: 'Would you like me to work out the exact total cost for each card at £150 and £200 a month?'</a:t>
            </a:r>
            <a:endParaRPr lang="en-US" sz="1150" dirty="0"/>
          </a:p>
          <a:p>
            <a:pPr indent="0" marL="0">
              <a:spcBef>
                <a:spcPts val="600"/>
              </a:spcBef>
              <a:buNone/>
            </a:pPr>
            <a:r>
              <a:rPr lang="en-US" sz="1150" b="1" dirty="0">
                <a:solidFill>
                  <a:schemeClr val="accent1"/>
                </a:solidFill>
              </a:rPr>
              <a:t>Turns 3 to 5</a:t>
            </a:r>
            <a:endParaRPr lang="en-US" sz="1150" dirty="0"/>
          </a:p>
          <a:p>
            <a:pPr indent="0" marL="0">
              <a:spcAft>
                <a:spcPts val="200"/>
              </a:spcAft>
              <a:buNone/>
            </a:pPr>
            <a:r>
              <a:rPr lang="en-US" sz="1150" dirty="0">
                <a:solidFill>
                  <a:schemeClr val="tx1"/>
                </a:solidFill>
              </a:rPr>
              <a:t>No further questions. Turn 4 asks to be told what the application page shows.</a:t>
            </a:r>
            <a:endParaRPr lang="en-US" sz="1150" dirty="0"/>
          </a:p>
        </p:txBody>
      </p:sp>
      <p:sp>
        <p:nvSpPr>
          <p:cNvPr id="7" name="card qB"/>
          <p:cNvSpPr/>
          <p:nvPr/>
        </p:nvSpPr>
        <p:spPr>
          <a:xfrm>
            <a:off x="6172200" y="1920240"/>
            <a:ext cx="5532120" cy="3657600"/>
          </a:xfrm>
          <a:prstGeom prst="roundRect">
            <a:avLst>
              <a:gd name="adj" fmla="val 2000"/>
            </a:avLst>
          </a:prstGeom>
          <a:solidFill>
            <a:schemeClr val="bg2"/>
          </a:solidFill>
          <a:ln w="9525">
            <a:solidFill>
              <a:schemeClr val="accent5"/>
            </a:solidFill>
            <a:prstDash val="solid"/>
          </a:ln>
        </p:spPr>
      </p:sp>
      <p:sp>
        <p:nvSpPr>
          <p:cNvPr id="8" name="heading Profile B (Fair cred"/>
          <p:cNvSpPr txBox="1"/>
          <p:nvPr/>
        </p:nvSpPr>
        <p:spPr>
          <a:xfrm>
            <a:off x="6355080" y="2011680"/>
            <a:ext cx="5212080" cy="365760"/>
          </a:xfrm>
          <a:prstGeom prst="rect">
            <a:avLst/>
          </a:prstGeom>
          <a:noFill/>
          <a:ln/>
        </p:spPr>
        <p:txBody>
          <a:bodyPr wrap="square" lIns="0" tIns="0" rIns="0" bIns="0" rtlCol="0" anchor="ctr"/>
          <a:lstStyle/>
          <a:p>
            <a:pPr indent="0" marL="0">
              <a:buNone/>
            </a:pPr>
            <a:r>
              <a:rPr lang="en-US" sz="1250" b="1" dirty="0">
                <a:solidFill>
                  <a:schemeClr val="tx2"/>
                </a:solidFill>
              </a:rPr>
              <a:t>Profile B (Fair credit): what the model asked</a:t>
            </a:r>
            <a:endParaRPr lang="en-US" sz="1250" dirty="0"/>
          </a:p>
        </p:txBody>
      </p:sp>
      <p:sp>
        <p:nvSpPr>
          <p:cNvPr id="9" name="q text B"/>
          <p:cNvSpPr txBox="1"/>
          <p:nvPr/>
        </p:nvSpPr>
        <p:spPr>
          <a:xfrm>
            <a:off x="6355080" y="2423160"/>
            <a:ext cx="5212080" cy="3063240"/>
          </a:xfrm>
          <a:prstGeom prst="rect">
            <a:avLst/>
          </a:prstGeom>
          <a:noFill/>
          <a:ln/>
        </p:spPr>
        <p:txBody>
          <a:bodyPr wrap="square" lIns="0" tIns="0" rIns="0" bIns="0" rtlCol="0" anchor="t"/>
          <a:lstStyle/>
          <a:p>
            <a:pPr indent="0" marL="0">
              <a:buNone/>
            </a:pPr>
            <a:r>
              <a:rPr lang="en-US" sz="1150" b="1" dirty="0">
                <a:solidFill>
                  <a:schemeClr val="accent1"/>
                </a:solidFill>
              </a:rPr>
              <a:t>Turn 1</a:t>
            </a:r>
            <a:endParaRPr lang="en-US" sz="1150" dirty="0"/>
          </a:p>
          <a:p>
            <a:pPr indent="0" marL="0">
              <a:spcAft>
                <a:spcPts val="200"/>
              </a:spcAft>
              <a:buNone/>
            </a:pPr>
            <a:r>
              <a:rPr lang="en-US" sz="1150" dirty="0">
                <a:solidFill>
                  <a:schemeClr val="tx1"/>
                </a:solidFill>
              </a:rPr>
              <a:t>Four questions after a provisional top three:</a:t>
            </a:r>
            <a:endParaRPr lang="en-US" sz="1150" dirty="0"/>
          </a:p>
          <a:p>
            <a:pPr indent="0" marL="0">
              <a:spcAft>
                <a:spcPts val="200"/>
              </a:spcAft>
              <a:buNone/>
            </a:pPr>
            <a:r>
              <a:rPr lang="en-US" sz="1150" dirty="0">
                <a:solidFill>
                  <a:schemeClr val="tx1"/>
                </a:solidFill>
              </a:rPr>
              <a:t>1. How much can you put towards it each month? a) under £125 b) £125 to £200 c) £200 to £300 d) over £300</a:t>
            </a:r>
            <a:endParaRPr lang="en-US" sz="1150" dirty="0"/>
          </a:p>
          <a:p>
            <a:pPr indent="0" marL="0">
              <a:spcAft>
                <a:spcPts val="200"/>
              </a:spcAft>
              <a:buNone/>
            </a:pPr>
            <a:r>
              <a:rPr lang="en-US" sz="1150" dirty="0">
                <a:solidFill>
                  <a:schemeClr val="tx1"/>
                </a:solidFill>
              </a:rPr>
              <a:t>2. Your credit record? a) clean b) a few blips c) defaults or CCJs</a:t>
            </a:r>
            <a:endParaRPr lang="en-US" sz="1150" dirty="0"/>
          </a:p>
          <a:p>
            <a:pPr indent="0" marL="0">
              <a:spcAft>
                <a:spcPts val="200"/>
              </a:spcAft>
              <a:buNone/>
            </a:pPr>
            <a:r>
              <a:rPr lang="en-US" sz="1150" dirty="0">
                <a:solidFill>
                  <a:schemeClr val="tx1"/>
                </a:solidFill>
              </a:rPr>
              <a:t>3. Who issues your current card? a) Barclaycard b) Tesco c) Virgin / Clydesdale / Yorkshire d) HSBC / First Direct e) someone else</a:t>
            </a:r>
            <a:endParaRPr lang="en-US" sz="1150" dirty="0"/>
          </a:p>
          <a:p>
            <a:pPr indent="0" marL="0">
              <a:spcAft>
                <a:spcPts val="200"/>
              </a:spcAft>
              <a:buNone/>
            </a:pPr>
            <a:r>
              <a:rPr lang="en-US" sz="1150" dirty="0">
                <a:solidFill>
                  <a:schemeClr val="tx1"/>
                </a:solidFill>
              </a:rPr>
              <a:t>4. Do you have a Barclays current account? (for the £20 cashback, 'though that card's 3.15% fee makes it a poor fit for £3,000 anyway')</a:t>
            </a:r>
            <a:endParaRPr lang="en-US" sz="1150" dirty="0"/>
          </a:p>
          <a:p>
            <a:pPr indent="0" marL="0">
              <a:spcBef>
                <a:spcPts val="600"/>
              </a:spcBef>
              <a:buNone/>
            </a:pPr>
            <a:r>
              <a:rPr lang="en-US" sz="1150" b="1" dirty="0">
                <a:solidFill>
                  <a:schemeClr val="accent1"/>
                </a:solidFill>
              </a:rPr>
              <a:t>Turns 2 to 5</a:t>
            </a:r>
            <a:endParaRPr lang="en-US" sz="1150" dirty="0"/>
          </a:p>
          <a:p>
            <a:pPr indent="0" marL="0">
              <a:spcAft>
                <a:spcPts val="200"/>
              </a:spcAft>
              <a:buNone/>
            </a:pPr>
            <a:r>
              <a:rPr lang="en-US" sz="1150" dirty="0">
                <a:solidFill>
                  <a:schemeClr val="tx1"/>
                </a:solidFill>
              </a:rPr>
              <a:t>No further questions.</a:t>
            </a:r>
            <a:endParaRPr lang="en-US" sz="11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transcripts/A-fable.md and B-fable.md, model replies at turns 1 to 5. Falsified if a turn contains a question not listed here.</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Fable 5.1: questions common to both runs, and what the differences show</a:t>
            </a:r>
            <a:endParaRPr lang="en-US" sz="2400" dirty="0"/>
          </a:p>
        </p:txBody>
      </p:sp>
      <p:sp>
        <p:nvSpPr>
          <p:cNvPr id="3" name="card common0"/>
          <p:cNvSpPr/>
          <p:nvPr/>
        </p:nvSpPr>
        <p:spPr>
          <a:xfrm>
            <a:off x="457200" y="1234440"/>
            <a:ext cx="3611880" cy="2514600"/>
          </a:xfrm>
          <a:prstGeom prst="roundRect">
            <a:avLst>
              <a:gd name="adj" fmla="val 2909"/>
            </a:avLst>
          </a:prstGeom>
          <a:solidFill>
            <a:schemeClr val="bg2"/>
          </a:solidFill>
          <a:ln w="9525">
            <a:solidFill>
              <a:schemeClr val="accent5"/>
            </a:solidFill>
            <a:prstDash val="solid"/>
          </a:ln>
        </p:spPr>
      </p:sp>
      <p:sp>
        <p:nvSpPr>
          <p:cNvPr id="4" name="heading Asked in both runs"/>
          <p:cNvSpPr txBox="1"/>
          <p:nvPr/>
        </p:nvSpPr>
        <p:spPr>
          <a:xfrm>
            <a:off x="64008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Asked in both runs</a:t>
            </a:r>
            <a:endParaRPr lang="en-US" sz="1300" dirty="0"/>
          </a:p>
        </p:txBody>
      </p:sp>
      <p:sp>
        <p:nvSpPr>
          <p:cNvPr id="5" name="bullets"/>
          <p:cNvSpPr txBox="1"/>
          <p:nvPr/>
        </p:nvSpPr>
        <p:spPr>
          <a:xfrm>
            <a:off x="64008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Monthly repayment capacity</a:t>
            </a:r>
            <a:endParaRPr lang="en-US" sz="1100" dirty="0"/>
          </a:p>
          <a:p>
            <a:pPr marL="152400" indent="-152400">
              <a:spcAft>
                <a:spcPts val="400"/>
              </a:spcAft>
              <a:buSzPct val="100000"/>
              <a:buChar char="•"/>
            </a:pPr>
            <a:r>
              <a:rPr lang="en-US" sz="1100" dirty="0">
                <a:solidFill>
                  <a:schemeClr val="tx1"/>
                </a:solidFill>
              </a:rPr>
              <a:t>Whether the user has a Barclays current account (both runs tied this to the £20 cashback condition)</a:t>
            </a:r>
            <a:endParaRPr lang="en-US" sz="1100" dirty="0"/>
          </a:p>
        </p:txBody>
      </p:sp>
      <p:sp>
        <p:nvSpPr>
          <p:cNvPr id="6" name="card common1"/>
          <p:cNvSpPr/>
          <p:nvPr/>
        </p:nvSpPr>
        <p:spPr>
          <a:xfrm>
            <a:off x="4251960" y="1234440"/>
            <a:ext cx="3611880" cy="2514600"/>
          </a:xfrm>
          <a:prstGeom prst="roundRect">
            <a:avLst>
              <a:gd name="adj" fmla="val 2909"/>
            </a:avLst>
          </a:prstGeom>
          <a:solidFill>
            <a:schemeClr val="bg2"/>
          </a:solidFill>
          <a:ln w="9525">
            <a:solidFill>
              <a:schemeClr val="accent5"/>
            </a:solidFill>
            <a:prstDash val="solid"/>
          </a:ln>
        </p:spPr>
      </p:sp>
      <p:sp>
        <p:nvSpPr>
          <p:cNvPr id="7" name="heading Profile A only"/>
          <p:cNvSpPr txBox="1"/>
          <p:nvPr/>
        </p:nvSpPr>
        <p:spPr>
          <a:xfrm>
            <a:off x="443484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A only</a:t>
            </a:r>
            <a:endParaRPr lang="en-US" sz="1300" dirty="0"/>
          </a:p>
        </p:txBody>
      </p:sp>
      <p:sp>
        <p:nvSpPr>
          <p:cNvPr id="8" name="bullets"/>
          <p:cNvSpPr txBox="1"/>
          <p:nvPr/>
        </p:nvSpPr>
        <p:spPr>
          <a:xfrm>
            <a:off x="443484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Whether the user banks with HSBC</a:t>
            </a:r>
            <a:endParaRPr lang="en-US" sz="1100" dirty="0"/>
          </a:p>
        </p:txBody>
      </p:sp>
      <p:sp>
        <p:nvSpPr>
          <p:cNvPr id="9" name="card common2"/>
          <p:cNvSpPr/>
          <p:nvPr/>
        </p:nvSpPr>
        <p:spPr>
          <a:xfrm>
            <a:off x="8046720" y="1234440"/>
            <a:ext cx="3611880" cy="2514600"/>
          </a:xfrm>
          <a:prstGeom prst="roundRect">
            <a:avLst>
              <a:gd name="adj" fmla="val 2909"/>
            </a:avLst>
          </a:prstGeom>
          <a:solidFill>
            <a:schemeClr val="bg2"/>
          </a:solidFill>
          <a:ln w="9525">
            <a:solidFill>
              <a:schemeClr val="accent5"/>
            </a:solidFill>
            <a:prstDash val="solid"/>
          </a:ln>
        </p:spPr>
      </p:sp>
      <p:sp>
        <p:nvSpPr>
          <p:cNvPr id="10" name="heading Profile B only"/>
          <p:cNvSpPr txBox="1"/>
          <p:nvPr/>
        </p:nvSpPr>
        <p:spPr>
          <a:xfrm>
            <a:off x="8229600" y="1325880"/>
            <a:ext cx="3246120" cy="365760"/>
          </a:xfrm>
          <a:prstGeom prst="rect">
            <a:avLst/>
          </a:prstGeom>
          <a:noFill/>
          <a:ln/>
        </p:spPr>
        <p:txBody>
          <a:bodyPr wrap="square" lIns="0" tIns="0" rIns="0" bIns="0" rtlCol="0" anchor="ctr"/>
          <a:lstStyle/>
          <a:p>
            <a:pPr indent="0" marL="0">
              <a:buNone/>
            </a:pPr>
            <a:r>
              <a:rPr lang="en-US" sz="1300" b="1" dirty="0">
                <a:solidFill>
                  <a:schemeClr val="tx2"/>
                </a:solidFill>
              </a:rPr>
              <a:t>Profile B only</a:t>
            </a:r>
            <a:endParaRPr lang="en-US" sz="1300" dirty="0"/>
          </a:p>
        </p:txBody>
      </p:sp>
      <p:sp>
        <p:nvSpPr>
          <p:cNvPr id="11" name="bullets"/>
          <p:cNvSpPr txBox="1"/>
          <p:nvPr/>
        </p:nvSpPr>
        <p:spPr>
          <a:xfrm>
            <a:off x="8229600" y="1737360"/>
            <a:ext cx="3246120" cy="19202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Credit record</a:t>
            </a:r>
            <a:endParaRPr lang="en-US" sz="1100" dirty="0"/>
          </a:p>
          <a:p>
            <a:pPr marL="152400" indent="-152400">
              <a:spcAft>
                <a:spcPts val="400"/>
              </a:spcAft>
              <a:buSzPct val="100000"/>
              <a:buChar char="•"/>
            </a:pPr>
            <a:r>
              <a:rPr lang="en-US" sz="1100" dirty="0">
                <a:solidFill>
                  <a:schemeClr val="tx1"/>
                </a:solidFill>
              </a:rPr>
              <a:t>Who issues the current card</a:t>
            </a:r>
            <a:endParaRPr lang="en-US" sz="1100" dirty="0"/>
          </a:p>
        </p:txBody>
      </p:sp>
      <p:sp>
        <p:nvSpPr>
          <p:cNvPr id="12" name="card never"/>
          <p:cNvSpPr/>
          <p:nvPr/>
        </p:nvSpPr>
        <p:spPr>
          <a:xfrm>
            <a:off x="457200" y="3931920"/>
            <a:ext cx="11247120" cy="2103120"/>
          </a:xfrm>
          <a:prstGeom prst="roundRect">
            <a:avLst>
              <a:gd name="adj" fmla="val 3478"/>
            </a:avLst>
          </a:prstGeom>
          <a:solidFill>
            <a:schemeClr val="bg2"/>
          </a:solidFill>
          <a:ln w="9525">
            <a:solidFill>
              <a:schemeClr val="accent5"/>
            </a:solidFill>
            <a:prstDash val="solid"/>
          </a:ln>
        </p:spPr>
      </p:sp>
      <p:sp>
        <p:nvSpPr>
          <p:cNvPr id="13" name="heading Never asked in eithe"/>
          <p:cNvSpPr txBox="1"/>
          <p:nvPr/>
        </p:nvSpPr>
        <p:spPr>
          <a:xfrm>
            <a:off x="640080" y="4005072"/>
            <a:ext cx="5303520" cy="365760"/>
          </a:xfrm>
          <a:prstGeom prst="rect">
            <a:avLst/>
          </a:prstGeom>
          <a:noFill/>
          <a:ln/>
        </p:spPr>
        <p:txBody>
          <a:bodyPr wrap="square" lIns="0" tIns="0" rIns="0" bIns="0" rtlCol="0" anchor="ctr"/>
          <a:lstStyle/>
          <a:p>
            <a:pPr indent="0" marL="0">
              <a:buNone/>
            </a:pPr>
            <a:r>
              <a:rPr lang="en-US" sz="1250" b="1" dirty="0">
                <a:solidFill>
                  <a:schemeClr val="tx2"/>
                </a:solidFill>
              </a:rPr>
              <a:t>Never asked in either run</a:t>
            </a:r>
            <a:endParaRPr lang="en-US" sz="1250" dirty="0"/>
          </a:p>
        </p:txBody>
      </p:sp>
      <p:sp>
        <p:nvSpPr>
          <p:cNvPr id="14" name="bullets"/>
          <p:cNvSpPr txBox="1"/>
          <p:nvPr/>
        </p:nvSpPr>
        <p:spPr>
          <a:xfrm>
            <a:off x="640080" y="4370832"/>
            <a:ext cx="5120640" cy="15544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Whether the card is needed for spending</a:t>
            </a:r>
            <a:endParaRPr lang="en-US" sz="1100" dirty="0"/>
          </a:p>
          <a:p>
            <a:pPr marL="152400" indent="-152400">
              <a:spcAft>
                <a:spcPts val="400"/>
              </a:spcAft>
              <a:buSzPct val="100000"/>
              <a:buChar char="•"/>
            </a:pPr>
            <a:r>
              <a:rPr lang="en-US" sz="1100" dirty="0">
                <a:solidFill>
                  <a:schemeClr val="tx1"/>
                </a:solidFill>
              </a:rPr>
              <a:t>Fee versus length preference (Fable inferred it from the monthly figure)</a:t>
            </a:r>
            <a:endParaRPr lang="en-US" sz="1100" dirty="0"/>
          </a:p>
        </p:txBody>
      </p:sp>
      <p:sp>
        <p:nvSpPr>
          <p:cNvPr id="15" name="heading What this tells us"/>
          <p:cNvSpPr txBox="1"/>
          <p:nvPr/>
        </p:nvSpPr>
        <p:spPr>
          <a:xfrm>
            <a:off x="6035040" y="4005072"/>
            <a:ext cx="5486400" cy="365760"/>
          </a:xfrm>
          <a:prstGeom prst="rect">
            <a:avLst/>
          </a:prstGeom>
          <a:noFill/>
          <a:ln/>
        </p:spPr>
        <p:txBody>
          <a:bodyPr wrap="square" lIns="0" tIns="0" rIns="0" bIns="0" rtlCol="0" anchor="ctr"/>
          <a:lstStyle/>
          <a:p>
            <a:pPr indent="0" marL="0">
              <a:buNone/>
            </a:pPr>
            <a:r>
              <a:rPr lang="en-US" sz="1250" b="1" dirty="0">
                <a:solidFill>
                  <a:schemeClr val="tx2"/>
                </a:solidFill>
              </a:rPr>
              <a:t>What this tells us</a:t>
            </a:r>
            <a:endParaRPr lang="en-US" sz="1250" dirty="0"/>
          </a:p>
        </p:txBody>
      </p:sp>
      <p:sp>
        <p:nvSpPr>
          <p:cNvPr id="16" name="reading"/>
          <p:cNvSpPr txBox="1"/>
          <p:nvPr/>
        </p:nvSpPr>
        <p:spPr>
          <a:xfrm>
            <a:off x="6035040" y="4370832"/>
            <a:ext cx="5486400" cy="1554480"/>
          </a:xfrm>
          <a:prstGeom prst="rect">
            <a:avLst/>
          </a:prstGeom>
          <a:noFill/>
          <a:ln/>
        </p:spPr>
        <p:txBody>
          <a:bodyPr wrap="square" lIns="0" tIns="0" rIns="0" bIns="0" rtlCol="0" anchor="t"/>
          <a:lstStyle/>
          <a:p>
            <a:pPr indent="0" marL="0">
              <a:buNone/>
            </a:pPr>
            <a:r>
              <a:rPr lang="en-US" sz="1100" dirty="0">
                <a:solidFill>
                  <a:schemeClr val="tx1"/>
                </a:solidFill>
              </a:rPr>
              <a:t>Fable is the only model that asked a Barclays-specific question in both runs. The cashback condition shaped its questions and, in B, its turn 1 verdict on the 36 month card before the user had said anything about affordability.</a:t>
            </a:r>
            <a:endParaRPr lang="en-US" sz="1100" dirty="0"/>
          </a:p>
        </p:txBody>
      </p:sp>
      <p:sp>
        <p:nvSpPr>
          <p:cNvPr id="17"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transcripts/A-fable.md and B-fable.md turn 1 (and turn 2 for Fable A). Falsified if a listed question is missing from the turn, or an unlisted one is present.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Fable 5.1: the sources it referred to, and which ones it opened</a:t>
            </a:r>
            <a:endParaRPr lang="en-US" sz="2400" dirty="0"/>
          </a:p>
        </p:txBody>
      </p:sp>
      <p:graphicFrame>
        <p:nvGraphicFramePr>
          <p:cNvPr id="28" name="sources table"/>
          <p:cNvGraphicFramePr>
            <a:graphicFrameLocks noGrp="1"/>
          </p:cNvGraphicFramePr>
          <p:nvPr>
            <p:extLst>
              <p:ext uri="{D42A27DB-BD31-4B8C-83A1-F6EECF244321}">
                <p14:modId xmlns:p14="http://schemas.microsoft.com/office/powerpoint/2010/main" val="1579011935"/>
              </p:ext>
            </p:extLst>
          </p:nvPr>
        </p:nvGraphicFramePr>
        <p:xfrm>
          <a:off x="457200" y="1143000"/>
          <a:ext cx="7863840" cy="914400"/>
        </p:xfrm>
        <a:graphic>
          <a:graphicData uri="http://schemas.openxmlformats.org/drawingml/2006/table">
            <a:tbl>
              <a:tblPr/>
              <a:tblGrid>
                <a:gridCol w="1737360"/>
                <a:gridCol w="1600200"/>
                <a:gridCol w="1600200"/>
                <a:gridCol w="2926080"/>
              </a:tblGrid>
              <a:tr h="274320">
                <a:tc>
                  <a:txBody>
                    <a:bodyPr/>
                    <a:lstStyle/>
                    <a:p>
                      <a:pPr indent="0" marL="0">
                        <a:buNone/>
                      </a:pPr>
                      <a:r>
                        <a:rPr lang="en-US" sz="850" b="1" dirty="0">
                          <a:solidFill>
                            <a:srgbClr val="FFFFFF"/>
                          </a:solidFill>
                        </a:rPr>
                        <a:t>Source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A</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Profile B</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it was used for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274320">
                <a:tc>
                  <a:txBody>
                    <a:bodyPr/>
                    <a:lstStyle/>
                    <a:p>
                      <a:pPr indent="0" marL="0">
                        <a:buNone/>
                      </a:pPr>
                      <a:r>
                        <a:rPr lang="en-US" sz="850" b="1" dirty="0">
                          <a:solidFill>
                            <a:srgbClr val="0A1F3D"/>
                          </a:solidFill>
                        </a:rPr>
                        <a:t>MoneySavingExpert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every turn ('carried the most weight')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every turn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'Definite' versus 'up to', the Barclaycard tiers, the Virgin 24m and Capital One figures, the fee-and-length rule of thumb</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Which? guide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2,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to 3</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Cross-check; TSB and Santander figures; Barclaycard 77% customer score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barclaycard.co.uk listing</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1 onward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1 onward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All five Barclaycard cards from turn 1, including the 22 month card; offer conditions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HSBC product page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turns 1,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never opened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In A, HSBC eligibility and 25.9% APR; in B, HSBC figures came from MSE only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Tesco Bank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BT page opened, turn 1 (no Low Fee figures on it)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both pages opened, turn 1</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Tesco figures; 'guaranteed' wording in B</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Virgin Money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hub opened T1; product page 404 twice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BT page opened, turn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Pages show 27.9% APR and 'up to 36 months'; the 24m 1.95% card, the pick in both runs, is not on Virgin's site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Nationwide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opened,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Exclusion: membership required; named as a possible first place if the user opens an account (A)</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Finder (Virgin page, dated July 2025)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opened, turn 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snippet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transfer rules and the 24m figures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74320">
                <a:tc>
                  <a:txBody>
                    <a:bodyPr/>
                    <a:lstStyle/>
                    <a:p>
                      <a:pPr indent="0" marL="0">
                        <a:buNone/>
                      </a:pPr>
                      <a:r>
                        <a:rPr lang="en-US" sz="850" b="1" dirty="0">
                          <a:solidFill>
                            <a:srgbClr val="0A1F3D"/>
                          </a:solidFill>
                        </a:rPr>
                        <a:t>Money to the Masses (Capital One review)</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not used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snippet, turn 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'Positioned for less-than-perfect credit', an older review</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1F3D"/>
                          </a:solidFill>
                        </a:rPr>
                        <a:t>Capital One; Lloyds; Barclaycard 12m product page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Capital One 404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Capital One 404 twice; Lloyds error; Barclaycard 12m page 404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Capital One figures from MSE only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4" name="heading What the model said "/>
          <p:cNvSpPr txBox="1"/>
          <p:nvPr/>
        </p:nvSpPr>
        <p:spPr>
          <a:xfrm>
            <a:off x="8549640" y="1143000"/>
            <a:ext cx="3200400" cy="365760"/>
          </a:xfrm>
          <a:prstGeom prst="rect">
            <a:avLst/>
          </a:prstGeom>
          <a:noFill/>
          <a:ln/>
        </p:spPr>
        <p:txBody>
          <a:bodyPr wrap="square" lIns="0" tIns="0" rIns="0" bIns="0" rtlCol="0" anchor="ctr"/>
          <a:lstStyle/>
          <a:p>
            <a:pPr indent="0" marL="0">
              <a:buNone/>
            </a:pPr>
            <a:r>
              <a:rPr lang="en-US" sz="1150" b="1" dirty="0">
                <a:solidFill>
                  <a:schemeClr val="tx2"/>
                </a:solidFill>
              </a:rPr>
              <a:t>What the model said it relied on most (turn 5)</a:t>
            </a:r>
            <a:endParaRPr lang="en-US" sz="1150" dirty="0"/>
          </a:p>
        </p:txBody>
      </p:sp>
      <p:sp>
        <p:nvSpPr>
          <p:cNvPr id="5" name="quote bg"/>
          <p:cNvSpPr/>
          <p:nvPr/>
        </p:nvSpPr>
        <p:spPr>
          <a:xfrm>
            <a:off x="8549640" y="1554480"/>
            <a:ext cx="3200400" cy="1600200"/>
          </a:xfrm>
          <a:prstGeom prst="rect">
            <a:avLst/>
          </a:prstGeom>
          <a:solidFill>
            <a:schemeClr val="bg2"/>
          </a:solidFill>
          <a:ln w="12700">
            <a:solidFill>
              <a:schemeClr val="bg2"/>
            </a:solidFill>
            <a:prstDash val="solid"/>
          </a:ln>
        </p:spPr>
      </p:sp>
      <p:sp>
        <p:nvSpPr>
          <p:cNvPr id="6" name="quote text"/>
          <p:cNvSpPr txBox="1"/>
          <p:nvPr/>
        </p:nvSpPr>
        <p:spPr>
          <a:xfrm>
            <a:off x="8659368" y="160934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“MoneySavingExpert's balance transfer page [...] It's the source for every 'definite' versus 'up to' classification, for the fee/length rule of thumb, and for the cards whose provider pages I couldn't reach.”</a:t>
            </a:r>
            <a:endParaRPr lang="en-US" sz="1050" dirty="0"/>
          </a:p>
          <a:p>
            <a:pPr indent="0" marL="0">
              <a:buNone/>
            </a:pPr>
            <a:r>
              <a:rPr lang="en-US" sz="900" b="1" dirty="0">
                <a:solidFill>
                  <a:schemeClr val="accent1"/>
                </a:solidFill>
              </a:rPr>
              <a:t>Fable, profile A, turn 5</a:t>
            </a:r>
            <a:endParaRPr lang="en-US" sz="1050" dirty="0"/>
          </a:p>
        </p:txBody>
      </p:sp>
      <p:sp>
        <p:nvSpPr>
          <p:cNvPr id="7" name="quote bg"/>
          <p:cNvSpPr/>
          <p:nvPr/>
        </p:nvSpPr>
        <p:spPr>
          <a:xfrm>
            <a:off x="8549640" y="3291840"/>
            <a:ext cx="3200400" cy="1600200"/>
          </a:xfrm>
          <a:prstGeom prst="rect">
            <a:avLst/>
          </a:prstGeom>
          <a:solidFill>
            <a:schemeClr val="bg2"/>
          </a:solidFill>
          <a:ln w="12700">
            <a:solidFill>
              <a:schemeClr val="bg2"/>
            </a:solidFill>
            <a:prstDash val="solid"/>
          </a:ln>
        </p:spPr>
      </p:sp>
      <p:sp>
        <p:nvSpPr>
          <p:cNvPr id="8" name="quote text"/>
          <p:cNvSpPr txBox="1"/>
          <p:nvPr/>
        </p:nvSpPr>
        <p:spPr>
          <a:xfrm>
            <a:off x="8659368" y="3346704"/>
            <a:ext cx="2980944" cy="1490472"/>
          </a:xfrm>
          <a:prstGeom prst="rect">
            <a:avLst/>
          </a:prstGeom>
          <a:noFill/>
          <a:ln/>
        </p:spPr>
        <p:txBody>
          <a:bodyPr wrap="square" lIns="0" tIns="0" rIns="0" bIns="0" rtlCol="0" anchor="t"/>
          <a:lstStyle/>
          <a:p>
            <a:pPr indent="0" marL="0">
              <a:buNone/>
            </a:pPr>
            <a:r>
              <a:rPr lang="en-US" sz="1050" i="1" dirty="0">
                <a:solidFill>
                  <a:schemeClr val="tx1"/>
                </a:solidFill>
              </a:rPr>
              <a:t>“MoneySavingExpert's balance transfer guide (dated 7 October 2026) carried the most weight, especially for the 'definite' versus 'up to' distinction and the fallback lengths, followed by Which? (1 October 2026).”</a:t>
            </a:r>
            <a:endParaRPr lang="en-US" sz="1050" dirty="0"/>
          </a:p>
          <a:p>
            <a:pPr indent="0" marL="0">
              <a:buNone/>
            </a:pPr>
            <a:r>
              <a:rPr lang="en-US" sz="900" b="1" dirty="0">
                <a:solidFill>
                  <a:schemeClr val="accent1"/>
                </a:solidFill>
              </a:rPr>
              <a:t>Fable, profile B, turn 5</a:t>
            </a:r>
            <a:endParaRPr lang="en-US" sz="1050" dirty="0"/>
          </a:p>
        </p:txBody>
      </p:sp>
      <p:sp>
        <p:nvSpPr>
          <p:cNvPr id="9" name="opened note"/>
          <p:cNvSpPr txBox="1"/>
          <p:nvPr/>
        </p:nvSpPr>
        <p:spPr>
          <a:xfrm>
            <a:off x="8549640" y="5074920"/>
            <a:ext cx="3200400" cy="731520"/>
          </a:xfrm>
          <a:prstGeom prst="rect">
            <a:avLst/>
          </a:prstGeom>
          <a:noFill/>
          <a:ln/>
        </p:spPr>
        <p:txBody>
          <a:bodyPr wrap="square" lIns="0" tIns="0" rIns="0" bIns="0" rtlCol="0" anchor="t"/>
          <a:lstStyle/>
          <a:p>
            <a:pPr indent="0" marL="0">
              <a:buNone/>
            </a:pPr>
            <a:r>
              <a:rPr lang="en-US" sz="850" i="1" dirty="0">
                <a:solidFill>
                  <a:schemeClr val="tx2"/>
                </a:solidFill>
              </a:rPr>
              <a:t>'Opened' means the URL appears in the SEARCH LOG with an (opened) marker. Every model said at turn 5 that opened pages were read through a summariser, not as raw HTML.</a:t>
            </a:r>
            <a:endParaRPr lang="en-US" sz="8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SEARCH LOG blocks in transcripts/A-fable.md and B-fable.md; turn 5 replies. Falsified if a URL marked 'opened' here is absent from the logs.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Fable 5.1: the options it gave, and why Barclaycard was or was not among them</a:t>
            </a:r>
            <a:endParaRPr lang="en-US" sz="2400" dirty="0"/>
          </a:p>
        </p:txBody>
      </p:sp>
      <p:sp>
        <p:nvSpPr>
          <p:cNvPr id="3" name="heading Profile A, clean cre"/>
          <p:cNvSpPr txBox="1"/>
          <p:nvPr/>
        </p:nvSpPr>
        <p:spPr>
          <a:xfrm>
            <a:off x="457200" y="1143000"/>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A, clean credit</a:t>
            </a:r>
            <a:endParaRPr lang="en-US" sz="1200" dirty="0"/>
          </a:p>
        </p:txBody>
      </p:sp>
      <p:graphicFrame>
        <p:nvGraphicFramePr>
          <p:cNvPr id="29" name="options A"/>
          <p:cNvGraphicFramePr>
            <a:graphicFrameLocks noGrp="1"/>
          </p:cNvGraphicFramePr>
          <p:nvPr>
            <p:extLst>
              <p:ext uri="{D42A27DB-BD31-4B8C-83A1-F6EECF244321}">
                <p14:modId xmlns:p14="http://schemas.microsoft.com/office/powerpoint/2010/main" val="1579011935"/>
              </p:ext>
            </p:extLst>
          </p:nvPr>
        </p:nvGraphicFramePr>
        <p:xfrm>
          <a:off x="457200" y="1490472"/>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HSBC 36m 3.09%; Virgin Money 24m 1.95%; Tesco Low Fee 20m 1.25%. Barclaycard 12m noted for £250 a month</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24m 1.95%; HSBC 36m; Barclaycard up to 22m 1.49% (3rd, the only unprompted Barclaycard top three in the study)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22m stays 3rd, joint 1st if the checker pre-approves 22 months; 36m 4th behind HSBC (over the ceiling, 'up to' against HSBC's 'definite'); 12m, 24m and 21m not suitable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24m. Switch to HSBC if Virgin's page shows other terms; to Barclaycard 22m if MSE pre-approves it and Virgin looks poor; to Nationwide if willing to open an account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5" name="heading Profile B, Fair cred"/>
          <p:cNvSpPr txBox="1"/>
          <p:nvPr/>
        </p:nvSpPr>
        <p:spPr>
          <a:xfrm>
            <a:off x="457200" y="3630168"/>
            <a:ext cx="7589520" cy="365760"/>
          </a:xfrm>
          <a:prstGeom prst="rect">
            <a:avLst/>
          </a:prstGeom>
          <a:noFill/>
          <a:ln/>
        </p:spPr>
        <p:txBody>
          <a:bodyPr wrap="square" lIns="0" tIns="0" rIns="0" bIns="0" rtlCol="0" anchor="ctr"/>
          <a:lstStyle/>
          <a:p>
            <a:pPr indent="0" marL="0">
              <a:buNone/>
            </a:pPr>
            <a:r>
              <a:rPr lang="en-US" sz="1200" b="1" dirty="0">
                <a:solidFill>
                  <a:schemeClr val="tx2"/>
                </a:solidFill>
              </a:rPr>
              <a:t>Profile B, Fair credit</a:t>
            </a:r>
            <a:endParaRPr lang="en-US" sz="1200" dirty="0"/>
          </a:p>
        </p:txBody>
      </p:sp>
      <p:graphicFrame>
        <p:nvGraphicFramePr>
          <p:cNvPr id="57" name="options B"/>
          <p:cNvGraphicFramePr>
            <a:graphicFrameLocks noGrp="1"/>
          </p:cNvGraphicFramePr>
          <p:nvPr>
            <p:extLst>
              <p:ext uri="{D42A27DB-BD31-4B8C-83A1-F6EECF244321}">
                <p14:modId xmlns:p14="http://schemas.microsoft.com/office/powerpoint/2010/main" val="1579011935"/>
              </p:ext>
            </p:extLst>
          </p:nvPr>
        </p:nvGraphicFramePr>
        <p:xfrm>
          <a:off x="457200" y="3977640"/>
          <a:ext cx="7589520" cy="914400"/>
        </p:xfrm>
        <a:graphic>
          <a:graphicData uri="http://schemas.openxmlformats.org/drawingml/2006/table">
            <a:tbl>
              <a:tblPr/>
              <a:tblGrid>
                <a:gridCol w="1097280"/>
                <a:gridCol w="6492240"/>
              </a:tblGrid>
              <a:tr h="384048">
                <a:tc>
                  <a:txBody>
                    <a:bodyPr/>
                    <a:lstStyle/>
                    <a:p>
                      <a:pPr indent="0" marL="0">
                        <a:buNone/>
                      </a:pPr>
                      <a:r>
                        <a:rPr lang="en-US" sz="850" b="1" dirty="0">
                          <a:solidFill>
                            <a:srgbClr val="FFFFFF"/>
                          </a:solidFill>
                        </a:rPr>
                        <a:t>Turn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What the model named, in rank order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850" b="1" dirty="0">
                          <a:solidFill>
                            <a:srgbClr val="0A1F3D"/>
                          </a:solidFill>
                        </a:rPr>
                        <a:t>T1 provisional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Tesco Low Fee 20m 1.25%; Barclaycard 12m no fee (2nd); Virgin Money 24m 1.95%. The 36 month card dismissed in the questions: '3.15% fee makes it a poor fit for £3,000'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T2 final three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24m; Capital One up to 36m 2.9%; Tesco Low Fee. Near misses: Barclaycard 22m ('up to', 60 day window), HSBC (over the ceiling)</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850" b="1" dirty="0">
                          <a:solidFill>
                            <a:srgbClr val="0A1F3D"/>
                          </a:solidFill>
                        </a:rPr>
                        <a:t>T3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36m joint 2nd if pre-approved, else 'the 18-month floor is a real risk with a Fair score'. 22m 4th behind Tesco: 'this card isn't in MSE's listing so I can't tell you what shorter period you might be given'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A1F3D"/>
                          </a:solidFill>
                        </a:rPr>
                        <a:t>T4 pick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Virgin Money 24m via MSE's calculator. Switch to Capital One if 30+ months; to Barclaycard 36m only on a pre-approval, 'not a good odds result'; to Tesco if confident of £175 to £200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7" name="heading In the model&amp;apos;s words"/>
          <p:cNvSpPr txBox="1"/>
          <p:nvPr/>
        </p:nvSpPr>
        <p:spPr>
          <a:xfrm>
            <a:off x="8275320" y="1143000"/>
            <a:ext cx="3474720" cy="365760"/>
          </a:xfrm>
          <a:prstGeom prst="rect">
            <a:avLst/>
          </a:prstGeom>
          <a:noFill/>
          <a:ln/>
        </p:spPr>
        <p:txBody>
          <a:bodyPr wrap="square" lIns="0" tIns="0" rIns="0" bIns="0" rtlCol="0" anchor="ctr"/>
          <a:lstStyle/>
          <a:p>
            <a:pPr indent="0" marL="0">
              <a:buNone/>
            </a:pPr>
            <a:r>
              <a:rPr lang="en-US" sz="1200" b="1" dirty="0">
                <a:solidFill>
                  <a:schemeClr val="tx2"/>
                </a:solidFill>
              </a:rPr>
              <a:t>In the model's words</a:t>
            </a:r>
            <a:endParaRPr lang="en-US" sz="1200" dirty="0"/>
          </a:p>
        </p:txBody>
      </p:sp>
      <p:sp>
        <p:nvSpPr>
          <p:cNvPr id="8" name="quote bg"/>
          <p:cNvSpPr/>
          <p:nvPr/>
        </p:nvSpPr>
        <p:spPr>
          <a:xfrm>
            <a:off x="8275320" y="1508760"/>
            <a:ext cx="3474720" cy="1069848"/>
          </a:xfrm>
          <a:prstGeom prst="rect">
            <a:avLst/>
          </a:prstGeom>
          <a:solidFill>
            <a:schemeClr val="bg2"/>
          </a:solidFill>
          <a:ln w="12700">
            <a:solidFill>
              <a:schemeClr val="bg2"/>
            </a:solidFill>
            <a:prstDash val="solid"/>
          </a:ln>
        </p:spPr>
      </p:sp>
      <p:sp>
        <p:nvSpPr>
          <p:cNvPr id="9" name="quote text"/>
          <p:cNvSpPr txBox="1"/>
          <p:nvPr/>
        </p:nvSpPr>
        <p:spPr>
          <a:xfrm>
            <a:off x="8385048" y="1563624"/>
            <a:ext cx="3255264" cy="960120"/>
          </a:xfrm>
          <a:prstGeom prst="rect">
            <a:avLst/>
          </a:prstGeom>
          <a:noFill/>
          <a:ln/>
        </p:spPr>
        <p:txBody>
          <a:bodyPr wrap="square" lIns="0" tIns="0" rIns="0" bIns="0" rtlCol="0" anchor="t"/>
          <a:lstStyle/>
          <a:p>
            <a:pPr indent="0" marL="0">
              <a:buNone/>
            </a:pPr>
            <a:r>
              <a:rPr lang="en-US" sz="1050" i="1" dirty="0">
                <a:solidFill>
                  <a:schemeClr val="tx1"/>
                </a:solidFill>
              </a:rPr>
              <a:t>“For a one-shot application, certainty matters more than £14.”</a:t>
            </a:r>
            <a:endParaRPr lang="en-US" sz="1050" dirty="0"/>
          </a:p>
          <a:p>
            <a:pPr indent="0" marL="0">
              <a:buNone/>
            </a:pPr>
            <a:r>
              <a:rPr lang="en-US" sz="900" b="1" dirty="0">
                <a:solidFill>
                  <a:schemeClr val="accent1"/>
                </a:solidFill>
              </a:rPr>
              <a:t>Profile A, turn 4, Virgin 24m over Barclaycard 22m</a:t>
            </a:r>
            <a:endParaRPr lang="en-US" sz="1050" dirty="0"/>
          </a:p>
        </p:txBody>
      </p:sp>
      <p:sp>
        <p:nvSpPr>
          <p:cNvPr id="10" name="quote bg"/>
          <p:cNvSpPr/>
          <p:nvPr/>
        </p:nvSpPr>
        <p:spPr>
          <a:xfrm>
            <a:off x="8275320" y="2670048"/>
            <a:ext cx="3474720" cy="1069848"/>
          </a:xfrm>
          <a:prstGeom prst="rect">
            <a:avLst/>
          </a:prstGeom>
          <a:solidFill>
            <a:schemeClr val="bg2"/>
          </a:solidFill>
          <a:ln w="12700">
            <a:solidFill>
              <a:schemeClr val="bg2"/>
            </a:solidFill>
            <a:prstDash val="solid"/>
          </a:ln>
        </p:spPr>
      </p:sp>
      <p:sp>
        <p:nvSpPr>
          <p:cNvPr id="11" name="quote text"/>
          <p:cNvSpPr txBox="1"/>
          <p:nvPr/>
        </p:nvSpPr>
        <p:spPr>
          <a:xfrm>
            <a:off x="8385048" y="2724912"/>
            <a:ext cx="3255264" cy="960120"/>
          </a:xfrm>
          <a:prstGeom prst="rect">
            <a:avLst/>
          </a:prstGeom>
          <a:noFill/>
          <a:ln/>
        </p:spPr>
        <p:txBody>
          <a:bodyPr wrap="square" lIns="0" tIns="0" rIns="0" bIns="0" rtlCol="0" anchor="t"/>
          <a:lstStyle/>
          <a:p>
            <a:pPr indent="0" marL="0">
              <a:buNone/>
            </a:pPr>
            <a:r>
              <a:rPr lang="en-US" sz="1050" i="1" dirty="0">
                <a:solidFill>
                  <a:schemeClr val="tx1"/>
                </a:solidFill>
              </a:rPr>
              <a:t>“If the checker pre-approves you for the full 22 months, I'd move it to joint first with Virgin Money: it's cheaper and the cushion is nearly the same.”</a:t>
            </a:r>
            <a:endParaRPr lang="en-US" sz="1050" dirty="0"/>
          </a:p>
          <a:p>
            <a:pPr indent="0" marL="0">
              <a:buNone/>
            </a:pPr>
            <a:r>
              <a:rPr lang="en-US" sz="900" b="1" dirty="0">
                <a:solidFill>
                  <a:schemeClr val="accent1"/>
                </a:solidFill>
              </a:rPr>
              <a:t>Profile A, turn 3</a:t>
            </a:r>
            <a:endParaRPr lang="en-US" sz="1050" dirty="0"/>
          </a:p>
        </p:txBody>
      </p:sp>
      <p:sp>
        <p:nvSpPr>
          <p:cNvPr id="12" name="quote bg"/>
          <p:cNvSpPr/>
          <p:nvPr/>
        </p:nvSpPr>
        <p:spPr>
          <a:xfrm>
            <a:off x="8275320" y="3831336"/>
            <a:ext cx="3474720" cy="1069848"/>
          </a:xfrm>
          <a:prstGeom prst="rect">
            <a:avLst/>
          </a:prstGeom>
          <a:solidFill>
            <a:schemeClr val="bg2"/>
          </a:solidFill>
          <a:ln w="12700">
            <a:solidFill>
              <a:schemeClr val="bg2"/>
            </a:solidFill>
            <a:prstDash val="solid"/>
          </a:ln>
        </p:spPr>
      </p:sp>
      <p:sp>
        <p:nvSpPr>
          <p:cNvPr id="13" name="quote text"/>
          <p:cNvSpPr txBox="1"/>
          <p:nvPr/>
        </p:nvSpPr>
        <p:spPr>
          <a:xfrm>
            <a:off x="8385048" y="3886200"/>
            <a:ext cx="3255264" cy="960120"/>
          </a:xfrm>
          <a:prstGeom prst="rect">
            <a:avLst/>
          </a:prstGeom>
          <a:noFill/>
          <a:ln/>
        </p:spPr>
        <p:txBody>
          <a:bodyPr wrap="square" lIns="0" tIns="0" rIns="0" bIns="0" rtlCol="0" anchor="t"/>
          <a:lstStyle/>
          <a:p>
            <a:pPr indent="0" marL="0">
              <a:buNone/>
            </a:pPr>
            <a:r>
              <a:rPr lang="en-US" sz="1050" i="1" dirty="0">
                <a:solidFill>
                  <a:schemeClr val="tx1"/>
                </a:solidFill>
              </a:rPr>
              <a:t>“Paying £7 more than Tesco for two months that aren't guaranteed isn't a good trade for someone in the Fair band.”</a:t>
            </a:r>
            <a:endParaRPr lang="en-US" sz="1050" dirty="0"/>
          </a:p>
          <a:p>
            <a:pPr indent="0" marL="0">
              <a:buNone/>
            </a:pPr>
            <a:r>
              <a:rPr lang="en-US" sz="900" b="1" dirty="0">
                <a:solidFill>
                  <a:schemeClr val="accent1"/>
                </a:solidFill>
              </a:rPr>
              <a:t>Profile B, turn 3, on the 22 month card</a:t>
            </a:r>
            <a:endParaRPr lang="en-US" sz="1050" dirty="0"/>
          </a:p>
        </p:txBody>
      </p:sp>
      <p:sp>
        <p:nvSpPr>
          <p:cNvPr id="14" name="quote bg"/>
          <p:cNvSpPr/>
          <p:nvPr/>
        </p:nvSpPr>
        <p:spPr>
          <a:xfrm>
            <a:off x="8275320" y="4992624"/>
            <a:ext cx="3474720" cy="1069848"/>
          </a:xfrm>
          <a:prstGeom prst="rect">
            <a:avLst/>
          </a:prstGeom>
          <a:solidFill>
            <a:schemeClr val="bg2"/>
          </a:solidFill>
          <a:ln w="12700">
            <a:solidFill>
              <a:schemeClr val="bg2"/>
            </a:solidFill>
            <a:prstDash val="solid"/>
          </a:ln>
        </p:spPr>
      </p:sp>
      <p:sp>
        <p:nvSpPr>
          <p:cNvPr id="15" name="quote text"/>
          <p:cNvSpPr txBox="1"/>
          <p:nvPr/>
        </p:nvSpPr>
        <p:spPr>
          <a:xfrm>
            <a:off x="8385048" y="5047488"/>
            <a:ext cx="3255264" cy="960120"/>
          </a:xfrm>
          <a:prstGeom prst="rect">
            <a:avLst/>
          </a:prstGeom>
          <a:noFill/>
          <a:ln/>
        </p:spPr>
        <p:txBody>
          <a:bodyPr wrap="square" lIns="0" tIns="0" rIns="0" bIns="0" rtlCol="0" anchor="t"/>
          <a:lstStyle/>
          <a:p>
            <a:pPr indent="0" marL="0">
              <a:buNone/>
            </a:pPr>
            <a:r>
              <a:rPr lang="en-US" sz="1050" i="1" dirty="0">
                <a:solidFill>
                  <a:schemeClr val="tx1"/>
                </a:solidFill>
              </a:rPr>
              <a:t>“None of the provider pages [...] publish the proportion of applicants who get the headline 0% length. That's the information that would most have sharpened the advice for your situation.”</a:t>
            </a:r>
            <a:endParaRPr lang="en-US" sz="1050" dirty="0"/>
          </a:p>
          <a:p>
            <a:pPr indent="0" marL="0">
              <a:buNone/>
            </a:pPr>
            <a:r>
              <a:rPr lang="en-US" sz="900" b="1" dirty="0">
                <a:solidFill>
                  <a:schemeClr val="accent1"/>
                </a:solidFill>
              </a:rPr>
              <a:t>Profile B, turn 5</a:t>
            </a:r>
            <a:endParaRPr lang="en-US" sz="1050" dirty="0"/>
          </a:p>
        </p:txBody>
      </p:sp>
      <p:sp>
        <p:nvSpPr>
          <p:cNvPr id="16"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transcripts/A-fable.md and B-fable.md turns 1 to 4; quotes verbatim from the turn named. Falsified if the ranking at a turn differs from the row shown.</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Fable 5.1: what would change its answer for Barclaycard</a:t>
            </a:r>
            <a:endParaRPr lang="en-US" sz="2400" dirty="0"/>
          </a:p>
        </p:txBody>
      </p:sp>
      <p:sp>
        <p:nvSpPr>
          <p:cNvPr id="3" name="num 1"/>
          <p:cNvSpPr/>
          <p:nvPr/>
        </p:nvSpPr>
        <p:spPr>
          <a:xfrm>
            <a:off x="457200" y="1216152"/>
            <a:ext cx="329184" cy="329184"/>
          </a:xfrm>
          <a:prstGeom prst="ellipse">
            <a:avLst/>
          </a:prstGeom>
          <a:solidFill>
            <a:schemeClr val="accent1"/>
          </a:solidFill>
          <a:ln w="12700">
            <a:solidFill>
              <a:schemeClr val="accent1"/>
            </a:solidFill>
            <a:prstDash val="solid"/>
          </a:ln>
        </p:spPr>
      </p:sp>
      <p:sp>
        <p:nvSpPr>
          <p:cNvPr id="4" name="num text 1"/>
          <p:cNvSpPr txBox="1"/>
          <p:nvPr/>
        </p:nvSpPr>
        <p:spPr>
          <a:xfrm>
            <a:off x="457200" y="121615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improve 0"/>
          <p:cNvSpPr txBox="1"/>
          <p:nvPr/>
        </p:nvSpPr>
        <p:spPr>
          <a:xfrm>
            <a:off x="914400" y="1188720"/>
            <a:ext cx="6583680" cy="822960"/>
          </a:xfrm>
          <a:prstGeom prst="rect">
            <a:avLst/>
          </a:prstGeom>
          <a:noFill/>
          <a:ln/>
        </p:spPr>
        <p:txBody>
          <a:bodyPr wrap="square" lIns="0" tIns="0" rIns="0" bIns="0" rtlCol="0" anchor="t"/>
          <a:lstStyle/>
          <a:p>
            <a:pPr indent="0" marL="0">
              <a:buNone/>
            </a:pPr>
            <a:r>
              <a:rPr lang="en-US" sz="1050" b="1" dirty="0">
                <a:solidFill>
                  <a:schemeClr val="tx2"/>
                </a:solidFill>
              </a:rPr>
              <a:t>Publish the share of accepted customers who get the full term, on every card and on the listing page. </a:t>
            </a:r>
            <a:pPr indent="0" marL="0">
              <a:buNone/>
            </a:pPr>
            <a:r>
              <a:rPr lang="en-US" sz="1050" dirty="0">
                <a:solidFill>
                  <a:schemeClr val="tx1"/>
                </a:solidFill>
              </a:rPr>
              <a:t>Fable B named this as the single piece of information that would most have sharpened its advice. Barclaycard already publishes it for the 22 month card, inside a collapsed accordion Fable never quoted. </a:t>
            </a:r>
            <a:pPr indent="0" marL="0">
              <a:buNone/>
            </a:pPr>
            <a:r>
              <a:rPr lang="en-US" sz="900" dirty="0">
                <a:solidFill>
                  <a:schemeClr val="accent2"/>
                </a:solidFill>
              </a:rPr>
              <a:t>(B, turn 5)</a:t>
            </a:r>
            <a:endParaRPr lang="en-US" sz="1050" dirty="0"/>
          </a:p>
        </p:txBody>
      </p:sp>
      <p:sp>
        <p:nvSpPr>
          <p:cNvPr id="6" name="num 2"/>
          <p:cNvSpPr/>
          <p:nvPr/>
        </p:nvSpPr>
        <p:spPr>
          <a:xfrm>
            <a:off x="457200" y="2066544"/>
            <a:ext cx="329184" cy="329184"/>
          </a:xfrm>
          <a:prstGeom prst="ellipse">
            <a:avLst/>
          </a:prstGeom>
          <a:solidFill>
            <a:schemeClr val="accent1"/>
          </a:solidFill>
          <a:ln w="12700">
            <a:solidFill>
              <a:schemeClr val="accent1"/>
            </a:solidFill>
            <a:prstDash val="solid"/>
          </a:ln>
        </p:spPr>
      </p:sp>
      <p:sp>
        <p:nvSpPr>
          <p:cNvPr id="7" name="num text 2"/>
          <p:cNvSpPr txBox="1"/>
          <p:nvPr/>
        </p:nvSpPr>
        <p:spPr>
          <a:xfrm>
            <a:off x="457200" y="206654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improve 1"/>
          <p:cNvSpPr txBox="1"/>
          <p:nvPr/>
        </p:nvSpPr>
        <p:spPr>
          <a:xfrm>
            <a:off x="914400" y="2039112"/>
            <a:ext cx="6583680" cy="822960"/>
          </a:xfrm>
          <a:prstGeom prst="rect">
            <a:avLst/>
          </a:prstGeom>
          <a:noFill/>
          <a:ln/>
        </p:spPr>
        <p:txBody>
          <a:bodyPr wrap="square" lIns="0" tIns="0" rIns="0" bIns="0" rtlCol="0" anchor="t"/>
          <a:lstStyle/>
          <a:p>
            <a:pPr indent="0" marL="0">
              <a:buNone/>
            </a:pPr>
            <a:r>
              <a:rPr lang="en-US" sz="1050" b="1" dirty="0">
                <a:solidFill>
                  <a:schemeClr val="tx2"/>
                </a:solidFill>
              </a:rPr>
              <a:t>Get the 22 month card into MSE's table with its tier range. </a:t>
            </a:r>
            <a:pPr indent="0" marL="0">
              <a:buNone/>
            </a:pPr>
            <a:r>
              <a:rPr lang="en-US" sz="1050" dirty="0">
                <a:solidFill>
                  <a:schemeClr val="tx1"/>
                </a:solidFill>
              </a:rPr>
              <a:t>'This card isn't in MSE's listing so I can't tell you what shorter period you might be given' is why it ranked 4th in B. In A, with clean credit, the same card reached the unprompted top three. </a:t>
            </a:r>
            <a:pPr indent="0" marL="0">
              <a:buNone/>
            </a:pPr>
            <a:r>
              <a:rPr lang="en-US" sz="900" dirty="0">
                <a:solidFill>
                  <a:schemeClr val="accent2"/>
                </a:solidFill>
              </a:rPr>
              <a:t>(B turn 3; A turn 2)</a:t>
            </a:r>
            <a:endParaRPr lang="en-US" sz="1050" dirty="0"/>
          </a:p>
        </p:txBody>
      </p:sp>
      <p:sp>
        <p:nvSpPr>
          <p:cNvPr id="9" name="num 3"/>
          <p:cNvSpPr/>
          <p:nvPr/>
        </p:nvSpPr>
        <p:spPr>
          <a:xfrm>
            <a:off x="457200" y="2916936"/>
            <a:ext cx="329184" cy="329184"/>
          </a:xfrm>
          <a:prstGeom prst="ellipse">
            <a:avLst/>
          </a:prstGeom>
          <a:solidFill>
            <a:schemeClr val="accent1"/>
          </a:solidFill>
          <a:ln w="12700">
            <a:solidFill>
              <a:schemeClr val="accent1"/>
            </a:solidFill>
            <a:prstDash val="solid"/>
          </a:ln>
        </p:spPr>
      </p:sp>
      <p:sp>
        <p:nvSpPr>
          <p:cNvPr id="10" name="num text 3"/>
          <p:cNvSpPr txBox="1"/>
          <p:nvPr/>
        </p:nvSpPr>
        <p:spPr>
          <a:xfrm>
            <a:off x="457200" y="29169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improve 2"/>
          <p:cNvSpPr txBox="1"/>
          <p:nvPr/>
        </p:nvSpPr>
        <p:spPr>
          <a:xfrm>
            <a:off x="914400" y="2889504"/>
            <a:ext cx="6583680" cy="822960"/>
          </a:xfrm>
          <a:prstGeom prst="rect">
            <a:avLst/>
          </a:prstGeom>
          <a:noFill/>
          <a:ln/>
        </p:spPr>
        <p:txBody>
          <a:bodyPr wrap="square" lIns="0" tIns="0" rIns="0" bIns="0" rtlCol="0" anchor="t"/>
          <a:lstStyle/>
          <a:p>
            <a:pPr indent="0" marL="0">
              <a:buNone/>
            </a:pPr>
            <a:r>
              <a:rPr lang="en-US" sz="1050" b="1" dirty="0">
                <a:solidFill>
                  <a:schemeClr val="tx2"/>
                </a:solidFill>
              </a:rPr>
              <a:t>State on the listing page that no Barclays account is needed, and keep the cashback condition inside the offer text. </a:t>
            </a:r>
            <a:pPr indent="0" marL="0">
              <a:buNone/>
            </a:pPr>
            <a:r>
              <a:rPr lang="en-US" sz="1050" dirty="0">
                <a:solidFill>
                  <a:schemeClr val="tx1"/>
                </a:solidFill>
              </a:rPr>
              <a:t>The cashback condition made Fable ask about a Barclays account in both runs and dismiss the 36 month card at turn 1 in B. </a:t>
            </a:r>
            <a:pPr indent="0" marL="0">
              <a:buNone/>
            </a:pPr>
            <a:r>
              <a:rPr lang="en-US" sz="900" dirty="0">
                <a:solidFill>
                  <a:schemeClr val="accent2"/>
                </a:solidFill>
              </a:rPr>
              <a:t>(A and B, turn 1)</a:t>
            </a:r>
            <a:endParaRPr lang="en-US" sz="1050" dirty="0"/>
          </a:p>
        </p:txBody>
      </p:sp>
      <p:sp>
        <p:nvSpPr>
          <p:cNvPr id="12" name="num 4"/>
          <p:cNvSpPr/>
          <p:nvPr/>
        </p:nvSpPr>
        <p:spPr>
          <a:xfrm>
            <a:off x="457200" y="3767328"/>
            <a:ext cx="329184" cy="329184"/>
          </a:xfrm>
          <a:prstGeom prst="ellipse">
            <a:avLst/>
          </a:prstGeom>
          <a:solidFill>
            <a:schemeClr val="accent1"/>
          </a:solidFill>
          <a:ln w="12700">
            <a:solidFill>
              <a:schemeClr val="accent1"/>
            </a:solidFill>
            <a:prstDash val="solid"/>
          </a:ln>
        </p:spPr>
      </p:sp>
      <p:sp>
        <p:nvSpPr>
          <p:cNvPr id="13" name="num text 4"/>
          <p:cNvSpPr txBox="1"/>
          <p:nvPr/>
        </p:nvSpPr>
        <p:spPr>
          <a:xfrm>
            <a:off x="457200" y="37673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4" name="improve 3"/>
          <p:cNvSpPr txBox="1"/>
          <p:nvPr/>
        </p:nvSpPr>
        <p:spPr>
          <a:xfrm>
            <a:off x="914400" y="3739896"/>
            <a:ext cx="6583680" cy="822960"/>
          </a:xfrm>
          <a:prstGeom prst="rect">
            <a:avLst/>
          </a:prstGeom>
          <a:noFill/>
          <a:ln/>
        </p:spPr>
        <p:txBody>
          <a:bodyPr wrap="square" lIns="0" tIns="0" rIns="0" bIns="0" rtlCol="0" anchor="t"/>
          <a:lstStyle/>
          <a:p>
            <a:pPr indent="0" marL="0">
              <a:buNone/>
            </a:pPr>
            <a:r>
              <a:rPr lang="en-US" sz="1050" b="1" dirty="0">
                <a:solidFill>
                  <a:schemeClr val="tx2"/>
                </a:solidFill>
              </a:rPr>
              <a:t>Publish minimum age, income and credit criteria, and say the 60 day window runs from account opening. </a:t>
            </a:r>
            <a:pPr indent="0" marL="0">
              <a:buNone/>
            </a:pPr>
            <a:r>
              <a:rPr lang="en-US" sz="1050" dirty="0">
                <a:solidFill>
                  <a:schemeClr val="tx1"/>
                </a:solidFill>
              </a:rPr>
              <a:t>Fable A listed both as missing from Barclaycard's page; Fable B listed the absence of any fallback range for the 22 month card. </a:t>
            </a:r>
            <a:pPr indent="0" marL="0">
              <a:buNone/>
            </a:pPr>
            <a:r>
              <a:rPr lang="en-US" sz="900" dirty="0">
                <a:solidFill>
                  <a:schemeClr val="accent2"/>
                </a:solidFill>
              </a:rPr>
              <a:t>(A and B, turn 5)</a:t>
            </a:r>
            <a:endParaRPr lang="en-US" sz="1050" dirty="0"/>
          </a:p>
        </p:txBody>
      </p:sp>
      <p:sp>
        <p:nvSpPr>
          <p:cNvPr id="15" name="num 5"/>
          <p:cNvSpPr/>
          <p:nvPr/>
        </p:nvSpPr>
        <p:spPr>
          <a:xfrm>
            <a:off x="457200" y="4617720"/>
            <a:ext cx="329184" cy="329184"/>
          </a:xfrm>
          <a:prstGeom prst="ellipse">
            <a:avLst/>
          </a:prstGeom>
          <a:solidFill>
            <a:schemeClr val="accent1"/>
          </a:solidFill>
          <a:ln w="12700">
            <a:solidFill>
              <a:schemeClr val="accent1"/>
            </a:solidFill>
            <a:prstDash val="solid"/>
          </a:ln>
        </p:spPr>
      </p:sp>
      <p:sp>
        <p:nvSpPr>
          <p:cNvPr id="16" name="num text 5"/>
          <p:cNvSpPr txBox="1"/>
          <p:nvPr/>
        </p:nvSpPr>
        <p:spPr>
          <a:xfrm>
            <a:off x="457200" y="46177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7" name="improve 4"/>
          <p:cNvSpPr txBox="1"/>
          <p:nvPr/>
        </p:nvSpPr>
        <p:spPr>
          <a:xfrm>
            <a:off x="914400" y="4590288"/>
            <a:ext cx="6583680" cy="822960"/>
          </a:xfrm>
          <a:prstGeom prst="rect">
            <a:avLst/>
          </a:prstGeom>
          <a:noFill/>
          <a:ln/>
        </p:spPr>
        <p:txBody>
          <a:bodyPr wrap="square" lIns="0" tIns="0" rIns="0" bIns="0" rtlCol="0" anchor="t"/>
          <a:lstStyle/>
          <a:p>
            <a:pPr indent="0" marL="0">
              <a:buNone/>
            </a:pPr>
            <a:r>
              <a:rPr lang="en-US" sz="1050" b="1" dirty="0">
                <a:solidFill>
                  <a:schemeClr val="tx2"/>
                </a:solidFill>
              </a:rPr>
              <a:t>Fix the 12 month card's product page. </a:t>
            </a:r>
            <a:pPr indent="0" marL="0">
              <a:buNone/>
            </a:pPr>
            <a:r>
              <a:rPr lang="en-US" sz="1050" dirty="0">
                <a:solidFill>
                  <a:schemeClr val="tx1"/>
                </a:solidFill>
              </a:rPr>
              <a:t>It returned 404 in B; the figures were taken from the listing page instead. </a:t>
            </a:r>
            <a:pPr indent="0" marL="0">
              <a:buNone/>
            </a:pPr>
            <a:r>
              <a:rPr lang="en-US" sz="900" dirty="0">
                <a:solidFill>
                  <a:schemeClr val="accent2"/>
                </a:solidFill>
              </a:rPr>
              <a:t>(B, turn 5)</a:t>
            </a:r>
            <a:endParaRPr lang="en-US" sz="1050" dirty="0"/>
          </a:p>
        </p:txBody>
      </p:sp>
      <p:pic>
        <p:nvPicPr>
          <p:cNvPr id="18" name="E5_bc22_seven_in_ten.jpg" descr="/home/user/cc_yolo_project/Oct11_3pm/deck/evidence/E5_bc22_seven_in_ten.jpg">    </p:cNvPr>
          <p:cNvPicPr>
            <a:picLocks noChangeAspect="1"/>
          </p:cNvPicPr>
          <p:nvPr/>
        </p:nvPicPr>
        <p:blipFill>
          <a:blip r:embed="rId1"/>
          <a:stretch>
            <a:fillRect/>
          </a:stretch>
        </p:blipFill>
        <p:spPr>
          <a:xfrm>
            <a:off x="7589520" y="1188720"/>
            <a:ext cx="4160520" cy="2762845"/>
          </a:xfrm>
          <a:prstGeom prst="rect">
            <a:avLst/>
          </a:prstGeom>
          <a:effectLst>
            <a:outerShdw sx="100000" sy="100000" kx="0" ky="0" algn="bl" rotWithShape="0" blurRad="50800" dist="25400" dir="2700000">
              <a:srgbClr val="0B2E59">
                <a:alpha val="25000"/>
              </a:srgbClr>
            </a:outerShdw>
          </a:effectLst>
        </p:spPr>
      </p:pic>
      <p:sp>
        <p:nvSpPr>
          <p:cNvPr id="19" name="improve caption"/>
          <p:cNvSpPr txBox="1"/>
          <p:nvPr/>
        </p:nvSpPr>
        <p:spPr>
          <a:xfrm>
            <a:off x="7589520" y="3997285"/>
            <a:ext cx="4160520" cy="457200"/>
          </a:xfrm>
          <a:prstGeom prst="rect">
            <a:avLst/>
          </a:prstGeom>
          <a:noFill/>
          <a:ln/>
        </p:spPr>
        <p:txBody>
          <a:bodyPr wrap="square" lIns="0" tIns="0" rIns="0" bIns="0" rtlCol="0" anchor="ctr"/>
          <a:lstStyle/>
          <a:p>
            <a:pPr indent="0" marL="0">
              <a:buNone/>
            </a:pPr>
            <a:r>
              <a:rPr lang="en-US" sz="900" i="1" dirty="0">
                <a:solidFill>
                  <a:schemeClr val="tx2"/>
                </a:solidFill>
              </a:rPr>
              <a:t>The 22 month page already states the full-term share, inside an accordion; no run quoted it</a:t>
            </a:r>
            <a:endParaRPr lang="en-US" sz="900" dirty="0"/>
          </a:p>
        </p:txBody>
      </p:sp>
      <p:sp>
        <p:nvSpPr>
          <p:cNvPr id="20" name="test box"/>
          <p:cNvSpPr/>
          <p:nvPr/>
        </p:nvSpPr>
        <p:spPr>
          <a:xfrm>
            <a:off x="457200" y="5532120"/>
            <a:ext cx="11247120" cy="566928"/>
          </a:xfrm>
          <a:prstGeom prst="roundRect">
            <a:avLst>
              <a:gd name="adj" fmla="val 12903"/>
            </a:avLst>
          </a:prstGeom>
          <a:solidFill>
            <a:schemeClr val="bg2"/>
          </a:solidFill>
          <a:ln w="9525">
            <a:solidFill>
              <a:schemeClr val="accent5"/>
            </a:solidFill>
            <a:prstDash val="solid"/>
          </a:ln>
        </p:spPr>
      </p:sp>
      <p:sp>
        <p:nvSpPr>
          <p:cNvPr id="21" name="test text"/>
          <p:cNvSpPr txBox="1"/>
          <p:nvPr/>
        </p:nvSpPr>
        <p:spPr>
          <a:xfrm>
            <a:off x="594360" y="5577840"/>
            <a:ext cx="10972800" cy="475488"/>
          </a:xfrm>
          <a:prstGeom prst="rect">
            <a:avLst/>
          </a:prstGeom>
          <a:noFill/>
          <a:ln/>
        </p:spPr>
        <p:txBody>
          <a:bodyPr wrap="square" lIns="0" tIns="0" rIns="0" bIns="0" rtlCol="0" anchor="t"/>
          <a:lstStyle/>
          <a:p>
            <a:pPr indent="0" marL="0">
              <a:buNone/>
            </a:pPr>
            <a:r>
              <a:rPr lang="en-US" sz="1050" b="1" dirty="0">
                <a:solidFill>
                  <a:schemeClr val="accent1"/>
                </a:solidFill>
              </a:rPr>
              <a:t>TEST IT  </a:t>
            </a:r>
            <a:pPr indent="0" marL="0">
              <a:buNone/>
            </a:pPr>
            <a:r>
              <a:rPr lang="en-US" sz="1050" dirty="0">
                <a:solidFill>
                  <a:schemeClr val="tx1"/>
                </a:solidFill>
              </a:rPr>
              <a:t>Read transcripts/B-fable.md turn 5, last bullet, and turn 3 on the 22 month card. Expand 'Why is it up to 22 months?' on barclaycard.co.uk/personal/credit-cards/mid-bt-platinum: falsified if the 7 in 10 statement is absent, or if the same statement appears on the 36 month card.</a:t>
            </a:r>
            <a:endParaRPr lang="en-US" sz="1050" dirty="0"/>
          </a:p>
        </p:txBody>
      </p:sp>
      <p:sp>
        <p:nvSpPr>
          <p:cNvPr id="22"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transcripts/A-fable.md and B-fable.md at the turns in brackets; deck/evidence for the screenshot.</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Across the four models: what they asked, what they read, and where Barclaycard ended up</a:t>
            </a:r>
            <a:endParaRPr lang="en-US" sz="2400" dirty="0"/>
          </a:p>
        </p:txBody>
      </p:sp>
      <p:graphicFrame>
        <p:nvGraphicFramePr>
          <p:cNvPr id="31" name="cross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468880"/>
                <a:gridCol w="2194560"/>
                <a:gridCol w="2194560"/>
                <a:gridCol w="2194560"/>
                <a:gridCol w="2194560"/>
              </a:tblGrid>
              <a:tr h="384048">
                <a:tc>
                  <a:txBody>
                    <a:bodyPr/>
                    <a:lstStyle/>
                    <a:p>
                      <a:pPr indent="0" marL="0">
                        <a:buNone/>
                      </a:pP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Haiku 5.5</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Sonnet 5.5</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Opus 5.5</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Fable 5.1</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900" b="1" dirty="0">
                          <a:solidFill>
                            <a:srgbClr val="0A1F3D"/>
                          </a:solidFill>
                        </a:rPr>
                        <a:t>Clarifying questions at turn 1 (A / B)</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3 / 2</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4 / 4</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4 / 4</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2 / 4</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0A1F3D"/>
                          </a:solidFill>
                        </a:rPr>
                        <a:t>Asked in both runs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Monthly amount; credit standing</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Monthly amount; credit; card issuer</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Card issuer; monthly amount; credit history</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Monthly amount; Barclays current account</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900" b="1" dirty="0">
                          <a:solidFill>
                            <a:srgbClr val="0A1F3D"/>
                          </a:solidFill>
                        </a:rPr>
                        <a:t>Page opened first</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Which?</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Which?</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MSE (A); TSB and HSBC (B)</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MSE, then barclaycard.co.uk</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0A1F3D"/>
                          </a:solidFill>
                        </a:rPr>
                        <a:t>Reached MSE?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B only</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Never</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A only</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Both</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900" b="1" dirty="0">
                          <a:solidFill>
                            <a:srgbClr val="0A1F3D"/>
                          </a:solidFill>
                        </a:rPr>
                        <a:t>Barclaycard page read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barclays.co.uk (A); barclaycard.co.uk (B), turn 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barclaycard.co.uk, turn 3, after a 404</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search page (A); listing page (B), turn 3; product page 404</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barclaycard.co.uk, turn 1, both runs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0A1F3D"/>
                          </a:solidFill>
                        </a:rPr>
                        <a:t>Barclaycard in unprompted final top three (T2)</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No / No</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No / No</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No / No</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22m 3rd / No</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900" b="1" dirty="0">
                          <a:solidFill>
                            <a:srgbClr val="0A1F3D"/>
                          </a:solidFill>
                        </a:rPr>
                        <a:t>Barclaycard placement once named (T3)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36m 2nd / 22m 2nd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4th and 5th / 22m 2nd, 36m excluded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36m 3rd if pre-approved / 36m joint 1st</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22m 3rd / 36m joint 2nd if pre-approved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0A1F3D"/>
                          </a:solidFill>
                        </a:rPr>
                        <a:t>Card picked at T4 (A / B)</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HSBC / Tesco Low Fee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Virgin 35m / Virgin 36m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HSBC / HSBC</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Virgin 24m / Virgin 24m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900" b="1" dirty="0">
                          <a:solidFill>
                            <a:srgbClr val="0A1F3D"/>
                          </a:solidFill>
                        </a:rPr>
                        <a:t>First Barclaycard fallback</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36m (A); 22m (B)</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12m at £250 a month (A); 22m (B)</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36m if pre-approved (both)</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22m if pre-approved (A); 36m if pre-approved (B)</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results.csv; transcripts/*.md turns 1 to 4. Each cell is a count or a ranking that can be read off the turn named in the row.</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What would improve the situation, ranked by how many models it would have moved</a:t>
            </a:r>
            <a:endParaRPr lang="en-US" sz="2400" dirty="0"/>
          </a:p>
        </p:txBody>
      </p:sp>
      <p:graphicFrame>
        <p:nvGraphicFramePr>
          <p:cNvPr id="32" name="actions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65760"/>
                <a:gridCol w="3840480"/>
                <a:gridCol w="4572000"/>
                <a:gridCol w="2468880"/>
              </a:tblGrid>
              <a:tr h="502920">
                <a:tc>
                  <a:txBody>
                    <a:bodyPr/>
                    <a:lstStyle/>
                    <a:p>
                      <a:pPr indent="0" marL="0">
                        <a:buNone/>
                      </a:pPr>
                      <a:r>
                        <a:rPr lang="en-US" sz="900" b="1" dirty="0">
                          <a:solidFill>
                            <a:srgbClr val="FFFFFF"/>
                          </a:solidFill>
                        </a:rPr>
                        <a:t>#</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Action</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Models and runs it would have moved</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Evidence</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502920">
                <a:tc>
                  <a:txBody>
                    <a:bodyPr/>
                    <a:lstStyle/>
                    <a:p>
                      <a:pPr indent="0" marL="0">
                        <a:buNone/>
                      </a:pPr>
                      <a:r>
                        <a:rPr lang="en-US" sz="900" b="1" dirty="0">
                          <a:solidFill>
                            <a:srgbClr val="0A1F3D"/>
                          </a:solidFill>
                        </a:rPr>
                        <a:t>1</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Get the 22 month 1.49% card into MSE and Which? tables and onto barclays.co.uk</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All four. Haiku A never saw it; Sonnet A and B, Opus A and B found it only after the user named Barclaycard; Fable B could not rank it without MSE's tier range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Model slides 'improve', item 1 (Haiku), 2 (Sonnet), 2 (Fable)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502920">
                <a:tc>
                  <a:txBody>
                    <a:bodyPr/>
                    <a:lstStyle/>
                    <a:p>
                      <a:pPr indent="0" marL="0">
                        <a:buNone/>
                      </a:pPr>
                      <a:r>
                        <a:rPr lang="en-US" sz="900" b="1" dirty="0">
                          <a:solidFill>
                            <a:srgbClr val="0A1F3D"/>
                          </a:solidFill>
                        </a:rPr>
                        <a:t>2</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Publish the full-term share ('at least 7 in 10') and tier logic on the 36 month and 22 month cards and the listing page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Opus A, Fable A and B, Haiku B ranked on 'definite' versus 'up to'. Fable B called it the one fact that would most have sharpened its advice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Opus item 2; Fable item 1; Haiku item 2</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502920">
                <a:tc>
                  <a:txBody>
                    <a:bodyPr/>
                    <a:lstStyle/>
                    <a:p>
                      <a:pPr indent="0" marL="0">
                        <a:buNone/>
                      </a:pPr>
                      <a:r>
                        <a:rPr lang="en-US" sz="900" b="1" dirty="0">
                          <a:solidFill>
                            <a:srgbClr val="0A1F3D"/>
                          </a:solidFill>
                        </a:rPr>
                        <a:t>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Publish eligibility criteria and a soft-search statement on every card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All eight runs listed it as missing at turn 5; Haiku A and Opus B used HSBC's explicit criteria to rank HSBC first</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Haiku item 3; Opus item 4; Fable item 4</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502920">
                <a:tc>
                  <a:txBody>
                    <a:bodyPr/>
                    <a:lstStyle/>
                    <a:p>
                      <a:pPr indent="0" marL="0">
                        <a:buNone/>
                      </a:pPr>
                      <a:r>
                        <a:rPr lang="en-US" sz="900" b="1" dirty="0">
                          <a:solidFill>
                            <a:srgbClr val="0A1F3D"/>
                          </a:solidFill>
                        </a:rPr>
                        <a:t>4</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Separate the offer text from the card terms and state that no Barclays account is needed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Sonnet B excluded the 36 month card; Fable asked about a Barclays account in both runs; every other run spent a paragraph dismissing the cashback</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Sonnet item 1; Fable item 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502920">
                <a:tc>
                  <a:txBody>
                    <a:bodyPr/>
                    <a:lstStyle/>
                    <a:p>
                      <a:pPr indent="0" marL="0">
                        <a:buNone/>
                      </a:pPr>
                      <a:r>
                        <a:rPr lang="en-US" sz="900" b="1" dirty="0">
                          <a:solidFill>
                            <a:srgbClr val="0A1F3D"/>
                          </a:solidFill>
                        </a:rPr>
                        <a:t>5</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Give every card a product page that resolves; fix the /balance-transfer 404; keep the search page out of results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Opus B lost a joint-first tie on it; Sonnet A and B, Fable B hit 404s; Opus A sourced from a search page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Opus item 1; Sonnet item 4; Fable item 5</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502920">
                <a:tc>
                  <a:txBody>
                    <a:bodyPr/>
                    <a:lstStyle/>
                    <a:p>
                      <a:pPr indent="0" marL="0">
                        <a:buNone/>
                      </a:pPr>
                      <a:r>
                        <a:rPr lang="en-US" sz="900" b="1" dirty="0">
                          <a:solidFill>
                            <a:srgbClr val="0A1F3D"/>
                          </a:solidFill>
                        </a:rPr>
                        <a:t>6</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Refresh third-party figures (Money to the Masses 3.45%, Finder 2025, Moneyfacts July) and date every Barclaycard page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Opus B carried 3.45%; Sonnet A picked from July data; all runs asked for dates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Opus item 3; Sonnet item 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502920">
                <a:tc>
                  <a:txBody>
                    <a:bodyPr/>
                    <a:lstStyle/>
                    <a:p>
                      <a:pPr indent="0" marL="0">
                        <a:buNone/>
                      </a:pPr>
                      <a:r>
                        <a:rPr lang="en-US" sz="900" b="1" dirty="0">
                          <a:solidFill>
                            <a:srgbClr val="0A1F3D"/>
                          </a:solidFill>
                        </a:rPr>
                        <a:t>7</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Fee: 3.15% against HSBC's 3.09% and the customer's 'about 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Haiku A, Opus A and B, Sonnet A used it as the tie-break against HSBC; Fable B dismissed the 36 month card on it at turn 1</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Options slides, quotes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4" name="note"/>
          <p:cNvSpPr txBox="1"/>
          <p:nvPr/>
        </p:nvSpPr>
        <p:spPr>
          <a:xfrm>
            <a:off x="457200" y="5486400"/>
            <a:ext cx="11247120" cy="594360"/>
          </a:xfrm>
          <a:prstGeom prst="rect">
            <a:avLst/>
          </a:prstGeom>
          <a:noFill/>
          <a:ln/>
        </p:spPr>
        <p:txBody>
          <a:bodyPr wrap="square" lIns="0" tIns="0" rIns="0" bIns="0" rtlCol="0" anchor="ctr"/>
          <a:lstStyle/>
          <a:p>
            <a:pPr indent="0" marL="0">
              <a:buNone/>
            </a:pPr>
            <a:r>
              <a:rPr lang="en-US" sz="950" i="1" dirty="0">
                <a:solidFill>
                  <a:schemeClr val="tx2"/>
                </a:solidFill>
              </a:rPr>
              <a:t>Shaded rows are the three actions that would have changed the most runs and cost the least. 'Would have moved' counts runs in which the model gave that cause as a reason for ranking Barclaycard lower; it is the model's stated reason, not a controlled test. The test is a rerun of the same protocol after the change.</a:t>
            </a:r>
            <a:endParaRPr lang="en-US" sz="950" dirty="0"/>
          </a:p>
        </p:txBody>
      </p:sp>
      <p:sp>
        <p:nvSpPr>
          <p:cNvPr id="5"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The four 'what would change its answer' slides; Oct11_3pm/barclays_recommendation.md section 3.</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lIns="0" tIns="0" rIns="0" bIns="0" rtlCol="0" anchor="b"/>
          <a:lstStyle/>
          <a:p>
            <a:pPr algn="l" indent="0" marL="0">
              <a:buNone/>
            </a:pPr>
            <a:r>
              <a:rPr lang="en-US" sz="4000" b="1" dirty="0">
                <a:solidFill>
                  <a:schemeClr val="bg1"/>
                </a:solidFill>
              </a:rPr>
              <a:t>What to do: decisions taken with the Head of Credit Cards</a:t>
            </a:r>
            <a:endParaRPr lang="en-US" sz="4000" dirty="0"/>
          </a:p>
        </p:txBody>
      </p:sp>
      <p:sp>
        <p:nvSpPr>
          <p:cNvPr id="3" name="Text 0"/>
          <p:cNvSpPr/>
          <p:nvPr>
            <p:ph idx="101" type="body" hasCustomPrompt="1"/>
          </p:nvPr>
        </p:nvSpPr>
        <p:spPr>
          <a:xfrm>
            <a:off x="731520" y="3611880"/>
            <a:ext cx="10515600" cy="1828800"/>
          </a:xfrm>
          <a:prstGeom prst="rect">
            <a:avLst/>
          </a:prstGeom>
          <a:noFill/>
          <a:ln/>
        </p:spPr>
        <p:txBody>
          <a:bodyPr wrap="square" lIns="0" tIns="0" rIns="0" bIns="0" rtlCol="0" anchor="t"/>
          <a:lstStyle/>
          <a:p>
            <a:pPr indent="0" marL="0">
              <a:buNone/>
            </a:pPr>
            <a:r>
              <a:rPr lang="en-US" sz="1800" dirty="0">
                <a:solidFill>
                  <a:schemeClr val="accent5"/>
                </a:solidFill>
              </a:rPr>
              <a:t>Eight items reviewed on 11 October 2026, each with the problem the study found, the challenge raised, what was checked, the decision and the test that would show it worked. Working record: Oct11_3pm/what_to_do.md.</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The six product and page decisions</a:t>
            </a:r>
            <a:endParaRPr lang="en-US" sz="2400" dirty="0"/>
          </a:p>
        </p:txBody>
      </p:sp>
      <p:graphicFrame>
        <p:nvGraphicFramePr>
          <p:cNvPr id="34" name="decisions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20040"/>
                <a:gridCol w="3017520"/>
                <a:gridCol w="5029200"/>
                <a:gridCol w="2880360"/>
              </a:tblGrid>
              <a:tr h="713232">
                <a:tc>
                  <a:txBody>
                    <a:bodyPr/>
                    <a:lstStyle/>
                    <a:p>
                      <a:pPr indent="0" marL="0">
                        <a:buNone/>
                      </a:pPr>
                      <a:r>
                        <a:rPr lang="en-US" sz="850" b="1" dirty="0">
                          <a:solidFill>
                            <a:srgbClr val="FFFFFF"/>
                          </a:solidFill>
                        </a:rPr>
                        <a:t>#</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Problem the study found</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Decision</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Test after the change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713232">
                <a:tc>
                  <a:txBody>
                    <a:bodyPr/>
                    <a:lstStyle/>
                    <a:p>
                      <a:pPr indent="0" marL="0">
                        <a:buNone/>
                      </a:pPr>
                      <a:r>
                        <a:rPr lang="en-US" sz="850" b="1" dirty="0">
                          <a:solidFill>
                            <a:srgbClr val="0A1F3D"/>
                          </a:solidFill>
                        </a:rPr>
                        <a:t>1</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 eligibility line on Barclaycard's listing page; all 8 runs listed it as missing; HSBC's explicit criteria won two tie-breaks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State the regulatory constraints in every card block (18 or over, UK resident, subject to status). Look to competitors for the rest. Surface what is already published but hidden for UI/UX: the soft-search line, the full-term statement, the 'what you'll need' list, the window-starts-at-opening statement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 run lists eligibility or soft-search status as missing at turn 5 (baseline 8 of 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713232">
                <a:tc>
                  <a:txBody>
                    <a:bodyPr/>
                    <a:lstStyle/>
                    <a:p>
                      <a:pPr indent="0" marL="0">
                        <a:buNone/>
                      </a:pPr>
                      <a:r>
                        <a:rPr lang="en-US" sz="850" b="1" dirty="0">
                          <a:solidFill>
                            <a:srgbClr val="0A1F3D"/>
                          </a:solidFill>
                        </a:rPr>
                        <a:t>2</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The 22 month 1.49% card is absent from MSE, Which? and barclays.co.uk; 5 of 8 runs never saw it before the user named Barclaycard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Likely a legacy channel policy. Show the card everywhere Barclaycard balance-transfer cards appear, including comparison-site feeds, with the same tier information as the 36 month card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At least 4 of 8 runs see it from a guide (baseline 0 of 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713232">
                <a:tc>
                  <a:txBody>
                    <a:bodyPr/>
                    <a:lstStyle/>
                    <a:p>
                      <a:pPr indent="0" marL="0">
                        <a:buNone/>
                      </a:pPr>
                      <a:r>
                        <a:rPr lang="en-US" sz="850" b="1" dirty="0">
                          <a:solidFill>
                            <a:srgbClr val="0A1F3D"/>
                          </a:solidFill>
                        </a:rPr>
                        <a:t>3</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MSE labels HSBC 'definite' and Barclaycard 'up to 36, 32 or 18'; the most-cited reason for ranking HSBC first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Do not publish full-term shares or downsell tiers. Replace 'up to N months' with a definite list of the options an accepted applicant can be offered, each with fee and rate, plus one line that the checker shows which applies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 run calls a Barclaycard term 'up to' or 'not guaranteed' after reading the site (baseline 7 of 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713232">
                <a:tc>
                  <a:txBody>
                    <a:bodyPr/>
                    <a:lstStyle/>
                    <a:p>
                      <a:pPr indent="0" marL="0">
                        <a:buNone/>
                      </a:pPr>
                      <a:r>
                        <a:rPr lang="en-US" sz="850" b="1" dirty="0">
                          <a:solidFill>
                            <a:srgbClr val="0A1F3D"/>
                          </a:solidFill>
                        </a:rPr>
                        <a:t>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Offer bullets (Apple TV, £20 cashback) sit above the term and fee; Sonnet B excluded the 36 month card on the cashback's current-account condition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Move offers below the terms under their own heading (recommended). Add 'You do not need a Barclays current account to apply for this card' (taken). Next promotion's layout: to be confirmed. Apply on barclays.co.uk too</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 run states or implies a current-account requirement (baseline 1 of 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713232">
                <a:tc>
                  <a:txBody>
                    <a:bodyPr/>
                    <a:lstStyle/>
                    <a:p>
                      <a:pPr indent="0" marL="0">
                        <a:buNone/>
                      </a:pPr>
                      <a:r>
                        <a:rPr lang="en-US" sz="850" b="1" dirty="0">
                          <a:solidFill>
                            <a:srgbClr val="0A1F3D"/>
                          </a:solidFill>
                        </a:rPr>
                        <a:t>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404s on product pages; alt text instead of images on barclays.co.uk; 28.9% APR line against the 24.9% headline; T&amp;C file named 2023 (content June 2025); no dates; stale third-party snippets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Correct the APR and fee mismatches; rates correct in real time at every listing, with a visible date. 404s and images: separate run, web team informed. T&amp;C: dateless filename, edition line inside. Get Barclaycard into Moneyfacts; ask Finder to review its soft-search line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No run quotes a Barclaycard rate or fee that differs from the site on the day (baseline 3 of 8); no 404 or search-page source (baseline 5 of 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713232">
                <a:tc>
                  <a:txBody>
                    <a:bodyPr/>
                    <a:lstStyle/>
                    <a:p>
                      <a:pPr indent="0" marL="0">
                        <a:buNone/>
                      </a:pPr>
                      <a:r>
                        <a:rPr lang="en-US" sz="850" b="1" dirty="0">
                          <a:solidFill>
                            <a:srgbClr val="0A1F3D"/>
                          </a:solidFill>
                        </a:rPr>
                        <a:t>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3.15% fee against HSBC's 3.09% and the customer's 'about 3%' decided tie-breaks in 4 runs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 change. The fee is a conscious pricing decision under the pricing playbook, reviewed weekly by the commercial team. Pound-cost labelling not adopted. 24 and 21 month cards deferred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Not a test item: reported as observed behaviour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4"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Oct11_3pm/what_to_do.md items 1 to 6; baselines from results.csv and the transcripts.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Item 1 evidence: what the regulator fixes, what competitors print, what Barclaycard already has but hides</a:t>
            </a:r>
            <a:endParaRPr lang="en-US" sz="2400" dirty="0"/>
          </a:p>
        </p:txBody>
      </p:sp>
      <p:graphicFrame>
        <p:nvGraphicFramePr>
          <p:cNvPr id="35" name="elig 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1828800"/>
                <a:gridCol w="1371600"/>
                <a:gridCol w="3474720"/>
              </a:tblGrid>
              <a:tr h="384048">
                <a:tc>
                  <a:txBody>
                    <a:bodyPr/>
                    <a:lstStyle/>
                    <a:p>
                      <a:pPr indent="0" marL="0">
                        <a:buNone/>
                      </a:pPr>
                      <a:r>
                        <a:rPr lang="en-US" sz="900" b="1" dirty="0">
                          <a:solidFill>
                            <a:srgbClr val="FFFFFF"/>
                          </a:solidFill>
                        </a:rPr>
                        <a:t>Issuer</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Minimum income stated</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Other criteria on the page</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900" b="1" dirty="0">
                          <a:solidFill>
                            <a:srgbClr val="0A1F3D"/>
                          </a:solidFill>
                        </a:rPr>
                        <a:t>HSBC</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£6,800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over 18, UK resident, no HSBC Basic Bank Account, group exclusions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0A1F3D"/>
                          </a:solidFill>
                        </a:rPr>
                        <a:t>Santander</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£10,500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18+, permanent UK resident, no bankruptcy, CCJ or IVA in 6 years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900" b="1" dirty="0">
                          <a:solidFill>
                            <a:srgbClr val="0A1F3D"/>
                          </a:solidFill>
                        </a:rPr>
                        <a:t>NatWest</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£10,000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UK resident, 18+, not bankrupt in 6 years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0A1F3D"/>
                          </a:solidFill>
                        </a:rPr>
                        <a:t>Nationwide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£5,000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18+, UK resident, Nationwide member</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900" b="1" dirty="0">
                          <a:solidFill>
                            <a:srgbClr val="0A1F3D"/>
                          </a:solidFill>
                        </a:rPr>
                        <a:t>TSB, MBNA, Lloyds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'a regular income'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18+, UK resident, no recent CCJs, defaults, IVAs or bankruptcy</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0A1F3D"/>
                          </a:solidFill>
                        </a:rPr>
                        <a:t>Virgin Money, Tesco Bank, Sainsbury's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none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UK residents aged 18 or over, subject to status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900" b="1" dirty="0">
                          <a:solidFill>
                            <a:srgbClr val="0A1F3D"/>
                          </a:solidFill>
                        </a:rPr>
                        <a:t>Barclaycard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none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nothing on the listing page; the 22 month page: checker for 18 or over, documents needed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bl>
          </a:graphicData>
        </a:graphic>
      </p:graphicFrame>
      <p:sp>
        <p:nvSpPr>
          <p:cNvPr id="4" name="heading Already on Barclayca"/>
          <p:cNvSpPr txBox="1"/>
          <p:nvPr/>
        </p:nvSpPr>
        <p:spPr>
          <a:xfrm>
            <a:off x="7406640" y="1188720"/>
            <a:ext cx="4343400" cy="365760"/>
          </a:xfrm>
          <a:prstGeom prst="rect">
            <a:avLst/>
          </a:prstGeom>
          <a:noFill/>
          <a:ln/>
        </p:spPr>
        <p:txBody>
          <a:bodyPr wrap="square" lIns="0" tIns="0" rIns="0" bIns="0" rtlCol="0" anchor="ctr"/>
          <a:lstStyle/>
          <a:p>
            <a:pPr indent="0" marL="0">
              <a:buNone/>
            </a:pPr>
            <a:r>
              <a:rPr lang="en-US" sz="1250" b="1" dirty="0">
                <a:solidFill>
                  <a:schemeClr val="tx2"/>
                </a:solidFill>
              </a:rPr>
              <a:t>Already on Barclaycard's pages, where a summariser drops it</a:t>
            </a:r>
            <a:endParaRPr lang="en-US" sz="1250" dirty="0"/>
          </a:p>
        </p:txBody>
      </p:sp>
      <p:sp>
        <p:nvSpPr>
          <p:cNvPr id="5" name="bullets"/>
          <p:cNvSpPr txBox="1"/>
          <p:nvPr/>
        </p:nvSpPr>
        <p:spPr>
          <a:xfrm>
            <a:off x="7406640" y="1600200"/>
            <a:ext cx="4343400" cy="29260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'Won't affect your credit score': in a banner below all five cards. Two runs could not tell whether the checker is a soft search</a:t>
            </a:r>
            <a:endParaRPr lang="en-US" sz="1050" dirty="0"/>
          </a:p>
          <a:p>
            <a:pPr marL="152400" indent="-152400">
              <a:spcAft>
                <a:spcPts val="400"/>
              </a:spcAft>
              <a:buSzPct val="100000"/>
              <a:buChar char="•"/>
            </a:pPr>
            <a:r>
              <a:rPr lang="en-US" sz="1050" dirty="0">
                <a:solidFill>
                  <a:schemeClr val="tx1"/>
                </a:solidFill>
              </a:rPr>
              <a:t>'At least 7 out of 10 accepted customers received the longest promotional period': inside a collapsed accordion on the 22 month page only</a:t>
            </a:r>
            <a:endParaRPr lang="en-US" sz="1050" dirty="0"/>
          </a:p>
          <a:p>
            <a:pPr marL="152400" indent="-152400">
              <a:spcAft>
                <a:spcPts val="400"/>
              </a:spcAft>
              <a:buSzPct val="100000"/>
              <a:buChar char="•"/>
            </a:pPr>
            <a:r>
              <a:rPr lang="en-US" sz="1050" dirty="0">
                <a:solidFill>
                  <a:schemeClr val="tx1"/>
                </a:solidFill>
              </a:rPr>
              <a:t>'What you'll need' (address history, income, outgoings, bank details): 22 month page only</a:t>
            </a:r>
            <a:endParaRPr lang="en-US" sz="1050" dirty="0"/>
          </a:p>
          <a:p>
            <a:pPr marL="152400" indent="-152400">
              <a:spcAft>
                <a:spcPts val="400"/>
              </a:spcAft>
              <a:buSzPct val="100000"/>
              <a:buChar char="•"/>
            </a:pPr>
            <a:r>
              <a:rPr lang="en-US" sz="1050" dirty="0">
                <a:solidFill>
                  <a:schemeClr val="tx1"/>
                </a:solidFill>
              </a:rPr>
              <a:t>The 60 day window and the 0% period run from account opening: not stated on the listing page</a:t>
            </a:r>
            <a:endParaRPr lang="en-US" sz="1050" dirty="0"/>
          </a:p>
        </p:txBody>
      </p:sp>
      <p:pic>
        <p:nvPicPr>
          <p:cNvPr id="6" name="X_elig_santander.jpg" descr="/home/user/cc_yolo_project/Oct11_3pm/deck/evidence/X_elig_santander.jpg">    </p:cNvPr>
          <p:cNvPicPr>
            <a:picLocks noChangeAspect="1"/>
          </p:cNvPicPr>
          <p:nvPr/>
        </p:nvPicPr>
        <p:blipFill>
          <a:blip r:embed="rId1"/>
          <a:stretch>
            <a:fillRect/>
          </a:stretch>
        </p:blipFill>
        <p:spPr>
          <a:xfrm>
            <a:off x="7406640" y="4572000"/>
            <a:ext cx="2103120" cy="1321961"/>
          </a:xfrm>
          <a:prstGeom prst="rect">
            <a:avLst/>
          </a:prstGeom>
          <a:effectLst>
            <a:outerShdw sx="100000" sy="100000" kx="0" ky="0" algn="bl" rotWithShape="0" blurRad="50800" dist="25400" dir="2700000">
              <a:srgbClr val="0B2E59">
                <a:alpha val="25000"/>
              </a:srgbClr>
            </a:outerShdw>
          </a:effectLst>
        </p:spPr>
      </p:pic>
      <p:sp>
        <p:nvSpPr>
          <p:cNvPr id="7" name="caption X_elig_santander.jpg"/>
          <p:cNvSpPr txBox="1"/>
          <p:nvPr/>
        </p:nvSpPr>
        <p:spPr>
          <a:xfrm>
            <a:off x="7406640" y="5939681"/>
            <a:ext cx="2103120" cy="320040"/>
          </a:xfrm>
          <a:prstGeom prst="rect">
            <a:avLst/>
          </a:prstGeom>
          <a:noFill/>
          <a:ln/>
        </p:spPr>
        <p:txBody>
          <a:bodyPr wrap="square" lIns="0" tIns="0" rIns="0" bIns="0" rtlCol="0" anchor="t"/>
          <a:lstStyle/>
          <a:p>
            <a:pPr indent="0" marL="0">
              <a:buNone/>
            </a:pPr>
            <a:r>
              <a:rPr lang="en-US" sz="900" i="1" dirty="0">
                <a:solidFill>
                  <a:schemeClr val="tx2"/>
                </a:solidFill>
              </a:rPr>
              <a:t>santander.co.uk eligibility block</a:t>
            </a:r>
            <a:endParaRPr lang="en-US" sz="900" dirty="0"/>
          </a:p>
        </p:txBody>
      </p:sp>
      <p:pic>
        <p:nvPicPr>
          <p:cNvPr id="8" name="E1b_bc36_if_you_apply_box.jpg" descr="/home/user/cc_yolo_project/Oct11_3pm/deck/evidence/E1b_bc36_if_you_apply_box.jpg">    </p:cNvPr>
          <p:cNvPicPr>
            <a:picLocks noChangeAspect="1"/>
          </p:cNvPicPr>
          <p:nvPr/>
        </p:nvPicPr>
        <p:blipFill>
          <a:blip r:embed="rId2"/>
          <a:stretch>
            <a:fillRect/>
          </a:stretch>
        </p:blipFill>
        <p:spPr>
          <a:xfrm>
            <a:off x="9646920" y="4572000"/>
            <a:ext cx="2103120" cy="1081605"/>
          </a:xfrm>
          <a:prstGeom prst="rect">
            <a:avLst/>
          </a:prstGeom>
          <a:effectLst>
            <a:outerShdw sx="100000" sy="100000" kx="0" ky="0" algn="bl" rotWithShape="0" blurRad="50800" dist="25400" dir="2700000">
              <a:srgbClr val="0B2E59">
                <a:alpha val="25000"/>
              </a:srgbClr>
            </a:outerShdw>
          </a:effectLst>
        </p:spPr>
      </p:pic>
      <p:sp>
        <p:nvSpPr>
          <p:cNvPr id="9" name="caption E1b_bc36_if_you_apply_box.jpg"/>
          <p:cNvSpPr txBox="1"/>
          <p:nvPr/>
        </p:nvSpPr>
        <p:spPr>
          <a:xfrm>
            <a:off x="9646920" y="5699325"/>
            <a:ext cx="2103120" cy="320040"/>
          </a:xfrm>
          <a:prstGeom prst="rect">
            <a:avLst/>
          </a:prstGeom>
          <a:noFill/>
          <a:ln/>
        </p:spPr>
        <p:txBody>
          <a:bodyPr wrap="square" lIns="0" tIns="0" rIns="0" bIns="0" rtlCol="0" anchor="t"/>
          <a:lstStyle/>
          <a:p>
            <a:pPr indent="0" marL="0">
              <a:buNone/>
            </a:pPr>
            <a:r>
              <a:rPr lang="en-US" sz="900" i="1" dirty="0">
                <a:solidFill>
                  <a:schemeClr val="tx2"/>
                </a:solidFill>
              </a:rPr>
              <a:t>barclaycard.co.uk, the only eligibility text</a:t>
            </a:r>
            <a:endParaRPr lang="en-US" sz="90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Live pages, 11 October 2026 afternoon; deck/evidence X_elig_* and README. Falsified by opening the pages.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Item 3: from 'up to' to a definite list, so a model reads fixed terms</a:t>
            </a:r>
            <a:endParaRPr lang="en-US" sz="2400" dirty="0"/>
          </a:p>
        </p:txBody>
      </p:sp>
      <p:sp>
        <p:nvSpPr>
          <p:cNvPr id="3" name="card before"/>
          <p:cNvSpPr/>
          <p:nvPr/>
        </p:nvSpPr>
        <p:spPr>
          <a:xfrm>
            <a:off x="457200" y="1188720"/>
            <a:ext cx="5394960" cy="3657600"/>
          </a:xfrm>
          <a:prstGeom prst="roundRect">
            <a:avLst>
              <a:gd name="adj" fmla="val 2000"/>
            </a:avLst>
          </a:prstGeom>
          <a:solidFill>
            <a:schemeClr val="bg2"/>
          </a:solidFill>
          <a:ln w="9525">
            <a:solidFill>
              <a:schemeClr val="accent5"/>
            </a:solidFill>
            <a:prstDash val="solid"/>
          </a:ln>
        </p:spPr>
      </p:sp>
      <p:sp>
        <p:nvSpPr>
          <p:cNvPr id="4" name="heading What a model reads t"/>
          <p:cNvSpPr txBox="1"/>
          <p:nvPr/>
        </p:nvSpPr>
        <p:spPr>
          <a:xfrm>
            <a:off x="640080" y="1280160"/>
            <a:ext cx="5029200" cy="365760"/>
          </a:xfrm>
          <a:prstGeom prst="rect">
            <a:avLst/>
          </a:prstGeom>
          <a:noFill/>
          <a:ln/>
        </p:spPr>
        <p:txBody>
          <a:bodyPr wrap="square" lIns="0" tIns="0" rIns="0" bIns="0" rtlCol="0" anchor="ctr"/>
          <a:lstStyle/>
          <a:p>
            <a:pPr indent="0" marL="0">
              <a:buNone/>
            </a:pPr>
            <a:r>
              <a:rPr lang="en-US" sz="1300" b="1" dirty="0">
                <a:solidFill>
                  <a:schemeClr val="tx2"/>
                </a:solidFill>
              </a:rPr>
              <a:t>What a model reads today</a:t>
            </a:r>
            <a:endParaRPr lang="en-US" sz="1300" dirty="0"/>
          </a:p>
        </p:txBody>
      </p:sp>
      <p:sp>
        <p:nvSpPr>
          <p:cNvPr id="5" name="bullets"/>
          <p:cNvSpPr txBox="1"/>
          <p:nvPr/>
        </p:nvSpPr>
        <p:spPr>
          <a:xfrm>
            <a:off x="640080" y="1691640"/>
            <a:ext cx="5029200" cy="30175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Barclaycard: '0% interest on balance transfers for up to 36 months'; 'the balance transfer period and interest rates may differ from those shown'</a:t>
            </a:r>
            <a:endParaRPr lang="en-US" sz="1050" dirty="0"/>
          </a:p>
          <a:p>
            <a:pPr marL="152400" indent="-152400">
              <a:spcAft>
                <a:spcPts val="400"/>
              </a:spcAft>
              <a:buSzPct val="100000"/>
              <a:buChar char="•"/>
            </a:pPr>
            <a:r>
              <a:rPr lang="en-US" sz="1050" dirty="0">
                <a:solidFill>
                  <a:schemeClr val="tx1"/>
                </a:solidFill>
              </a:rPr>
              <a:t>MSE: 'If pre-approved you'll get the full 36 months at 0%. If not, you may get 36, 32 or 18 months and you'll only find out which after applying'</a:t>
            </a:r>
            <a:endParaRPr lang="en-US" sz="1050" dirty="0"/>
          </a:p>
          <a:p>
            <a:pPr marL="152400" indent="-152400">
              <a:spcAft>
                <a:spcPts val="400"/>
              </a:spcAft>
              <a:buSzPct val="100000"/>
              <a:buChar char="•"/>
            </a:pPr>
            <a:r>
              <a:rPr lang="en-US" sz="1050" dirty="0">
                <a:solidFill>
                  <a:schemeClr val="tx1"/>
                </a:solidFill>
              </a:rPr>
              <a:t>Result: Opus A, Opus B, Fable A and Fable B ranked HSBC above Barclaycard on the label; Fable B called the 18 month floor 'the worst value on the whole list'</a:t>
            </a:r>
            <a:endParaRPr lang="en-US" sz="1050" dirty="0"/>
          </a:p>
        </p:txBody>
      </p:sp>
      <p:sp>
        <p:nvSpPr>
          <p:cNvPr id="6" name="card after"/>
          <p:cNvSpPr/>
          <p:nvPr/>
        </p:nvSpPr>
        <p:spPr>
          <a:xfrm>
            <a:off x="6309360" y="1188720"/>
            <a:ext cx="5440680" cy="3657600"/>
          </a:xfrm>
          <a:prstGeom prst="roundRect">
            <a:avLst>
              <a:gd name="adj" fmla="val 2000"/>
            </a:avLst>
          </a:prstGeom>
          <a:solidFill>
            <a:schemeClr val="bg2"/>
          </a:solidFill>
          <a:ln w="9525">
            <a:solidFill>
              <a:schemeClr val="accent5"/>
            </a:solidFill>
            <a:prstDash val="solid"/>
          </a:ln>
        </p:spPr>
      </p:sp>
      <p:sp>
        <p:nvSpPr>
          <p:cNvPr id="7" name="heading What the decision pu"/>
          <p:cNvSpPr txBox="1"/>
          <p:nvPr/>
        </p:nvSpPr>
        <p:spPr>
          <a:xfrm>
            <a:off x="6492240" y="1280160"/>
            <a:ext cx="5120640" cy="365760"/>
          </a:xfrm>
          <a:prstGeom prst="rect">
            <a:avLst/>
          </a:prstGeom>
          <a:noFill/>
          <a:ln/>
        </p:spPr>
        <p:txBody>
          <a:bodyPr wrap="square" lIns="0" tIns="0" rIns="0" bIns="0" rtlCol="0" anchor="ctr"/>
          <a:lstStyle/>
          <a:p>
            <a:pPr indent="0" marL="0">
              <a:buNone/>
            </a:pPr>
            <a:r>
              <a:rPr lang="en-US" sz="1300" b="1" dirty="0">
                <a:solidFill>
                  <a:schemeClr val="tx2"/>
                </a:solidFill>
              </a:rPr>
              <a:t>What the decision puts in its place (illustrative wording)</a:t>
            </a:r>
            <a:endParaRPr lang="en-US" sz="1300" dirty="0"/>
          </a:p>
        </p:txBody>
      </p:sp>
      <p:sp>
        <p:nvSpPr>
          <p:cNvPr id="8" name="after text"/>
          <p:cNvSpPr txBox="1"/>
          <p:nvPr/>
        </p:nvSpPr>
        <p:spPr>
          <a:xfrm>
            <a:off x="6492240" y="1691640"/>
            <a:ext cx="5120640" cy="3017520"/>
          </a:xfrm>
          <a:prstGeom prst="rect">
            <a:avLst/>
          </a:prstGeom>
          <a:noFill/>
          <a:ln/>
        </p:spPr>
        <p:txBody>
          <a:bodyPr wrap="square" lIns="0" tIns="0" rIns="0" bIns="0" rtlCol="0" anchor="t"/>
          <a:lstStyle/>
          <a:p>
            <a:pPr indent="0" marL="0">
              <a:spcAft>
                <a:spcPts val="400"/>
              </a:spcAft>
              <a:buNone/>
            </a:pPr>
            <a:r>
              <a:rPr lang="en-US" sz="1050" dirty="0">
                <a:solidFill>
                  <a:schemeClr val="tx1"/>
                </a:solidFill>
              </a:rPr>
              <a:t>Depending on our assessment, accepted applicants are offered one of:</a:t>
            </a:r>
            <a:endParaRPr lang="en-US" sz="1050" dirty="0"/>
          </a:p>
          <a:p>
            <a:pPr indent="0" marL="0">
              <a:buNone/>
            </a:pPr>
            <a:r>
              <a:rPr lang="en-US" sz="1050" dirty="0">
                <a:solidFill>
                  <a:schemeClr val="tx1"/>
                </a:solidFill>
              </a:rPr>
              <a:t>•  36 months at 0% on balance transfers, 3.15% fee, 24.9% APR representative (variable)</a:t>
            </a:r>
            <a:endParaRPr lang="en-US" sz="1050" dirty="0"/>
          </a:p>
          <a:p>
            <a:pPr indent="0" marL="0">
              <a:buNone/>
            </a:pPr>
            <a:r>
              <a:rPr lang="en-US" sz="1050" dirty="0">
                <a:solidFill>
                  <a:schemeClr val="tx1"/>
                </a:solidFill>
              </a:rPr>
              <a:t>•  32 months at 0% on balance transfers, 3.15% fee, 24.9% APR representative (variable)</a:t>
            </a:r>
            <a:endParaRPr lang="en-US" sz="1050" dirty="0"/>
          </a:p>
          <a:p>
            <a:pPr indent="0" marL="0">
              <a:spcAft>
                <a:spcPts val="400"/>
              </a:spcAft>
              <a:buNone/>
            </a:pPr>
            <a:r>
              <a:rPr lang="en-US" sz="1050" dirty="0">
                <a:solidFill>
                  <a:schemeClr val="tx1"/>
                </a:solidFill>
              </a:rPr>
              <a:t>•  18 months at 0% on balance transfers, 3.15% fee, 24.9% APR representative (variable)</a:t>
            </a:r>
            <a:endParaRPr lang="en-US" sz="1050" dirty="0"/>
          </a:p>
          <a:p>
            <a:pPr indent="0" marL="0">
              <a:buNone/>
            </a:pPr>
            <a:r>
              <a:rPr lang="en-US" sz="1050" i="1" dirty="0">
                <a:solidFill>
                  <a:schemeClr val="tx1"/>
                </a:solidFill>
              </a:rPr>
              <a:t>Our eligibility checker shows which option you would be offered before you apply, without affecting your credit score.</a:t>
            </a:r>
            <a:endParaRPr lang="en-US" sz="1050" dirty="0"/>
          </a:p>
        </p:txBody>
      </p:sp>
      <p:sp>
        <p:nvSpPr>
          <p:cNvPr id="9" name="bullets"/>
          <p:cNvSpPr txBox="1"/>
          <p:nvPr/>
        </p:nvSpPr>
        <p:spPr>
          <a:xfrm>
            <a:off x="457200" y="4983480"/>
            <a:ext cx="11247120" cy="1097280"/>
          </a:xfrm>
          <a:prstGeom prst="rect">
            <a:avLst/>
          </a:prstGeom>
          <a:noFill/>
          <a:ln/>
        </p:spPr>
        <p:txBody>
          <a:bodyPr wrap="square" lIns="0" tIns="0" rIns="0" bIns="0" rtlCol="0" anchor="t"/>
          <a:lstStyle/>
          <a:p>
            <a:pPr marL="152400" indent="-152400">
              <a:spcAft>
                <a:spcPts val="400"/>
              </a:spcAft>
              <a:buSzPct val="100000"/>
              <a:buChar char="•"/>
            </a:pPr>
            <a:r>
              <a:rPr lang="en-US" sz="1000" b="1" dirty="0">
                <a:solidFill>
                  <a:schemeClr val="tx1"/>
                </a:solidFill>
              </a:rPr>
              <a:t>Why not publish the share who get the full term: </a:t>
            </a:r>
            <a:pPr indent="0" marL="0">
              <a:spcAft>
                <a:spcPts val="400"/>
              </a:spcAft>
              <a:buNone/>
            </a:pPr>
            <a:r>
              <a:rPr lang="en-US" sz="1000" dirty="0">
                <a:solidFill>
                  <a:schemeClr val="tx1"/>
                </a:solidFill>
              </a:rPr>
              <a:t>exact downsell durations are hard to maintain and the figure could scare applicants away. The list carries the same information as options, not odds.</a:t>
            </a:r>
            <a:endParaRPr lang="en-US" sz="1000" dirty="0"/>
          </a:p>
          <a:p>
            <a:pPr marL="152400" indent="-152400">
              <a:spcAft>
                <a:spcPts val="400"/>
              </a:spcAft>
              <a:buSzPct val="100000"/>
              <a:buChar char="•"/>
            </a:pPr>
            <a:r>
              <a:rPr lang="en-US" sz="1000" b="1" dirty="0">
                <a:solidFill>
                  <a:schemeClr val="tx1"/>
                </a:solidFill>
              </a:rPr>
              <a:t>What it does and does not earn: </a:t>
            </a:r>
            <a:pPr indent="0" marL="0">
              <a:spcAft>
                <a:spcPts val="400"/>
              </a:spcAft>
              <a:buNone/>
            </a:pPr>
            <a:r>
              <a:rPr lang="en-US" sz="1000" dirty="0">
                <a:solidFill>
                  <a:schemeClr val="tx1"/>
                </a:solidFill>
              </a:rPr>
              <a:t>a model quotes fixed terms and the checker result maps to one of them. MSE's 'definite' label still goes only to cards where every accepted applicant gets the full term; ask MSE to show the list rather than '36, 32 or 18'.</a:t>
            </a:r>
            <a:endParaRPr lang="en-US" sz="1000" dirty="0"/>
          </a:p>
          <a:p>
            <a:pPr marL="152400" indent="-152400">
              <a:spcAft>
                <a:spcPts val="400"/>
              </a:spcAft>
              <a:buSzPct val="100000"/>
              <a:buChar char="•"/>
            </a:pPr>
            <a:r>
              <a:rPr lang="en-US" sz="1000" b="1" dirty="0">
                <a:solidFill>
                  <a:schemeClr val="tx1"/>
                </a:solidFill>
              </a:rPr>
              <a:t>Apply the same format </a:t>
            </a:r>
            <a:pPr indent="0" marL="0">
              <a:spcAft>
                <a:spcPts val="400"/>
              </a:spcAft>
              <a:buNone/>
            </a:pPr>
            <a:r>
              <a:rPr lang="en-US" sz="1000" dirty="0">
                <a:solidFill>
                  <a:schemeClr val="tx1"/>
                </a:solidFill>
              </a:rPr>
              <a:t>to the 22 month card (22 or 11) and the 12 month card (12 or 6). The options shown must track what the decision engine can offer.</a:t>
            </a:r>
            <a:endParaRPr lang="en-US" sz="100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what_to_do.md item 3; MSE guide 7 October 2026 (E9); transcripts A-opus turn 3, B-fable turn 3.</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Item 5 checks: dates, the terms file, and the three third-party sites</a:t>
            </a:r>
            <a:endParaRPr lang="en-US" sz="2400" dirty="0"/>
          </a:p>
        </p:txBody>
      </p:sp>
      <p:sp>
        <p:nvSpPr>
          <p:cNvPr id="3" name="card chk0"/>
          <p:cNvSpPr/>
          <p:nvPr/>
        </p:nvSpPr>
        <p:spPr>
          <a:xfrm>
            <a:off x="457200" y="1188720"/>
            <a:ext cx="3611880" cy="4846320"/>
          </a:xfrm>
          <a:prstGeom prst="roundRect">
            <a:avLst>
              <a:gd name="adj" fmla="val 2025"/>
            </a:avLst>
          </a:prstGeom>
          <a:solidFill>
            <a:schemeClr val="bg2"/>
          </a:solidFill>
          <a:ln w="9525">
            <a:solidFill>
              <a:schemeClr val="accent5"/>
            </a:solidFill>
            <a:prstDash val="solid"/>
          </a:ln>
        </p:spPr>
      </p:sp>
      <p:sp>
        <p:nvSpPr>
          <p:cNvPr id="4" name="heading Do other providers p"/>
          <p:cNvSpPr txBox="1"/>
          <p:nvPr/>
        </p:nvSpPr>
        <p:spPr>
          <a:xfrm>
            <a:off x="640080" y="1280160"/>
            <a:ext cx="3246120" cy="365760"/>
          </a:xfrm>
          <a:prstGeom prst="rect">
            <a:avLst/>
          </a:prstGeom>
          <a:noFill/>
          <a:ln/>
        </p:spPr>
        <p:txBody>
          <a:bodyPr wrap="square" lIns="0" tIns="0" rIns="0" bIns="0" rtlCol="0" anchor="ctr"/>
          <a:lstStyle/>
          <a:p>
            <a:pPr indent="0" marL="0">
              <a:buNone/>
            </a:pPr>
            <a:r>
              <a:rPr lang="en-US" sz="1250" b="1" dirty="0">
                <a:solidFill>
                  <a:schemeClr val="tx2"/>
                </a:solidFill>
              </a:rPr>
              <a:t>Do other providers print a 'correct as of' date?</a:t>
            </a:r>
            <a:endParaRPr lang="en-US" sz="1250" dirty="0"/>
          </a:p>
        </p:txBody>
      </p:sp>
      <p:sp>
        <p:nvSpPr>
          <p:cNvPr id="5" name="bullets"/>
          <p:cNvSpPr txBox="1"/>
          <p:nvPr/>
        </p:nvSpPr>
        <p:spPr>
          <a:xfrm>
            <a:off x="640080" y="1874520"/>
            <a:ext cx="3246120" cy="41148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chemeClr val="tx1"/>
                </a:solidFill>
              </a:rPr>
              <a:t>No issuer does, except Santander: 'correct as at 26 February 2025', twenty months old</a:t>
            </a:r>
            <a:endParaRPr lang="en-US" sz="1000" dirty="0"/>
          </a:p>
          <a:p>
            <a:pPr marL="152400" indent="-152400">
              <a:spcAft>
                <a:spcPts val="400"/>
              </a:spcAft>
              <a:buSzPct val="100000"/>
              <a:buChar char="•"/>
            </a:pPr>
            <a:r>
              <a:rPr lang="en-US" sz="1000" dirty="0">
                <a:solidFill>
                  <a:schemeClr val="tx1"/>
                </a:solidFill>
              </a:rPr>
              <a:t>Every comparison site does: MSE 7 October, Which? 1 October, Finder 7 October, Money to the Masses 5 October 2026</a:t>
            </a:r>
            <a:endParaRPr lang="en-US" sz="1000" dirty="0"/>
          </a:p>
          <a:p>
            <a:pPr marL="152400" indent="-152400">
              <a:spcAft>
                <a:spcPts val="400"/>
              </a:spcAft>
              <a:buSzPct val="100000"/>
              <a:buChar char="•"/>
            </a:pPr>
            <a:r>
              <a:rPr lang="en-US" sz="1000" dirty="0">
                <a:solidFill>
                  <a:schemeClr val="tx1"/>
                </a:solidFill>
              </a:rPr>
              <a:t>So the date is a comparison-site convention the models have learned to expect. Real-time correctness is the decision; a visible date that moves with the rates costs nothing on top</a:t>
            </a:r>
            <a:endParaRPr lang="en-US" sz="1000" dirty="0"/>
          </a:p>
        </p:txBody>
      </p:sp>
      <p:sp>
        <p:nvSpPr>
          <p:cNvPr id="6" name="card chk1"/>
          <p:cNvSpPr/>
          <p:nvPr/>
        </p:nvSpPr>
        <p:spPr>
          <a:xfrm>
            <a:off x="4251960" y="1188720"/>
            <a:ext cx="3611880" cy="4846320"/>
          </a:xfrm>
          <a:prstGeom prst="roundRect">
            <a:avLst>
              <a:gd name="adj" fmla="val 2025"/>
            </a:avLst>
          </a:prstGeom>
          <a:solidFill>
            <a:schemeClr val="bg2"/>
          </a:solidFill>
          <a:ln w="9525">
            <a:solidFill>
              <a:schemeClr val="accent5"/>
            </a:solidFill>
            <a:prstDash val="solid"/>
          </a:ln>
        </p:spPr>
      </p:sp>
      <p:sp>
        <p:nvSpPr>
          <p:cNvPr id="7" name="heading The terms file named"/>
          <p:cNvSpPr txBox="1"/>
          <p:nvPr/>
        </p:nvSpPr>
        <p:spPr>
          <a:xfrm>
            <a:off x="4434840" y="1280160"/>
            <a:ext cx="3246120" cy="365760"/>
          </a:xfrm>
          <a:prstGeom prst="rect">
            <a:avLst/>
          </a:prstGeom>
          <a:noFill/>
          <a:ln/>
        </p:spPr>
        <p:txBody>
          <a:bodyPr wrap="square" lIns="0" tIns="0" rIns="0" bIns="0" rtlCol="0" anchor="ctr"/>
          <a:lstStyle/>
          <a:p>
            <a:pPr indent="0" marL="0">
              <a:buNone/>
            </a:pPr>
            <a:r>
              <a:rPr lang="en-US" sz="1250" b="1" dirty="0">
                <a:solidFill>
                  <a:schemeClr val="tx2"/>
                </a:solidFill>
              </a:rPr>
              <a:t>The terms file named core-2023.pdf</a:t>
            </a:r>
            <a:endParaRPr lang="en-US" sz="1250" dirty="0"/>
          </a:p>
        </p:txBody>
      </p:sp>
      <p:sp>
        <p:nvSpPr>
          <p:cNvPr id="8" name="bullets"/>
          <p:cNvSpPr txBox="1"/>
          <p:nvPr/>
        </p:nvSpPr>
        <p:spPr>
          <a:xfrm>
            <a:off x="4434840" y="1874520"/>
            <a:ext cx="3246120" cy="41148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chemeClr val="tx1"/>
                </a:solidFill>
              </a:rPr>
              <a:t>The generic 30-page core credit card agreement; no APR, no term, no transfer fee figure ('depends on' the promotion), so it cannot settle a rate question</a:t>
            </a:r>
            <a:endParaRPr lang="en-US" sz="1000" dirty="0"/>
          </a:p>
          <a:p>
            <a:pPr marL="152400" indent="-152400">
              <a:spcAft>
                <a:spcPts val="400"/>
              </a:spcAft>
              <a:buSzPct val="100000"/>
              <a:buChar char="•"/>
            </a:pPr>
            <a:r>
              <a:rPr lang="en-US" sz="1000" dirty="0">
                <a:solidFill>
                  <a:schemeClr val="tx1"/>
                </a:solidFill>
              </a:rPr>
              <a:t>PDF created 11 June 2025, modified 19 June 2025</a:t>
            </a:r>
            <a:endParaRPr lang="en-US" sz="1000" dirty="0"/>
          </a:p>
          <a:p>
            <a:pPr marL="152400" indent="-152400">
              <a:spcAft>
                <a:spcPts val="400"/>
              </a:spcAft>
              <a:buSzPct val="100000"/>
              <a:buChar char="•"/>
            </a:pPr>
            <a:r>
              <a:rPr lang="en-US" sz="1000" dirty="0">
                <a:solidFill>
                  <a:schemeClr val="tx1"/>
                </a:solidFill>
              </a:rPr>
              <a:t>The only edition marker is a footer code on the last page: 'BUK000333047 TAC CORE 06/25'</a:t>
            </a:r>
            <a:endParaRPr lang="en-US" sz="1000" dirty="0"/>
          </a:p>
          <a:p>
            <a:pPr marL="152400" indent="-152400">
              <a:spcAft>
                <a:spcPts val="400"/>
              </a:spcAft>
              <a:buSzPct val="100000"/>
              <a:buChar char="•"/>
            </a:pPr>
            <a:r>
              <a:rPr lang="en-US" sz="1000" dirty="0">
                <a:solidFill>
                  <a:schemeClr val="tx1"/>
                </a:solidFill>
              </a:rPr>
              <a:t>Decision: dateless filename, plain edition line near the top</a:t>
            </a:r>
            <a:endParaRPr lang="en-US" sz="1000" dirty="0"/>
          </a:p>
        </p:txBody>
      </p:sp>
      <p:sp>
        <p:nvSpPr>
          <p:cNvPr id="9" name="card chk2"/>
          <p:cNvSpPr/>
          <p:nvPr/>
        </p:nvSpPr>
        <p:spPr>
          <a:xfrm>
            <a:off x="8046720" y="1188720"/>
            <a:ext cx="3611880" cy="4846320"/>
          </a:xfrm>
          <a:prstGeom prst="roundRect">
            <a:avLst>
              <a:gd name="adj" fmla="val 2025"/>
            </a:avLst>
          </a:prstGeom>
          <a:solidFill>
            <a:schemeClr val="bg2"/>
          </a:solidFill>
          <a:ln w="9525">
            <a:solidFill>
              <a:schemeClr val="accent5"/>
            </a:solidFill>
            <a:prstDash val="solid"/>
          </a:ln>
        </p:spPr>
      </p:sp>
      <p:sp>
        <p:nvSpPr>
          <p:cNvPr id="10" name="heading Why Money to the Mas"/>
          <p:cNvSpPr txBox="1"/>
          <p:nvPr/>
        </p:nvSpPr>
        <p:spPr>
          <a:xfrm>
            <a:off x="8229600" y="1280160"/>
            <a:ext cx="3246120" cy="365760"/>
          </a:xfrm>
          <a:prstGeom prst="rect">
            <a:avLst/>
          </a:prstGeom>
          <a:noFill/>
          <a:ln/>
        </p:spPr>
        <p:txBody>
          <a:bodyPr wrap="square" lIns="0" tIns="0" rIns="0" bIns="0" rtlCol="0" anchor="ctr"/>
          <a:lstStyle/>
          <a:p>
            <a:pPr indent="0" marL="0">
              <a:buNone/>
            </a:pPr>
            <a:r>
              <a:rPr lang="en-US" sz="1250" b="1" dirty="0">
                <a:solidFill>
                  <a:schemeClr val="tx2"/>
                </a:solidFill>
              </a:rPr>
              <a:t>Why Money to the Masses, Finder and Moneyfacts matter</a:t>
            </a:r>
            <a:endParaRPr lang="en-US" sz="1250" dirty="0"/>
          </a:p>
        </p:txBody>
      </p:sp>
      <p:sp>
        <p:nvSpPr>
          <p:cNvPr id="11" name="bullets"/>
          <p:cNvSpPr txBox="1"/>
          <p:nvPr/>
        </p:nvSpPr>
        <p:spPr>
          <a:xfrm>
            <a:off x="8229600" y="1874520"/>
            <a:ext cx="3246120" cy="41148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chemeClr val="tx1"/>
                </a:solidFill>
              </a:rPr>
              <a:t>They are what the models read when they miss MSE or a provider page: Sonnet never found MSE; Opus B never opened it</a:t>
            </a:r>
            <a:endParaRPr lang="en-US" sz="1000" dirty="0"/>
          </a:p>
          <a:p>
            <a:pPr marL="152400" indent="-152400">
              <a:spcAft>
                <a:spcPts val="400"/>
              </a:spcAft>
              <a:buSzPct val="100000"/>
              <a:buChar char="•"/>
            </a:pPr>
            <a:r>
              <a:rPr lang="en-US" sz="1000" dirty="0">
                <a:solidFill>
                  <a:schemeClr val="tx1"/>
                </a:solidFill>
              </a:rPr>
              <a:t>Money to the Masses today: 3.15%, published 5 October. Opus B's 3.45% came from a stale search snippet, not the page</a:t>
            </a:r>
            <a:endParaRPr lang="en-US" sz="1000" dirty="0"/>
          </a:p>
          <a:p>
            <a:pPr marL="152400" indent="-152400">
              <a:spcAft>
                <a:spcPts val="400"/>
              </a:spcAft>
              <a:buSzPct val="100000"/>
              <a:buChar char="•"/>
            </a:pPr>
            <a:r>
              <a:rPr lang="en-US" sz="1000" dirty="0">
                <a:solidFill>
                  <a:schemeClr val="tx1"/>
                </a:solidFill>
              </a:rPr>
              <a:t>Finder: current figures, but one line to review: 'Barclaycard doesn't estimate your credit limit from a soft search'</a:t>
            </a:r>
            <a:endParaRPr lang="en-US" sz="1000" dirty="0"/>
          </a:p>
          <a:p>
            <a:pPr marL="152400" indent="-152400">
              <a:spcAft>
                <a:spcPts val="400"/>
              </a:spcAft>
              <a:buSzPct val="100000"/>
              <a:buChar char="•"/>
            </a:pPr>
            <a:r>
              <a:rPr lang="en-US" sz="1000" dirty="0">
                <a:solidFill>
                  <a:schemeClr val="tx1"/>
                </a:solidFill>
              </a:rPr>
              <a:t>Moneyfacts: Barclaycard absent from its chart entirely. Same gap as item 2</a:t>
            </a:r>
            <a:endParaRPr lang="en-US" sz="1000" dirty="0"/>
          </a:p>
          <a:p>
            <a:pPr marL="152400" indent="-152400">
              <a:spcAft>
                <a:spcPts val="400"/>
              </a:spcAft>
              <a:buSzPct val="100000"/>
              <a:buChar char="•"/>
            </a:pPr>
            <a:r>
              <a:rPr lang="en-US" sz="1000" dirty="0">
                <a:solidFill>
                  <a:schemeClr val="tx1"/>
                </a:solidFill>
              </a:rPr>
              <a:t>Controls recalled 3.45% from memory: old figures outlive page fixes</a:t>
            </a:r>
            <a:endParaRPr lang="en-US" sz="1000" dirty="0"/>
          </a:p>
        </p:txBody>
      </p:sp>
      <p:sp>
        <p:nvSpPr>
          <p:cNvPr id="12"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Live pages 11 October 2026 afternoon; deck/evidence/barclaycard_core_tnc_text.txt; what_to_do.md item 5.</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Item 7: how we will know it worked, measured against the 11 October baseline</a:t>
            </a:r>
            <a:endParaRPr lang="en-US" sz="2400" dirty="0"/>
          </a:p>
        </p:txBody>
      </p:sp>
      <p:graphicFrame>
        <p:nvGraphicFramePr>
          <p:cNvPr id="38" name="kpi table"/>
          <p:cNvGraphicFramePr>
            <a:graphicFrameLocks noGrp="1"/>
          </p:cNvGraphicFramePr>
          <p:nvPr>
            <p:extLst>
              <p:ext uri="{D42A27DB-BD31-4B8C-83A1-F6EECF244321}">
                <p14:modId xmlns:p14="http://schemas.microsoft.com/office/powerpoint/2010/main" val="1579011935"/>
              </p:ext>
            </p:extLst>
          </p:nvPr>
        </p:nvGraphicFramePr>
        <p:xfrm>
          <a:off x="457200" y="1188720"/>
          <a:ext cx="7863840" cy="914400"/>
        </p:xfrm>
        <a:graphic>
          <a:graphicData uri="http://schemas.openxmlformats.org/drawingml/2006/table">
            <a:tbl>
              <a:tblPr/>
              <a:tblGrid>
                <a:gridCol w="5303520"/>
                <a:gridCol w="1280160"/>
                <a:gridCol w="1280160"/>
              </a:tblGrid>
              <a:tr h="384048">
                <a:tc>
                  <a:txBody>
                    <a:bodyPr/>
                    <a:lstStyle/>
                    <a:p>
                      <a:pPr indent="0" marL="0">
                        <a:buNone/>
                      </a:pPr>
                      <a:r>
                        <a:rPr lang="en-US" sz="1000" b="1" dirty="0">
                          <a:solidFill>
                            <a:srgbClr val="FFFFFF"/>
                          </a:solidFill>
                        </a:rPr>
                        <a:t>Metric (8 web runs per cycle)</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1000" b="1" dirty="0">
                          <a:solidFill>
                            <a:srgbClr val="FFFFFF"/>
                          </a:solidFill>
                        </a:rPr>
                        <a:t>Baseline</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1000" b="1" dirty="0">
                          <a:solidFill>
                            <a:srgbClr val="FFFFFF"/>
                          </a:solidFill>
                        </a:rPr>
                        <a:t>PoC target by cycle 3</a:t>
                      </a:r>
                      <a:endParaRPr lang="en-US" sz="10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384048">
                <a:tc>
                  <a:txBody>
                    <a:bodyPr/>
                    <a:lstStyle/>
                    <a:p>
                      <a:pPr indent="0" marL="0">
                        <a:buNone/>
                      </a:pPr>
                      <a:r>
                        <a:rPr lang="en-US" sz="1000" dirty="0">
                          <a:solidFill>
                            <a:srgbClr val="0A1F3D"/>
                          </a:solidFill>
                        </a:rPr>
                        <a:t>Barclaycard in the unprompted final top three (turn 2)</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1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3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A1F3D"/>
                          </a:solidFill>
                        </a:rPr>
                        <a:t>Barclaycard in the top three once the user names it (turn 3)</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7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8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1000" dirty="0">
                          <a:solidFill>
                            <a:srgbClr val="0A1F3D"/>
                          </a:solidFill>
                        </a:rPr>
                        <a:t>Barclaycard the single card to apply for (turn 4)</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0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2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A1F3D"/>
                          </a:solidFill>
                        </a:rPr>
                        <a:t>Runs that see the 22 month card from a comparison guide, not only barclaycard.co.uk</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0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4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1000" dirty="0">
                          <a:solidFill>
                            <a:srgbClr val="0A1F3D"/>
                          </a:solidFill>
                        </a:rPr>
                        <a:t>Runs calling a Barclaycard term 'up to' or 'not guaranteed' after reading the site</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7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0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A1F3D"/>
                          </a:solidFill>
                        </a:rPr>
                        <a:t>Runs with a wrong Barclaycard eligibility claim</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1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0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1000" dirty="0">
                          <a:solidFill>
                            <a:srgbClr val="0A1F3D"/>
                          </a:solidFill>
                        </a:rPr>
                        <a:t>Runs listing eligibility or soft-search status as missing at turn 5</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8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0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0A1F3D"/>
                          </a:solidFill>
                        </a:rPr>
                        <a:t>Runs quoting a Barclaycard fee or APR that differs from the site on the day</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3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1000" dirty="0">
                          <a:solidFill>
                            <a:srgbClr val="0A1F3D"/>
                          </a:solidFill>
                        </a:rPr>
                        <a:t>0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384048">
                <a:tc>
                  <a:txBody>
                    <a:bodyPr/>
                    <a:lstStyle/>
                    <a:p>
                      <a:pPr indent="0" marL="0">
                        <a:buNone/>
                      </a:pPr>
                      <a:r>
                        <a:rPr lang="en-US" sz="1000" dirty="0">
                          <a:solidFill>
                            <a:srgbClr val="0A1F3D"/>
                          </a:solidFill>
                        </a:rPr>
                        <a:t>Runs hitting a Barclaycard 404 or using a search page as the source</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5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1000" dirty="0">
                          <a:solidFill>
                            <a:srgbClr val="0A1F3D"/>
                          </a:solidFill>
                        </a:rPr>
                        <a:t>0 of 8</a:t>
                      </a:r>
                      <a:endParaRPr lang="en-US" sz="10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4" name="heading Reading the numbers"/>
          <p:cNvSpPr txBox="1"/>
          <p:nvPr/>
        </p:nvSpPr>
        <p:spPr>
          <a:xfrm>
            <a:off x="8595360" y="1188720"/>
            <a:ext cx="3154680" cy="365760"/>
          </a:xfrm>
          <a:prstGeom prst="rect">
            <a:avLst/>
          </a:prstGeom>
          <a:noFill/>
          <a:ln/>
        </p:spPr>
        <p:txBody>
          <a:bodyPr wrap="square" lIns="0" tIns="0" rIns="0" bIns="0" rtlCol="0" anchor="ctr"/>
          <a:lstStyle/>
          <a:p>
            <a:pPr indent="0" marL="0">
              <a:buNone/>
            </a:pPr>
            <a:r>
              <a:rPr lang="en-US" sz="1250" b="1" dirty="0">
                <a:solidFill>
                  <a:schemeClr val="tx2"/>
                </a:solidFill>
              </a:rPr>
              <a:t>Reading the numbers</a:t>
            </a:r>
            <a:endParaRPr lang="en-US" sz="1250" dirty="0"/>
          </a:p>
        </p:txBody>
      </p:sp>
      <p:sp>
        <p:nvSpPr>
          <p:cNvPr id="5" name="bullets"/>
          <p:cNvSpPr txBox="1"/>
          <p:nvPr/>
        </p:nvSpPr>
        <p:spPr>
          <a:xfrm>
            <a:off x="8595360" y="1600200"/>
            <a:ext cx="3154680" cy="43891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Eight runs: one run moving changes a rate by 12.5 points. Read three cycles of direction, not one month</a:t>
            </a:r>
            <a:endParaRPr lang="en-US" sz="1050" dirty="0"/>
          </a:p>
          <a:p>
            <a:pPr marL="152400" indent="-152400">
              <a:spcAft>
                <a:spcPts val="400"/>
              </a:spcAft>
              <a:buSzPct val="100000"/>
              <a:buChar char="•"/>
            </a:pPr>
            <a:r>
              <a:rPr lang="en-US" sz="1050" dirty="0">
                <a:solidFill>
                  <a:schemeClr val="tx1"/>
                </a:solidFill>
              </a:rPr>
              <a:t>Keep all four model families, so a change in one vendor's retrieval is not read as a market change</a:t>
            </a:r>
            <a:endParaRPr lang="en-US" sz="1050" dirty="0"/>
          </a:p>
          <a:p>
            <a:pPr marL="152400" indent="-152400">
              <a:spcAft>
                <a:spcPts val="400"/>
              </a:spcAft>
              <a:buSzPct val="100000"/>
              <a:buChar char="•"/>
            </a:pPr>
            <a:r>
              <a:rPr lang="en-US" sz="1050" dirty="0">
                <a:solidFill>
                  <a:schemeClr val="tx1"/>
                </a:solidFill>
              </a:rPr>
              <a:t>Every metric is a count from the transcripts, scored the same way as results.csv, so a reviewer can recount it</a:t>
            </a:r>
            <a:endParaRPr lang="en-US" sz="1050" dirty="0"/>
          </a:p>
          <a:p>
            <a:pPr marL="152400" indent="-152400">
              <a:spcAft>
                <a:spcPts val="400"/>
              </a:spcAft>
              <a:buSzPct val="100000"/>
              <a:buChar char="•"/>
            </a:pPr>
            <a:r>
              <a:rPr lang="en-US" sz="1050" dirty="0">
                <a:solidFill>
                  <a:schemeClr val="tx1"/>
                </a:solidFill>
              </a:rPr>
              <a:t>Personas widen after the PoC: a £5,000 debt, a 36 month plan, an existing Barclays customer</a:t>
            </a:r>
            <a:endParaRPr lang="en-US" sz="1050" dirty="0"/>
          </a:p>
        </p:txBody>
      </p:sp>
      <p:sp>
        <p:nvSpPr>
          <p:cNvPr id="6"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what_to_do.md item 7; results.csv; protocol.md.</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Item 8: what is at stake, an order-of-magnitude estimate from public data</a:t>
            </a:r>
            <a:endParaRPr lang="en-US" sz="2400" dirty="0"/>
          </a:p>
        </p:txBody>
      </p:sp>
      <p:graphicFrame>
        <p:nvGraphicFramePr>
          <p:cNvPr id="39" name="inputs table"/>
          <p:cNvGraphicFramePr>
            <a:graphicFrameLocks noGrp="1"/>
          </p:cNvGraphicFramePr>
          <p:nvPr>
            <p:extLst>
              <p:ext uri="{D42A27DB-BD31-4B8C-83A1-F6EECF244321}">
                <p14:modId xmlns:p14="http://schemas.microsoft.com/office/powerpoint/2010/main" val="1579011935"/>
              </p:ext>
            </p:extLst>
          </p:nvPr>
        </p:nvGraphicFramePr>
        <p:xfrm>
          <a:off x="457200" y="1188720"/>
          <a:ext cx="6766560" cy="914400"/>
        </p:xfrm>
        <a:graphic>
          <a:graphicData uri="http://schemas.openxmlformats.org/drawingml/2006/table">
            <a:tbl>
              <a:tblPr/>
              <a:tblGrid>
                <a:gridCol w="2286000"/>
                <a:gridCol w="2743200"/>
                <a:gridCol w="1737360"/>
              </a:tblGrid>
              <a:tr h="420624">
                <a:tc>
                  <a:txBody>
                    <a:bodyPr/>
                    <a:lstStyle/>
                    <a:p>
                      <a:pPr indent="0" marL="0">
                        <a:buNone/>
                      </a:pPr>
                      <a:r>
                        <a:rPr lang="en-US" sz="850" b="1" dirty="0">
                          <a:solidFill>
                            <a:srgbClr val="FFFFFF"/>
                          </a:solidFill>
                        </a:rPr>
                        <a:t>Input</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Value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Source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420624">
                <a:tc>
                  <a:txBody>
                    <a:bodyPr/>
                    <a:lstStyle/>
                    <a:p>
                      <a:pPr indent="0" marL="0">
                        <a:buNone/>
                      </a:pPr>
                      <a:r>
                        <a:rPr lang="en-US" sz="850" b="1" dirty="0">
                          <a:solidFill>
                            <a:srgbClr val="0A1F3D"/>
                          </a:solidFill>
                        </a:rPr>
                        <a:t>UK balance transfers, Apr 2025 to Mar 2026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8.9m transfers, £20.5bn, average £2,290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UK Finance Card Spending Update, March 2026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0A1F3D"/>
                          </a:solidFill>
                        </a:rPr>
                        <a:t>Barclays UK cards gross exposure, end 2025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£17.2bn of £72.3bn UK balances, about 24%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Barclays 2025 Results; UK Finance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20624">
                <a:tc>
                  <a:txBody>
                    <a:bodyPr/>
                    <a:lstStyle/>
                    <a:p>
                      <a:pPr indent="0" marL="0">
                        <a:buNone/>
                      </a:pPr>
                      <a:r>
                        <a:rPr lang="en-US" sz="850" b="1" dirty="0">
                          <a:solidFill>
                            <a:srgbClr val="0A1F3D"/>
                          </a:solidFill>
                        </a:rPr>
                        <a:t>Financial-product shoppers who used AI to assist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17% (credit cards in the 15 to 20% band); under a quarter followed it outright, 72 to 80% compared it with other sources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FCA / Yonder, n=5,026, April 2026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0A1F3D"/>
                          </a:solidFill>
                        </a:rPr>
                        <a:t>UK adults using AI tools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54%, from 31% in 2024</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Ofcom 2026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20624">
                <a:tc>
                  <a:txBody>
                    <a:bodyPr/>
                    <a:lstStyle/>
                    <a:p>
                      <a:pPr indent="0" marL="0">
                        <a:buNone/>
                      </a:pPr>
                      <a:r>
                        <a:rPr lang="en-US" sz="850" b="1" dirty="0">
                          <a:solidFill>
                            <a:srgbClr val="0A1F3D"/>
                          </a:solidFill>
                        </a:rPr>
                        <a:t>Barclaycard in AI answers today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unprompted top three 1 of 8; pick 0 of 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This study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0A1F3D"/>
                          </a:solidFill>
                        </a:rPr>
                        <a:t>Account value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£400 per account over 10 years (assumption supplied)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Head of Credit Cards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graphicFrame>
        <p:nvGraphicFramePr>
          <p:cNvPr id="77" name="scenario table"/>
          <p:cNvGraphicFramePr>
            <a:graphicFrameLocks noGrp="1"/>
          </p:cNvGraphicFramePr>
          <p:nvPr>
            <p:extLst>
              <p:ext uri="{D42A27DB-BD31-4B8C-83A1-F6EECF244321}">
                <p14:modId xmlns:p14="http://schemas.microsoft.com/office/powerpoint/2010/main" val="1579011935"/>
              </p:ext>
            </p:extLst>
          </p:nvPr>
        </p:nvGraphicFramePr>
        <p:xfrm>
          <a:off x="7498080" y="1188720"/>
          <a:ext cx="4251960" cy="914400"/>
        </p:xfrm>
        <a:graphic>
          <a:graphicData uri="http://schemas.openxmlformats.org/drawingml/2006/table">
            <a:tbl>
              <a:tblPr/>
              <a:tblGrid>
                <a:gridCol w="594360"/>
                <a:gridCol w="777240"/>
                <a:gridCol w="731520"/>
                <a:gridCol w="685800"/>
                <a:gridCol w="685800"/>
                <a:gridCol w="777240"/>
              </a:tblGrid>
              <a:tr h="457200">
                <a:tc>
                  <a:txBody>
                    <a:bodyPr/>
                    <a:lstStyle/>
                    <a:p>
                      <a:pPr indent="0" marL="0">
                        <a:buNone/>
                      </a:pPr>
                      <a:r>
                        <a:rPr lang="en-US" sz="850" b="1" dirty="0">
                          <a:solidFill>
                            <a:srgbClr val="FFFFFF"/>
                          </a:solidFill>
                        </a:rPr>
                        <a:t>Scenario</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AI sets the shortlist</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Gap to fair share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Balances a year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Accounts a year</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Value at £400 over 10 years</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457200">
                <a:tc>
                  <a:txBody>
                    <a:bodyPr/>
                    <a:lstStyle/>
                    <a:p>
                      <a:pPr indent="0" marL="0">
                        <a:buNone/>
                      </a:pPr>
                      <a:r>
                        <a:rPr lang="en-US" sz="850" b="1" dirty="0">
                          <a:solidFill>
                            <a:srgbClr val="0A1F3D"/>
                          </a:solidFill>
                        </a:rPr>
                        <a:t>Low</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10 points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£61m</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27,000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£11m per cohort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A1F3D"/>
                          </a:solidFill>
                        </a:rPr>
                        <a:t>Mid</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17 points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£279m</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122,000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£49m per cohort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457200">
                <a:tc>
                  <a:txBody>
                    <a:bodyPr/>
                    <a:lstStyle/>
                    <a:p>
                      <a:pPr indent="0" marL="0">
                        <a:buNone/>
                      </a:pPr>
                      <a:r>
                        <a:rPr lang="en-US" sz="850" b="1" dirty="0">
                          <a:solidFill>
                            <a:srgbClr val="0A1F3D"/>
                          </a:solidFill>
                        </a:rPr>
                        <a:t>High</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17%</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20 points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£700m</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306,000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£122m per cohort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5" name="bullets"/>
          <p:cNvSpPr txBox="1"/>
          <p:nvPr/>
        </p:nvSpPr>
        <p:spPr>
          <a:xfrm>
            <a:off x="7498080" y="3200400"/>
            <a:ext cx="4251960" cy="2834640"/>
          </a:xfrm>
          <a:prstGeom prst="rect">
            <a:avLst/>
          </a:prstGeom>
          <a:noFill/>
          <a:ln/>
        </p:spPr>
        <p:txBody>
          <a:bodyPr wrap="square" lIns="0" tIns="0" rIns="0" bIns="0" rtlCol="0" anchor="t"/>
          <a:lstStyle/>
          <a:p>
            <a:pPr marL="152400" indent="-152400">
              <a:spcAft>
                <a:spcPts val="400"/>
              </a:spcAft>
              <a:buSzPct val="100000"/>
              <a:buChar char="•"/>
            </a:pPr>
            <a:r>
              <a:rPr lang="en-US" sz="900" b="1" dirty="0">
                <a:solidFill>
                  <a:schemeClr val="tx1"/>
                </a:solidFill>
              </a:rPr>
              <a:t>The model: </a:t>
            </a:r>
            <a:pPr indent="0" marL="0">
              <a:spcAft>
                <a:spcPts val="400"/>
              </a:spcAft>
              <a:buNone/>
            </a:pPr>
            <a:r>
              <a:rPr lang="en-US" sz="900" dirty="0">
                <a:solidFill>
                  <a:schemeClr val="tx1"/>
                </a:solidFill>
              </a:rPr>
              <a:t>UK transfer value x share of decisions where an AI sets the shortlist x (Barclaycard's fair share, 20 to 25%, minus its share in AI answers, below 12.5%). Accounts = balances / £2,290. Value = accounts x £400.</a:t>
            </a:r>
            <a:endParaRPr lang="en-US" sz="900" dirty="0"/>
          </a:p>
          <a:p>
            <a:pPr marL="152400" indent="-152400">
              <a:spcAft>
                <a:spcPts val="400"/>
              </a:spcAft>
              <a:buSzPct val="100000"/>
              <a:buChar char="•"/>
            </a:pPr>
            <a:r>
              <a:rPr lang="en-US" sz="900" b="1" dirty="0">
                <a:solidFill>
                  <a:schemeClr val="tx1"/>
                </a:solidFill>
              </a:rPr>
              <a:t>Why the mid case leads: </a:t>
            </a:r>
            <a:pPr indent="0" marL="0">
              <a:spcAft>
                <a:spcPts val="400"/>
              </a:spcAft>
              <a:buNone/>
            </a:pPr>
            <a:r>
              <a:rPr lang="en-US" sz="900" dirty="0">
                <a:solidFill>
                  <a:schemeClr val="tx1"/>
                </a:solidFill>
              </a:rPr>
              <a:t>17% is the FCA's measured share of shoppers who used AI, before weighting for how many followed it; 8% applies the finding that most use AI to build the shortlist rather than follow it; 3% counts only those who followed it.</a:t>
            </a:r>
            <a:endParaRPr lang="en-US" sz="900" dirty="0"/>
          </a:p>
          <a:p>
            <a:pPr marL="152400" indent="-152400">
              <a:spcAft>
                <a:spcPts val="400"/>
              </a:spcAft>
              <a:buSzPct val="100000"/>
              <a:buChar char="•"/>
            </a:pPr>
            <a:r>
              <a:rPr lang="en-US" sz="900" b="1" dirty="0">
                <a:solidFill>
                  <a:schemeClr val="tx1"/>
                </a:solidFill>
              </a:rPr>
              <a:t>Direction: </a:t>
            </a:r>
            <a:pPr indent="0" marL="0">
              <a:spcAft>
                <a:spcPts val="400"/>
              </a:spcAft>
              <a:buNone/>
            </a:pPr>
            <a:r>
              <a:rPr lang="en-US" sz="900" dirty="0">
                <a:solidFill>
                  <a:schemeClr val="tx1"/>
                </a:solidFill>
              </a:rPr>
              <a:t>Ofcom's AI-tool usage doubled in two years; the FCA figure is six months old. Each year's cohort adds its own 10-year value: three years of the mid case is about £150m against running costs in the low tens of thousands a year.</a:t>
            </a:r>
            <a:endParaRPr lang="en-US" sz="900" dirty="0"/>
          </a:p>
          <a:p>
            <a:pPr marL="152400" indent="-152400">
              <a:spcAft>
                <a:spcPts val="400"/>
              </a:spcAft>
              <a:buSzPct val="100000"/>
              <a:buChar char="•"/>
            </a:pPr>
            <a:r>
              <a:rPr lang="en-US" sz="900" b="1" dirty="0">
                <a:solidFill>
                  <a:schemeClr val="tx1"/>
                </a:solidFill>
              </a:rPr>
              <a:t>A second value line: </a:t>
            </a:r>
            <a:pPr indent="0" marL="0">
              <a:spcAft>
                <a:spcPts val="400"/>
              </a:spcAft>
              <a:buNone/>
            </a:pPr>
            <a:r>
              <a:rPr lang="en-US" sz="900" dirty="0">
                <a:solidFill>
                  <a:schemeClr val="tx1"/>
                </a:solidFill>
              </a:rPr>
              <a:t>2 of 8 runs gave the customer a wrong fact about Barclaycard, a conduct and complaints exposure as well as a lost sale.</a:t>
            </a:r>
            <a:endParaRPr lang="en-US" sz="900" dirty="0"/>
          </a:p>
        </p:txBody>
      </p:sp>
      <p:sp>
        <p:nvSpPr>
          <p:cNvPr id="6"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what_to_do.md item 8a; deck/evidence/ukfinance_card_spending_march2026_text.txt; FCA ai-consumer-research.pdf; Barclays FY25 results credit risk tables.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Item 8: proof of concept, then handover to run-the-bank</a:t>
            </a:r>
            <a:endParaRPr lang="en-US" sz="2400" dirty="0"/>
          </a:p>
        </p:txBody>
      </p:sp>
      <p:sp>
        <p:nvSpPr>
          <p:cNvPr id="3" name="card poc"/>
          <p:cNvSpPr/>
          <p:nvPr/>
        </p:nvSpPr>
        <p:spPr>
          <a:xfrm>
            <a:off x="457200" y="1188720"/>
            <a:ext cx="5394960" cy="4846320"/>
          </a:xfrm>
          <a:prstGeom prst="roundRect">
            <a:avLst>
              <a:gd name="adj" fmla="val 1509"/>
            </a:avLst>
          </a:prstGeom>
          <a:solidFill>
            <a:schemeClr val="bg2"/>
          </a:solidFill>
          <a:ln w="9525">
            <a:solidFill>
              <a:schemeClr val="accent5"/>
            </a:solidFill>
            <a:prstDash val="solid"/>
          </a:ln>
        </p:spPr>
      </p:sp>
      <p:sp>
        <p:nvSpPr>
          <p:cNvPr id="4" name="heading Proof of concept, ow"/>
          <p:cNvSpPr txBox="1"/>
          <p:nvPr/>
        </p:nvSpPr>
        <p:spPr>
          <a:xfrm>
            <a:off x="640080" y="1280160"/>
            <a:ext cx="5029200" cy="365760"/>
          </a:xfrm>
          <a:prstGeom prst="rect">
            <a:avLst/>
          </a:prstGeom>
          <a:noFill/>
          <a:ln/>
        </p:spPr>
        <p:txBody>
          <a:bodyPr wrap="square" lIns="0" tIns="0" rIns="0" bIns="0" rtlCol="0" anchor="ctr"/>
          <a:lstStyle/>
          <a:p>
            <a:pPr indent="0" marL="0">
              <a:buNone/>
            </a:pPr>
            <a:r>
              <a:rPr lang="en-US" sz="1300" b="1" dirty="0">
                <a:solidFill>
                  <a:schemeClr val="tx2"/>
                </a:solidFill>
              </a:rPr>
              <a:t>Proof of concept, owned by the Head of Credit Cards</a:t>
            </a:r>
            <a:endParaRPr lang="en-US" sz="1300" dirty="0"/>
          </a:p>
        </p:txBody>
      </p:sp>
      <p:sp>
        <p:nvSpPr>
          <p:cNvPr id="5" name="bullets"/>
          <p:cNvSpPr txBox="1"/>
          <p:nvPr/>
        </p:nvSpPr>
        <p:spPr>
          <a:xfrm>
            <a:off x="640080" y="1691640"/>
            <a:ext cx="5029200" cy="420624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chemeClr val="tx1"/>
                </a:solidFill>
              </a:rPr>
              <a:t>Scope: </a:t>
            </a:r>
            <a:pPr indent="0" marL="0">
              <a:spcAft>
                <a:spcPts val="400"/>
              </a:spcAft>
              <a:buNone/>
            </a:pPr>
            <a:r>
              <a:rPr lang="en-US" sz="1050" dirty="0">
                <a:solidFill>
                  <a:schemeClr val="tx1"/>
                </a:solidFill>
              </a:rPr>
              <a:t>balance transfers only; the existing persona with two credit profiles; four model families; web search on; five turns; eight runs a cycle. Baseline done 11 October.</a:t>
            </a:r>
            <a:endParaRPr lang="en-US" sz="1050" dirty="0"/>
          </a:p>
          <a:p>
            <a:pPr marL="152400" indent="-152400">
              <a:spcAft>
                <a:spcPts val="400"/>
              </a:spcAft>
              <a:buSzPct val="100000"/>
              <a:buChar char="•"/>
            </a:pPr>
            <a:r>
              <a:rPr lang="en-US" sz="1050" b="1" dirty="0">
                <a:solidFill>
                  <a:schemeClr val="tx1"/>
                </a:solidFill>
              </a:rPr>
              <a:t>Cycles: </a:t>
            </a:r>
            <a:pPr indent="0" marL="0">
              <a:spcAft>
                <a:spcPts val="400"/>
              </a:spcAft>
              <a:buNone/>
            </a:pPr>
            <a:r>
              <a:rPr lang="en-US" sz="1050" dirty="0">
                <a:solidFill>
                  <a:schemeClr val="tx1"/>
                </a:solidFill>
              </a:rPr>
              <a:t>November, December, January, plus one before-and-after cycle the week after the first site change (items 1, 2, 4) goes live.</a:t>
            </a:r>
            <a:endParaRPr lang="en-US" sz="1050" dirty="0"/>
          </a:p>
          <a:p>
            <a:pPr marL="152400" indent="-152400">
              <a:spcAft>
                <a:spcPts val="400"/>
              </a:spcAft>
              <a:buSzPct val="100000"/>
              <a:buChar char="•"/>
            </a:pPr>
            <a:r>
              <a:rPr lang="en-US" sz="1050" b="1" dirty="0">
                <a:solidFill>
                  <a:schemeClr val="tx1"/>
                </a:solidFill>
              </a:rPr>
              <a:t>Success criteria: </a:t>
            </a:r>
            <a:pPr indent="0" marL="0">
              <a:spcAft>
                <a:spcPts val="400"/>
              </a:spcAft>
              <a:buNone/>
            </a:pPr>
            <a:r>
              <a:rPr lang="en-US" sz="1050" dirty="0">
                <a:solidFill>
                  <a:schemeClr val="tx1"/>
                </a:solidFill>
              </a:rPr>
              <a:t>the item 7 targets: 22 month card seen from a guide in 4 of 8; no wrong eligibility claim; no rate or fee differing from the site; unprompted top three in 3 of 8 by cycle three.</a:t>
            </a:r>
            <a:endParaRPr lang="en-US" sz="1050" dirty="0"/>
          </a:p>
          <a:p>
            <a:pPr marL="152400" indent="-152400">
              <a:spcAft>
                <a:spcPts val="400"/>
              </a:spcAft>
              <a:buSzPct val="100000"/>
              <a:buChar char="•"/>
            </a:pPr>
            <a:r>
              <a:rPr lang="en-US" sz="1050" b="1" dirty="0">
                <a:solidFill>
                  <a:schemeClr val="tx1"/>
                </a:solidFill>
              </a:rPr>
              <a:t>Deliverables: </a:t>
            </a:r>
            <a:pPr indent="0" marL="0">
              <a:spcAft>
                <a:spcPts val="400"/>
              </a:spcAft>
              <a:buNone/>
            </a:pPr>
            <a:r>
              <a:rPr lang="en-US" sz="1050" dirty="0">
                <a:solidFill>
                  <a:schemeClr val="tx1"/>
                </a:solidFill>
              </a:rPr>
              <a:t>the written scoring rubric; a one-page report per cycle; an end-of-January decision on widening personas and products.</a:t>
            </a:r>
            <a:endParaRPr lang="en-US" sz="1050" dirty="0"/>
          </a:p>
          <a:p>
            <a:pPr marL="152400" indent="-152400">
              <a:spcAft>
                <a:spcPts val="400"/>
              </a:spcAft>
              <a:buSzPct val="100000"/>
              <a:buChar char="•"/>
            </a:pPr>
            <a:r>
              <a:rPr lang="en-US" sz="1050" b="1" dirty="0">
                <a:solidFill>
                  <a:schemeClr val="tx1"/>
                </a:solidFill>
              </a:rPr>
              <a:t>Execution: </a:t>
            </a:r>
            <a:pPr indent="0" marL="0">
              <a:spcAft>
                <a:spcPts val="400"/>
              </a:spcAft>
              <a:buNone/>
            </a:pPr>
            <a:r>
              <a:rPr lang="en-US" sz="1050" dirty="0">
                <a:solidFill>
                  <a:schemeClr val="tx1"/>
                </a:solidFill>
              </a:rPr>
              <a:t>the agency runs and scores; the Head of Credit Cards owns the decisions.</a:t>
            </a:r>
            <a:endParaRPr lang="en-US" sz="1050" dirty="0"/>
          </a:p>
        </p:txBody>
      </p:sp>
      <p:sp>
        <p:nvSpPr>
          <p:cNvPr id="6" name="card rtb"/>
          <p:cNvSpPr/>
          <p:nvPr/>
        </p:nvSpPr>
        <p:spPr>
          <a:xfrm>
            <a:off x="6309360" y="1188720"/>
            <a:ext cx="5440680" cy="4846320"/>
          </a:xfrm>
          <a:prstGeom prst="roundRect">
            <a:avLst>
              <a:gd name="adj" fmla="val 1509"/>
            </a:avLst>
          </a:prstGeom>
          <a:solidFill>
            <a:schemeClr val="bg2"/>
          </a:solidFill>
          <a:ln w="9525">
            <a:solidFill>
              <a:schemeClr val="accent5"/>
            </a:solidFill>
            <a:prstDash val="solid"/>
          </a:ln>
        </p:spPr>
      </p:sp>
      <p:sp>
        <p:nvSpPr>
          <p:cNvPr id="7" name="heading Handover to run-the-"/>
          <p:cNvSpPr txBox="1"/>
          <p:nvPr/>
        </p:nvSpPr>
        <p:spPr>
          <a:xfrm>
            <a:off x="6492240" y="1280160"/>
            <a:ext cx="5120640" cy="365760"/>
          </a:xfrm>
          <a:prstGeom prst="rect">
            <a:avLst/>
          </a:prstGeom>
          <a:noFill/>
          <a:ln/>
        </p:spPr>
        <p:txBody>
          <a:bodyPr wrap="square" lIns="0" tIns="0" rIns="0" bIns="0" rtlCol="0" anchor="ctr"/>
          <a:lstStyle/>
          <a:p>
            <a:pPr indent="0" marL="0">
              <a:buNone/>
            </a:pPr>
            <a:r>
              <a:rPr lang="en-US" sz="1300" b="1" dirty="0">
                <a:solidFill>
                  <a:schemeClr val="tx2"/>
                </a:solidFill>
              </a:rPr>
              <a:t>Handover to run-the-bank: automate and monitor</a:t>
            </a:r>
            <a:endParaRPr lang="en-US" sz="1300" dirty="0"/>
          </a:p>
        </p:txBody>
      </p:sp>
      <p:sp>
        <p:nvSpPr>
          <p:cNvPr id="8" name="bullets"/>
          <p:cNvSpPr txBox="1"/>
          <p:nvPr/>
        </p:nvSpPr>
        <p:spPr>
          <a:xfrm>
            <a:off x="6492240" y="1691640"/>
            <a:ext cx="5120640" cy="4206240"/>
          </a:xfrm>
          <a:prstGeom prst="rect">
            <a:avLst/>
          </a:prstGeom>
          <a:noFill/>
          <a:ln/>
        </p:spPr>
        <p:txBody>
          <a:bodyPr wrap="square" lIns="0" tIns="0" rIns="0" bIns="0" rtlCol="0" anchor="t"/>
          <a:lstStyle/>
          <a:p>
            <a:pPr marL="152400" indent="-152400">
              <a:spcAft>
                <a:spcPts val="400"/>
              </a:spcAft>
              <a:buSzPct val="100000"/>
              <a:buChar char="•"/>
            </a:pPr>
            <a:r>
              <a:rPr lang="en-US" sz="1000" b="1" dirty="0">
                <a:solidFill>
                  <a:schemeClr val="tx1"/>
                </a:solidFill>
              </a:rPr>
              <a:t>Scripted monthly runs </a:t>
            </a:r>
            <a:pPr indent="0" marL="0">
              <a:spcAft>
                <a:spcPts val="400"/>
              </a:spcAft>
              <a:buNone/>
            </a:pPr>
            <a:r>
              <a:rPr lang="en-US" sz="1000" dirty="0">
                <a:solidFill>
                  <a:schemeClr val="tx1"/>
                </a:solidFill>
              </a:rPr>
              <a:t>against each vendor's API with the search tool on; persona and turn script from protocol.md; search logs captured as data.</a:t>
            </a:r>
            <a:endParaRPr lang="en-US" sz="1000" dirty="0"/>
          </a:p>
          <a:p>
            <a:pPr marL="152400" indent="-152400">
              <a:spcAft>
                <a:spcPts val="400"/>
              </a:spcAft>
              <a:buSzPct val="100000"/>
              <a:buChar char="•"/>
            </a:pPr>
            <a:r>
              <a:rPr lang="en-US" sz="1000" b="1" dirty="0">
                <a:solidFill>
                  <a:schemeClr val="tx1"/>
                </a:solidFill>
              </a:rPr>
              <a:t>Rubric scorer </a:t>
            </a:r>
            <a:pPr indent="0" marL="0">
              <a:spcAft>
                <a:spcPts val="400"/>
              </a:spcAft>
              <a:buNone/>
            </a:pPr>
            <a:r>
              <a:rPr lang="en-US" sz="1000" dirty="0">
                <a:solidFill>
                  <a:schemeClr val="tx1"/>
                </a:solidFill>
              </a:rPr>
              <a:t>extracts rankings, picks, every Barclaycard figure and every URL; an analyst checks one run in five; a figure that differs from the live page is flagged the same day.</a:t>
            </a:r>
            <a:endParaRPr lang="en-US" sz="1000" dirty="0"/>
          </a:p>
          <a:p>
            <a:pPr marL="152400" indent="-152400">
              <a:spcAft>
                <a:spcPts val="400"/>
              </a:spcAft>
              <a:buSzPct val="100000"/>
              <a:buChar char="•"/>
            </a:pPr>
            <a:r>
              <a:rPr lang="en-US" sz="1000" b="1" dirty="0">
                <a:solidFill>
                  <a:schemeClr val="tx1"/>
                </a:solidFill>
              </a:rPr>
              <a:t>Nightly site hygiene monitor: </a:t>
            </a:r>
            <a:pPr indent="0" marL="0">
              <a:spcAft>
                <a:spcPts val="400"/>
              </a:spcAft>
              <a:buNone/>
            </a:pPr>
            <a:r>
              <a:rPr lang="en-US" sz="1000" dirty="0">
                <a:solidFill>
                  <a:schemeClr val="tx1"/>
                </a:solidFill>
              </a:rPr>
              <a:t>404s on every 'See card details' link, APR consistency, eligibility and date lines, the 22 month card on barclays.co.uk, presence in MSE, Which? and Moneyfacts.</a:t>
            </a:r>
            <a:endParaRPr lang="en-US" sz="1000" dirty="0"/>
          </a:p>
          <a:p>
            <a:pPr marL="152400" indent="-152400">
              <a:spcAft>
                <a:spcPts val="400"/>
              </a:spcAft>
              <a:buSzPct val="100000"/>
              <a:buChar char="•"/>
            </a:pPr>
            <a:r>
              <a:rPr lang="en-US" sz="1000" b="1" dirty="0">
                <a:solidFill>
                  <a:schemeClr val="tx1"/>
                </a:solidFill>
              </a:rPr>
              <a:t>Dashboard and alerts: </a:t>
            </a:r>
            <a:pPr indent="0" marL="0">
              <a:spcAft>
                <a:spcPts val="400"/>
              </a:spcAft>
              <a:buNone/>
            </a:pPr>
            <a:r>
              <a:rPr lang="en-US" sz="1000" dirty="0">
                <a:solidFill>
                  <a:schemeClr val="tx1"/>
                </a:solidFill>
              </a:rPr>
              <a:t>the item 7 table monthly; alerts to the product owner for a wrong fact, to the web team for a 404.</a:t>
            </a:r>
            <a:endParaRPr lang="en-US" sz="1000" dirty="0"/>
          </a:p>
          <a:p>
            <a:pPr marL="152400" indent="-152400">
              <a:spcAft>
                <a:spcPts val="400"/>
              </a:spcAft>
              <a:buSzPct val="100000"/>
              <a:buChar char="•"/>
            </a:pPr>
            <a:r>
              <a:rPr lang="en-US" sz="1000" b="1" dirty="0">
                <a:solidFill>
                  <a:schemeClr val="tx1"/>
                </a:solidFill>
              </a:rPr>
              <a:t>Ownership: </a:t>
            </a:r>
            <a:pPr indent="0" marL="0">
              <a:spcAft>
                <a:spcPts val="400"/>
              </a:spcAft>
              <a:buNone/>
            </a:pPr>
            <a:r>
              <a:rPr lang="en-US" sz="1000" dirty="0">
                <a:solidFill>
                  <a:schemeClr val="tx1"/>
                </a:solidFill>
              </a:rPr>
              <a:t>card team decides; digital fixes the site and runs the monitor; analytics runs the scorer; compliance approves persona and prompts; agency on methodology for three cycles, then advisory.</a:t>
            </a:r>
            <a:endParaRPr lang="en-US" sz="1000" dirty="0"/>
          </a:p>
          <a:p>
            <a:pPr marL="152400" indent="-152400">
              <a:spcAft>
                <a:spcPts val="400"/>
              </a:spcAft>
              <a:buSzPct val="100000"/>
              <a:buChar char="•"/>
            </a:pPr>
            <a:r>
              <a:rPr lang="en-US" sz="1000" b="1" dirty="0">
                <a:solidFill>
                  <a:schemeClr val="tx1"/>
                </a:solidFill>
              </a:rPr>
              <a:t>Cost: </a:t>
            </a:r>
            <a:pPr indent="0" marL="0">
              <a:spcAft>
                <a:spcPts val="400"/>
              </a:spcAft>
              <a:buNone/>
            </a:pPr>
            <a:r>
              <a:rPr lang="en-US" sz="1000" dirty="0">
                <a:solidFill>
                  <a:schemeClr val="tx1"/>
                </a:solidFill>
              </a:rPr>
              <a:t>model usage in the tens of pounds a month; four to six weeks of one engineer to build; one to two analyst days a month to run.</a:t>
            </a:r>
            <a:endParaRPr lang="en-US" sz="1000" dirty="0"/>
          </a:p>
        </p:txBody>
      </p:sp>
      <p:sp>
        <p:nvSpPr>
          <p:cNvPr id="9"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what_to_do.md items 8b and 8c.</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Appendix: where to check every claim</a:t>
            </a:r>
            <a:endParaRPr lang="en-US" sz="2400" dirty="0"/>
          </a:p>
        </p:txBody>
      </p:sp>
      <p:graphicFrame>
        <p:nvGraphicFramePr>
          <p:cNvPr id="41" name="appendix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926080"/>
                <a:gridCol w="5120640"/>
                <a:gridCol w="3200400"/>
              </a:tblGrid>
              <a:tr h="457200">
                <a:tc>
                  <a:txBody>
                    <a:bodyPr/>
                    <a:lstStyle/>
                    <a:p>
                      <a:pPr indent="0" marL="0">
                        <a:buNone/>
                      </a:pPr>
                      <a:r>
                        <a:rPr lang="en-US" sz="950" b="1" dirty="0">
                          <a:solidFill>
                            <a:srgbClr val="FFFFFF"/>
                          </a:solidFill>
                        </a:rPr>
                        <a:t>Claim type</a:t>
                      </a:r>
                      <a:endParaRPr lang="en-US" sz="9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50" b="1" dirty="0">
                          <a:solidFill>
                            <a:srgbClr val="FFFFFF"/>
                          </a:solidFill>
                        </a:rPr>
                        <a:t>Where</a:t>
                      </a:r>
                      <a:endParaRPr lang="en-US" sz="9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50" b="1" dirty="0">
                          <a:solidFill>
                            <a:srgbClr val="FFFFFF"/>
                          </a:solidFill>
                        </a:rPr>
                        <a:t>How to test</a:t>
                      </a:r>
                      <a:endParaRPr lang="en-US" sz="9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457200">
                <a:tc>
                  <a:txBody>
                    <a:bodyPr/>
                    <a:lstStyle/>
                    <a:p>
                      <a:pPr indent="0" marL="0">
                        <a:buNone/>
                      </a:pPr>
                      <a:r>
                        <a:rPr lang="en-US" sz="950" b="1" dirty="0">
                          <a:solidFill>
                            <a:srgbClr val="0A1F3D"/>
                          </a:solidFill>
                        </a:rPr>
                        <a:t>A question the model asked, at a turn</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Oct11_3pm/transcripts/{A,B}-{model}.md, the model reply under that turn heading</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Read the turn; the question is there verbatim or it is not</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A1F3D"/>
                          </a:solidFill>
                        </a:rPr>
                        <a:t>A source opened or used</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50" dirty="0">
                          <a:solidFill>
                            <a:srgbClr val="0A1F3D"/>
                          </a:solidFill>
                        </a:rPr>
                        <a:t>SEARCH LOG block after each reply: Q: lines are queries, URL: lines are pages, '(opened)' marks a fetched page</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50" dirty="0">
                          <a:solidFill>
                            <a:srgbClr val="0A1F3D"/>
                          </a:solidFill>
                        </a:rPr>
                        <a:t>Search the file for the domain</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57200">
                <a:tc>
                  <a:txBody>
                    <a:bodyPr/>
                    <a:lstStyle/>
                    <a:p>
                      <a:pPr indent="0" marL="0">
                        <a:buNone/>
                      </a:pPr>
                      <a:r>
                        <a:rPr lang="en-US" sz="950" b="1" dirty="0">
                          <a:solidFill>
                            <a:srgbClr val="0A1F3D"/>
                          </a:solidFill>
                        </a:rPr>
                        <a:t>A ranking at a turn</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The numbered list or 'updated ranking' in the reply</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Compare with the options slide row</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A1F3D"/>
                          </a:solidFill>
                        </a:rPr>
                        <a:t>A quote</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50" dirty="0">
                          <a:solidFill>
                            <a:srgbClr val="0A1F3D"/>
                          </a:solidFill>
                        </a:rPr>
                        <a:t>Verbatim from the turn named under the quote</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50" dirty="0">
                          <a:solidFill>
                            <a:srgbClr val="0A1F3D"/>
                          </a:solidFill>
                        </a:rPr>
                        <a:t>Search the file for a phrase from the quote</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57200">
                <a:tc>
                  <a:txBody>
                    <a:bodyPr/>
                    <a:lstStyle/>
                    <a:p>
                      <a:pPr indent="0" marL="0">
                        <a:buNone/>
                      </a:pPr>
                      <a:r>
                        <a:rPr lang="en-US" sz="950" b="1" dirty="0">
                          <a:solidFill>
                            <a:srgbClr val="0A1F3D"/>
                          </a:solidFill>
                        </a:rPr>
                        <a:t>A website claim (22 month card absent, offer block, 404, 7 in 10)</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deck/evidence: P files are full-page captures, E files are crops with a blue box; README.md lists URLs and capture times (11 Oct 2026, 11:30 to 11:40 UTC)</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Open the URL; a change since capture dates the finding</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A1F3D"/>
                          </a:solidFill>
                        </a:rPr>
                        <a:t>A count across runs</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50" dirty="0">
                          <a:solidFill>
                            <a:srgbClr val="0A1F3D"/>
                          </a:solidFill>
                        </a:rPr>
                        <a:t>Oct11_3pm/results.csv</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50" dirty="0">
                          <a:solidFill>
                            <a:srgbClr val="0A1F3D"/>
                          </a:solidFill>
                        </a:rPr>
                        <a:t>Recount from the transcripts</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57200">
                <a:tc>
                  <a:txBody>
                    <a:bodyPr/>
                    <a:lstStyle/>
                    <a:p>
                      <a:pPr indent="0" marL="0">
                        <a:buNone/>
                      </a:pPr>
                      <a:r>
                        <a:rPr lang="en-US" sz="950" b="1" dirty="0">
                          <a:solidFill>
                            <a:srgbClr val="0A1F3D"/>
                          </a:solidFill>
                        </a:rPr>
                        <a:t>Page contents on the day</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Oct11_3pm/ground_truth.md</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50" dirty="0">
                          <a:solidFill>
                            <a:srgbClr val="0A1F3D"/>
                          </a:solidFill>
                        </a:rPr>
                        <a:t>Compare with a fresh fetch</a:t>
                      </a:r>
                      <a:endParaRPr lang="en-US" sz="9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Study repository, folder Oct11_3pm.</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Appendix: value working, steps 1 to 4 (the inputs)</a:t>
            </a:r>
            <a:endParaRPr lang="en-US" sz="2400" dirty="0"/>
          </a:p>
        </p:txBody>
      </p:sp>
      <p:graphicFrame>
        <p:nvGraphicFramePr>
          <p:cNvPr id="42" name="value steps 1"/>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1188720"/>
                <a:gridCol w="1828800"/>
                <a:gridCol w="5120640"/>
                <a:gridCol w="3108960"/>
              </a:tblGrid>
              <a:tr h="914400">
                <a:tc>
                  <a:txBody>
                    <a:bodyPr/>
                    <a:lstStyle/>
                    <a:p>
                      <a:pPr indent="0" marL="0">
                        <a:buNone/>
                      </a:pPr>
                      <a:r>
                        <a:rPr lang="en-US" sz="850" b="1" dirty="0">
                          <a:solidFill>
                            <a:srgbClr val="FFFFFF"/>
                          </a:solidFill>
                        </a:rPr>
                        <a:t>Step</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Figure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Source and arithmetic</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Weakest point</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914400">
                <a:tc>
                  <a:txBody>
                    <a:bodyPr/>
                    <a:lstStyle/>
                    <a:p>
                      <a:pPr indent="0" marL="0">
                        <a:buNone/>
                      </a:pPr>
                      <a:r>
                        <a:rPr lang="en-US" sz="850" b="1" dirty="0">
                          <a:solidFill>
                            <a:srgbClr val="0A1F3D"/>
                          </a:solidFill>
                        </a:rPr>
                        <a:t>1. The pool</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£20.5bn in 8.9m balance transfers a year; £2,293 average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UK Finance Card Spending Update, March 2026, row 'of which balance transfers', April 2025 to March 2026 summed: value £1,536m + £1,599m + £1,608m + £1,672m + £1,528m + £1,826m + £1,708m + £1,561m + £1,586m + £2,229m + £1,744m + £1,863m = £20,460m; volume 668k + 697k + 704k + 735k + 671k + 786k + 737k + 677k + 702k + 1,017k + 735k + 793k = 8,922k</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Counts every transfer onto any card, including onto existing cards and repeat transfers. New-card acquisition is a subset; if it is 60% of the pool, every value scales by 0.6</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914400">
                <a:tc>
                  <a:txBody>
                    <a:bodyPr/>
                    <a:lstStyle/>
                    <a:p>
                      <a:pPr indent="0" marL="0">
                        <a:buNone/>
                      </a:pPr>
                      <a:r>
                        <a:rPr lang="en-US" sz="850" b="1" dirty="0">
                          <a:solidFill>
                            <a:srgbClr val="0A1F3D"/>
                          </a:solidFill>
                        </a:rPr>
                        <a:t>2. Fair share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About 24%, used as 20 to 25%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Barclays 2025 Results: UK cards gross exposure £17.2bn at 31 Dec 2025 (includes Tesco Bank). UK Finance: £72.3bn UK card balances, March 2026. 17.2 / 72.3 = 23.8%</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Different bases and dates; share of balances, not of transfers. Replace with Barclaycard's share of the balance-transfer market if known</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914400">
                <a:tc>
                  <a:txBody>
                    <a:bodyPr/>
                    <a:lstStyle/>
                    <a:p>
                      <a:pPr indent="0" marL="0">
                        <a:buNone/>
                      </a:pPr>
                      <a:r>
                        <a:rPr lang="en-US" sz="850" b="1" dirty="0">
                          <a:solidFill>
                            <a:srgbClr val="0A1F3D"/>
                          </a:solidFill>
                        </a:rPr>
                        <a:t>3. AI sets the shortlist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3%, 8%, 17%</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FCA / Yonder, n=5,026, April 2026: 69% shopped for a financial product; 17% of those used AI; credit-card shoppers 15 to 20%; 72 to 80% compared the AI's advice with other sources; under a quarter followed it; 2 to 6% ignored it. High = 17% undiscounted. Mid = 8%, roughly 17% x (a quarter who followed plus a fraction of those who compared). Low = 3%, roughly 17% x 0.2, those who followed only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The 8% weighting is a judgement between two measured ends, not a measured figure. The input most worth arguing over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914400">
                <a:tc>
                  <a:txBody>
                    <a:bodyPr/>
                    <a:lstStyle/>
                    <a:p>
                      <a:pPr indent="0" marL="0">
                        <a:buNone/>
                      </a:pPr>
                      <a:r>
                        <a:rPr lang="en-US" sz="850" b="1" dirty="0">
                          <a:solidFill>
                            <a:srgbClr val="0A1F3D"/>
                          </a:solidFill>
                        </a:rPr>
                        <a:t>4. The gap</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10, 17, 20 points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This study: Barclaycard in the unprompted top three in 1 of 8 runs (12.5%), chosen in 0 of 8; a top-three entry converts less than a pick, so the AI share today is below 12.5%. Gap = fair share minus AI share: low 20 minus 10; mid 22 minus 5; high 25 minus 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Eight runs: one run moving changes the rate by 12.5 points. The PoC reruns narrow this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4"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deck/evidence/ukfinance_card_spending_march2026_text.txt; Barclays FY25 results credit risk tables; FCA ai-consumer-research.pdf; results.csv.</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Appendix: value working, steps 5 to 8 (the arithmetic and the cost side)</a:t>
            </a:r>
            <a:endParaRPr lang="en-US" sz="2400" dirty="0"/>
          </a:p>
        </p:txBody>
      </p:sp>
      <p:graphicFrame>
        <p:nvGraphicFramePr>
          <p:cNvPr id="43" name="value steps 2"/>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560320"/>
                <a:gridCol w="2011680"/>
                <a:gridCol w="2011680"/>
                <a:gridCol w="2011680"/>
                <a:gridCol w="2651760"/>
              </a:tblGrid>
              <a:tr h="566928">
                <a:tc>
                  <a:txBody>
                    <a:bodyPr/>
                    <a:lstStyle/>
                    <a:p>
                      <a:pPr indent="0" marL="0">
                        <a:buNone/>
                      </a:pPr>
                      <a:r>
                        <a:rPr lang="en-US" sz="900" b="1" dirty="0">
                          <a:solidFill>
                            <a:srgbClr val="FFFFFF"/>
                          </a:solidFill>
                        </a:rPr>
                        <a:t>Step</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Low</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Mid</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High</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Note</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566928">
                <a:tc>
                  <a:txBody>
                    <a:bodyPr/>
                    <a:lstStyle/>
                    <a:p>
                      <a:pPr indent="0" marL="0">
                        <a:buNone/>
                      </a:pPr>
                      <a:r>
                        <a:rPr lang="en-US" sz="900" b="1" dirty="0">
                          <a:solidFill>
                            <a:srgbClr val="0A1F3D"/>
                          </a:solidFill>
                        </a:rPr>
                        <a:t>5. Balances at stake = pool x AI share x gap</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£20.5bn x 3% x 10% = £61m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£20.5bn x 8% x 17% = £279m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£20.5bn x 17% x 20% = £697m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Shown as £700m in the high case</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566928">
                <a:tc>
                  <a:txBody>
                    <a:bodyPr/>
                    <a:lstStyle/>
                    <a:p>
                      <a:pPr indent="0" marL="0">
                        <a:buNone/>
                      </a:pPr>
                      <a:r>
                        <a:rPr lang="en-US" sz="900" b="1" dirty="0">
                          <a:solidFill>
                            <a:srgbClr val="0A1F3D"/>
                          </a:solidFill>
                        </a:rPr>
                        <a:t>6. Accounts = balances / £2,293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26,600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121,700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304,000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One transfer taken as one account; if customers average 1.3 transfers per new account, divide by 1.3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566928">
                <a:tc>
                  <a:txBody>
                    <a:bodyPr/>
                    <a:lstStyle/>
                    <a:p>
                      <a:pPr indent="0" marL="0">
                        <a:buNone/>
                      </a:pPr>
                      <a:r>
                        <a:rPr lang="en-US" sz="900" b="1" dirty="0">
                          <a:solidFill>
                            <a:srgbClr val="0A1F3D"/>
                          </a:solidFill>
                        </a:rPr>
                        <a:t>7. Value = accounts x £400 over 10 years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£10.6m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£48.7m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£121.6m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900" dirty="0">
                          <a:solidFill>
                            <a:srgbClr val="0A1F3D"/>
                          </a:solidFill>
                        </a:rPr>
                        <a:t>Per annual cohort; each year adds its own. Three years of the mid case is about £146m. Check that £400 is for a balance-transfer account and whether it is discounted</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566928">
                <a:tc>
                  <a:txBody>
                    <a:bodyPr/>
                    <a:lstStyle/>
                    <a:p>
                      <a:pPr indent="0" marL="0">
                        <a:buNone/>
                      </a:pPr>
                      <a:r>
                        <a:rPr lang="en-US" sz="900" b="1" dirty="0">
                          <a:solidFill>
                            <a:srgbClr val="0A1F3D"/>
                          </a:solidFill>
                        </a:rPr>
                        <a:t>8. Cost</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Model usage: tens of pounds a month for 8 to 24 runs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Build: four to six weeks of one engineer</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Run: one to two analyst days a month</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Excludes the page changes, which sit with digital's release capacity</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bl>
          </a:graphicData>
        </a:graphic>
      </p:graphicFrame>
      <p:sp>
        <p:nvSpPr>
          <p:cNvPr id="4" name="heading Sensitivity of the m"/>
          <p:cNvSpPr txBox="1"/>
          <p:nvPr/>
        </p:nvSpPr>
        <p:spPr>
          <a:xfrm>
            <a:off x="457200" y="4206240"/>
            <a:ext cx="11247120" cy="365760"/>
          </a:xfrm>
          <a:prstGeom prst="rect">
            <a:avLst/>
          </a:prstGeom>
          <a:noFill/>
          <a:ln/>
        </p:spPr>
        <p:txBody>
          <a:bodyPr wrap="square" lIns="0" tIns="0" rIns="0" bIns="0" rtlCol="0" anchor="ctr"/>
          <a:lstStyle/>
          <a:p>
            <a:pPr indent="0" marL="0">
              <a:buNone/>
            </a:pPr>
            <a:r>
              <a:rPr lang="en-US" sz="1250" b="1" dirty="0">
                <a:solidFill>
                  <a:schemeClr val="tx2"/>
                </a:solidFill>
              </a:rPr>
              <a:t>Sensitivity of the mid case (£48.7m) to one input moving at a time</a:t>
            </a:r>
            <a:endParaRPr lang="en-US" sz="1250" dirty="0"/>
          </a:p>
        </p:txBody>
      </p:sp>
      <p:graphicFrame>
        <p:nvGraphicFramePr>
          <p:cNvPr id="85" name="sensitivity"/>
          <p:cNvGraphicFramePr>
            <a:graphicFrameLocks noGrp="1"/>
          </p:cNvGraphicFramePr>
          <p:nvPr>
            <p:extLst>
              <p:ext uri="{D42A27DB-BD31-4B8C-83A1-F6EECF244321}">
                <p14:modId xmlns:p14="http://schemas.microsoft.com/office/powerpoint/2010/main" val="1579011935"/>
              </p:ext>
            </p:extLst>
          </p:nvPr>
        </p:nvGraphicFramePr>
        <p:xfrm>
          <a:off x="457200" y="4572000"/>
          <a:ext cx="11247120" cy="914400"/>
        </p:xfrm>
        <a:graphic>
          <a:graphicData uri="http://schemas.openxmlformats.org/drawingml/2006/table">
            <a:tbl>
              <a:tblPr/>
              <a:tblGrid>
                <a:gridCol w="5943600"/>
                <a:gridCol w="2286000"/>
                <a:gridCol w="3017520"/>
              </a:tblGrid>
              <a:tr h="246888">
                <a:tc>
                  <a:txBody>
                    <a:bodyPr/>
                    <a:lstStyle/>
                    <a:p>
                      <a:pPr indent="0" marL="0">
                        <a:buNone/>
                      </a:pPr>
                      <a:r>
                        <a:rPr lang="en-US" sz="900" b="1" dirty="0">
                          <a:solidFill>
                            <a:srgbClr val="FFFFFF"/>
                          </a:solidFill>
                        </a:rPr>
                        <a:t>If this input changes</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to</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rPr>
                        <a:t>Mid-case value becomes</a:t>
                      </a:r>
                      <a:endParaRPr lang="en-US" sz="90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246888">
                <a:tc>
                  <a:txBody>
                    <a:bodyPr/>
                    <a:lstStyle/>
                    <a:p>
                      <a:pPr indent="0" marL="0">
                        <a:buNone/>
                      </a:pPr>
                      <a:r>
                        <a:rPr lang="en-US" sz="900" dirty="0">
                          <a:solidFill>
                            <a:srgbClr val="0A1F3D"/>
                          </a:solidFill>
                        </a:rPr>
                        <a:t>New-card transfers are 60% of the UK Finance pool, not 100%</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£12.3bn pool</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£29m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46888">
                <a:tc>
                  <a:txBody>
                    <a:bodyPr/>
                    <a:lstStyle/>
                    <a:p>
                      <a:pPr indent="0" marL="0">
                        <a:buNone/>
                      </a:pPr>
                      <a:r>
                        <a:rPr lang="en-US" sz="900" dirty="0">
                          <a:solidFill>
                            <a:srgbClr val="0A1F3D"/>
                          </a:solidFill>
                        </a:rPr>
                        <a:t>AI sets the shortlist in 5% of decisions, not 8%</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5%</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£30m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46888">
                <a:tc>
                  <a:txBody>
                    <a:bodyPr/>
                    <a:lstStyle/>
                    <a:p>
                      <a:pPr indent="0" marL="0">
                        <a:buNone/>
                      </a:pPr>
                      <a:r>
                        <a:rPr lang="en-US" sz="900" dirty="0">
                          <a:solidFill>
                            <a:srgbClr val="0A1F3D"/>
                          </a:solidFill>
                        </a:rPr>
                        <a:t>AI sets the shortlist in 12% of decisions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12%</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£73m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246888">
                <a:tc>
                  <a:txBody>
                    <a:bodyPr/>
                    <a:lstStyle/>
                    <a:p>
                      <a:pPr indent="0" marL="0">
                        <a:buNone/>
                      </a:pPr>
                      <a:r>
                        <a:rPr lang="en-US" sz="900" dirty="0">
                          <a:solidFill>
                            <a:srgbClr val="0A1F3D"/>
                          </a:solidFill>
                        </a:rPr>
                        <a:t>The gap is 10 points, not 17</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10 points</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900" dirty="0">
                          <a:solidFill>
                            <a:srgbClr val="0A1F3D"/>
                          </a:solidFill>
                        </a:rPr>
                        <a:t>£29m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246888">
                <a:tc>
                  <a:txBody>
                    <a:bodyPr/>
                    <a:lstStyle/>
                    <a:p>
                      <a:pPr indent="0" marL="0">
                        <a:buNone/>
                      </a:pPr>
                      <a:r>
                        <a:rPr lang="en-US" sz="900" dirty="0">
                          <a:solidFill>
                            <a:srgbClr val="0A1F3D"/>
                          </a:solidFill>
                        </a:rPr>
                        <a:t>1.3 transfers per new account</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accounts / 1.3</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900" dirty="0">
                          <a:solidFill>
                            <a:srgbClr val="0A1F3D"/>
                          </a:solidFill>
                        </a:rPr>
                        <a:t>£37m</a:t>
                      </a:r>
                      <a:endParaRPr lang="en-US" sz="90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what_to_do.md item 8a. Every cell recomputes from the step 1 to 4 inputs on the previous slide.</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822960"/>
          </a:xfrm>
          <a:prstGeom prst="rect">
            <a:avLst/>
          </a:prstGeom>
          <a:noFill/>
          <a:ln/>
        </p:spPr>
        <p:txBody>
          <a:bodyPr wrap="square" lIns="0" tIns="0" rIns="0" bIns="0" rtlCol="0" anchor="ctr"/>
          <a:lstStyle/>
          <a:p>
            <a:pPr algn="l" indent="0" marL="0">
              <a:buNone/>
            </a:pPr>
            <a:r>
              <a:rPr lang="en-US" sz="2400" b="1" dirty="0">
                <a:solidFill>
                  <a:schemeClr val="tx2"/>
                </a:solidFill>
              </a:rPr>
              <a:t>Appendix: alternative value model, impressions x conversion x £400 (to be populated with Barclaycard funnel data)</a:t>
            </a:r>
            <a:endParaRPr lang="en-US" sz="2400" dirty="0"/>
          </a:p>
        </p:txBody>
      </p:sp>
      <p:sp>
        <p:nvSpPr>
          <p:cNvPr id="3" name="card alt formula"/>
          <p:cNvSpPr/>
          <p:nvPr/>
        </p:nvSpPr>
        <p:spPr>
          <a:xfrm>
            <a:off x="457200" y="1188720"/>
            <a:ext cx="5486400" cy="4251960"/>
          </a:xfrm>
          <a:prstGeom prst="roundRect">
            <a:avLst>
              <a:gd name="adj" fmla="val 1720"/>
            </a:avLst>
          </a:prstGeom>
          <a:solidFill>
            <a:schemeClr val="bg2"/>
          </a:solidFill>
          <a:ln w="9525">
            <a:solidFill>
              <a:schemeClr val="accent5"/>
            </a:solidFill>
            <a:prstDash val="solid"/>
          </a:ln>
        </p:spPr>
      </p:sp>
      <p:sp>
        <p:nvSpPr>
          <p:cNvPr id="4" name="heading The formula"/>
          <p:cNvSpPr txBox="1"/>
          <p:nvPr/>
        </p:nvSpPr>
        <p:spPr>
          <a:xfrm>
            <a:off x="640080" y="1280160"/>
            <a:ext cx="5120640" cy="365760"/>
          </a:xfrm>
          <a:prstGeom prst="rect">
            <a:avLst/>
          </a:prstGeom>
          <a:noFill/>
          <a:ln/>
        </p:spPr>
        <p:txBody>
          <a:bodyPr wrap="square" lIns="0" tIns="0" rIns="0" bIns="0" rtlCol="0" anchor="ctr"/>
          <a:lstStyle/>
          <a:p>
            <a:pPr indent="0" marL="0">
              <a:buNone/>
            </a:pPr>
            <a:r>
              <a:rPr lang="en-US" sz="1300" b="1" dirty="0">
                <a:solidFill>
                  <a:schemeClr val="tx2"/>
                </a:solidFill>
              </a:rPr>
              <a:t>The formula</a:t>
            </a:r>
            <a:endParaRPr lang="en-US" sz="1300" dirty="0"/>
          </a:p>
        </p:txBody>
      </p:sp>
      <p:sp>
        <p:nvSpPr>
          <p:cNvPr id="5" name="alt formula text"/>
          <p:cNvSpPr txBox="1"/>
          <p:nvPr/>
        </p:nvSpPr>
        <p:spPr>
          <a:xfrm>
            <a:off x="640080" y="1691640"/>
            <a:ext cx="5120640" cy="4206240"/>
          </a:xfrm>
          <a:prstGeom prst="rect">
            <a:avLst/>
          </a:prstGeom>
          <a:noFill/>
          <a:ln/>
        </p:spPr>
        <p:txBody>
          <a:bodyPr wrap="square" lIns="0" tIns="0" rIns="0" bIns="0" rtlCol="0" anchor="t"/>
          <a:lstStyle/>
          <a:p>
            <a:pPr indent="0" marL="0">
              <a:spcAft>
                <a:spcPts val="800"/>
              </a:spcAft>
              <a:buNone/>
            </a:pPr>
            <a:r>
              <a:rPr lang="en-US" sz="1050" b="1" dirty="0">
                <a:solidFill>
                  <a:schemeClr val="accent1"/>
                </a:solidFill>
              </a:rPr>
              <a:t>Value = lost favourable impressions x conversion (favourable impression to account) x £400 x N years of cohorts</a:t>
            </a:r>
            <a:endParaRPr lang="en-US" sz="1050" dirty="0"/>
          </a:p>
          <a:p>
            <a:pPr indent="0" marL="0">
              <a:spcAft>
                <a:spcPts val="400"/>
              </a:spcAft>
              <a:buNone/>
            </a:pPr>
            <a:r>
              <a:rPr lang="en-US" sz="1050" dirty="0">
                <a:solidFill>
                  <a:schemeClr val="tx1"/>
                </a:solidFill>
              </a:rPr>
              <a:t>where</a:t>
            </a:r>
            <a:endParaRPr lang="en-US" sz="1050" dirty="0"/>
          </a:p>
          <a:p>
            <a:pPr indent="0" marL="0">
              <a:spcAft>
                <a:spcPts val="400"/>
              </a:spcAft>
              <a:buNone/>
            </a:pPr>
            <a:r>
              <a:rPr lang="en-US" sz="1050" dirty="0">
                <a:solidFill>
                  <a:schemeClr val="tx1"/>
                </a:solidFill>
              </a:rPr>
              <a:t>Impressions (I) = AI-assisted balance-transfer research sessions a year</a:t>
            </a:r>
            <a:endParaRPr lang="en-US" sz="1050" dirty="0"/>
          </a:p>
          <a:p>
            <a:pPr indent="0" marL="0">
              <a:spcAft>
                <a:spcPts val="400"/>
              </a:spcAft>
              <a:buNone/>
            </a:pPr>
            <a:r>
              <a:rPr lang="en-US" sz="1050" dirty="0">
                <a:solidFill>
                  <a:schemeClr val="tx1"/>
                </a:solidFill>
              </a:rPr>
              <a:t>Favourable impression = the AI answer names Barclaycard in its shortlist (a 'quote')</a:t>
            </a:r>
            <a:endParaRPr lang="en-US" sz="1050" dirty="0"/>
          </a:p>
          <a:p>
            <a:pPr indent="0" marL="0">
              <a:spcAft>
                <a:spcPts val="400"/>
              </a:spcAft>
              <a:buNone/>
            </a:pPr>
            <a:r>
              <a:rPr lang="en-US" sz="1050" dirty="0">
                <a:solidFill>
                  <a:schemeClr val="tx1"/>
                </a:solidFill>
              </a:rPr>
              <a:t>Lost favourable impressions = I x (target favourable rate minus current favourable rate)</a:t>
            </a:r>
            <a:endParaRPr lang="en-US" sz="1050" dirty="0"/>
          </a:p>
          <a:p>
            <a:pPr indent="0" marL="0">
              <a:spcAft>
                <a:spcPts val="400"/>
              </a:spcAft>
              <a:buNone/>
            </a:pPr>
            <a:r>
              <a:rPr lang="en-US" sz="1050" dirty="0">
                <a:solidFill>
                  <a:schemeClr val="tx1"/>
                </a:solidFill>
              </a:rPr>
              <a:t>Conversion = share of favourable impressions that become a funded account (Barclaycard's quote-to-account rate for the AI channel, or the nearest digital proxy)</a:t>
            </a:r>
            <a:endParaRPr lang="en-US" sz="1050" dirty="0"/>
          </a:p>
          <a:p>
            <a:pPr indent="0" marL="0">
              <a:buNone/>
            </a:pPr>
            <a:r>
              <a:rPr lang="en-US" sz="1050" dirty="0">
                <a:solidFill>
                  <a:schemeClr val="tx1"/>
                </a:solidFill>
              </a:rPr>
              <a:t>£400 = value per account over 10 years (assumption supplied); N = years of cohorts counted</a:t>
            </a:r>
            <a:endParaRPr lang="en-US" sz="1050" dirty="0"/>
          </a:p>
        </p:txBody>
      </p:sp>
      <p:sp>
        <p:nvSpPr>
          <p:cNvPr id="6" name="card alt illustration"/>
          <p:cNvSpPr/>
          <p:nvPr/>
        </p:nvSpPr>
        <p:spPr>
          <a:xfrm>
            <a:off x="6126480" y="1188720"/>
            <a:ext cx="5623560" cy="4251960"/>
          </a:xfrm>
          <a:prstGeom prst="roundRect">
            <a:avLst>
              <a:gd name="adj" fmla="val 1720"/>
            </a:avLst>
          </a:prstGeom>
          <a:solidFill>
            <a:schemeClr val="bg2"/>
          </a:solidFill>
          <a:ln w="9525">
            <a:solidFill>
              <a:schemeClr val="accent5"/>
            </a:solidFill>
            <a:prstDash val="solid"/>
          </a:ln>
        </p:spPr>
      </p:sp>
      <p:sp>
        <p:nvSpPr>
          <p:cNvPr id="7" name="heading Illustration with pu"/>
          <p:cNvSpPr txBox="1"/>
          <p:nvPr/>
        </p:nvSpPr>
        <p:spPr>
          <a:xfrm>
            <a:off x="6309360" y="1280160"/>
            <a:ext cx="5257800" cy="365760"/>
          </a:xfrm>
          <a:prstGeom prst="rect">
            <a:avLst/>
          </a:prstGeom>
          <a:noFill/>
          <a:ln/>
        </p:spPr>
        <p:txBody>
          <a:bodyPr wrap="square" lIns="0" tIns="0" rIns="0" bIns="0" rtlCol="0" anchor="ctr"/>
          <a:lstStyle/>
          <a:p>
            <a:pPr indent="0" marL="0">
              <a:buNone/>
            </a:pPr>
            <a:r>
              <a:rPr lang="en-US" sz="1300" b="1" dirty="0">
                <a:solidFill>
                  <a:schemeClr val="tx2"/>
                </a:solidFill>
              </a:rPr>
              <a:t>Illustration with public proxies (replace the shaded cells)</a:t>
            </a:r>
            <a:endParaRPr lang="en-US" sz="1300" dirty="0"/>
          </a:p>
        </p:txBody>
      </p:sp>
      <p:graphicFrame>
        <p:nvGraphicFramePr>
          <p:cNvPr id="44" name="alt table"/>
          <p:cNvGraphicFramePr>
            <a:graphicFrameLocks noGrp="1"/>
          </p:cNvGraphicFramePr>
          <p:nvPr>
            <p:extLst>
              <p:ext uri="{D42A27DB-BD31-4B8C-83A1-F6EECF244321}">
                <p14:modId xmlns:p14="http://schemas.microsoft.com/office/powerpoint/2010/main" val="1579011935"/>
              </p:ext>
            </p:extLst>
          </p:nvPr>
        </p:nvGraphicFramePr>
        <p:xfrm>
          <a:off x="6309360" y="1691640"/>
          <a:ext cx="5257800" cy="914400"/>
        </p:xfrm>
        <a:graphic>
          <a:graphicData uri="http://schemas.openxmlformats.org/drawingml/2006/table">
            <a:tbl>
              <a:tblPr/>
              <a:tblGrid>
                <a:gridCol w="1828800"/>
                <a:gridCol w="1188720"/>
                <a:gridCol w="2240280"/>
              </a:tblGrid>
              <a:tr h="457200">
                <a:tc>
                  <a:txBody>
                    <a:bodyPr/>
                    <a:lstStyle/>
                    <a:p>
                      <a:pPr indent="0" marL="0">
                        <a:buNone/>
                      </a:pPr>
                      <a:r>
                        <a:rPr lang="en-US" sz="850" b="1" dirty="0">
                          <a:solidFill>
                            <a:srgbClr val="FFFFFF"/>
                          </a:solidFill>
                        </a:rPr>
                        <a:t>Input</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Illustrative value</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c>
                  <a:txBody>
                    <a:bodyPr/>
                    <a:lstStyle/>
                    <a:p>
                      <a:pPr indent="0" marL="0">
                        <a:buNone/>
                      </a:pPr>
                      <a:r>
                        <a:rPr lang="en-US" sz="850" b="1" dirty="0">
                          <a:solidFill>
                            <a:srgbClr val="FFFFFF"/>
                          </a:solidFill>
                        </a:rPr>
                        <a:t>Basis</a:t>
                      </a:r>
                      <a:endParaRPr lang="en-US" sz="850" dirty="0"/>
                    </a:p>
                  </a:txBody>
                  <a:tcPr marL="36576" marR="36576" marT="36576" marB="36576" anchor="ctr">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1F5FA8"/>
                    </a:solidFill>
                  </a:tcPr>
                </a:tc>
              </a:tr>
              <a:tr h="457200">
                <a:tc>
                  <a:txBody>
                    <a:bodyPr/>
                    <a:lstStyle/>
                    <a:p>
                      <a:pPr indent="0" marL="0">
                        <a:buNone/>
                      </a:pPr>
                      <a:r>
                        <a:rPr lang="en-US" sz="850" b="1" dirty="0">
                          <a:solidFill>
                            <a:srgbClr val="0A1F3D"/>
                          </a:solidFill>
                        </a:rPr>
                        <a:t>Impressions a year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1.5m</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8.9m transfers x 17% AI-assisted (UK Finance; FCA)</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A1F3D"/>
                          </a:solidFill>
                        </a:rPr>
                        <a:t>Current favourable rate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12.5%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Unprompted top three, 1 of 8 runs (this study)</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57200">
                <a:tc>
                  <a:txBody>
                    <a:bodyPr/>
                    <a:lstStyle/>
                    <a:p>
                      <a:pPr indent="0" marL="0">
                        <a:buNone/>
                      </a:pPr>
                      <a:r>
                        <a:rPr lang="en-US" sz="850" b="1" dirty="0">
                          <a:solidFill>
                            <a:srgbClr val="0A1F3D"/>
                          </a:solidFill>
                        </a:rPr>
                        <a:t>Target favourable rate</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50%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Placeholder: Barclaycard in the top three of half of answers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457200">
                <a:tc>
                  <a:txBody>
                    <a:bodyPr/>
                    <a:lstStyle/>
                    <a:p>
                      <a:pPr indent="0" marL="0">
                        <a:buNone/>
                      </a:pPr>
                      <a:r>
                        <a:rPr lang="en-US" sz="850" b="1" dirty="0">
                          <a:solidFill>
                            <a:srgbClr val="0A1F3D"/>
                          </a:solidFill>
                        </a:rPr>
                        <a:t>Lost favourable impressions</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569,000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1.5m x (50% minus 12.5%)</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57200">
                <a:tc>
                  <a:txBody>
                    <a:bodyPr/>
                    <a:lstStyle/>
                    <a:p>
                      <a:pPr indent="0" marL="0">
                        <a:buNone/>
                      </a:pPr>
                      <a:r>
                        <a:rPr lang="en-US" sz="850" b="1" dirty="0">
                          <a:solidFill>
                            <a:srgbClr val="0A1F3D"/>
                          </a:solidFill>
                        </a:rPr>
                        <a:t>Conversion, favourable impression to account</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10% / 20%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c>
                  <a:txBody>
                    <a:bodyPr/>
                    <a:lstStyle/>
                    <a:p>
                      <a:pPr indent="0" marL="0">
                        <a:buNone/>
                      </a:pPr>
                      <a:r>
                        <a:rPr lang="en-US" sz="850" dirty="0">
                          <a:solidFill>
                            <a:srgbClr val="0A1F3D"/>
                          </a:solidFill>
                        </a:rPr>
                        <a:t>Placeholder: Barclaycard funnel data</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C9DBF0"/>
                    </a:solidFill>
                  </a:tcPr>
                </a:tc>
              </a:tr>
              <a:tr h="457200">
                <a:tc>
                  <a:txBody>
                    <a:bodyPr/>
                    <a:lstStyle/>
                    <a:p>
                      <a:pPr indent="0" marL="0">
                        <a:buNone/>
                      </a:pPr>
                      <a:r>
                        <a:rPr lang="en-US" sz="850" b="1" dirty="0">
                          <a:solidFill>
                            <a:srgbClr val="0A1F3D"/>
                          </a:solidFill>
                        </a:rPr>
                        <a:t>Accounts a year</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57,000 / 114,000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c>
                  <a:txBody>
                    <a:bodyPr/>
                    <a:lstStyle/>
                    <a:p>
                      <a:pPr indent="0" marL="0">
                        <a:buNone/>
                      </a:pPr>
                      <a:r>
                        <a:rPr lang="en-US" sz="850" dirty="0">
                          <a:solidFill>
                            <a:srgbClr val="0A1F3D"/>
                          </a:solidFill>
                        </a:rPr>
                        <a:t>569,000 x 10% / 20%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EAF1F9"/>
                    </a:solidFill>
                  </a:tcPr>
                </a:tc>
              </a:tr>
              <a:tr h="457200">
                <a:tc>
                  <a:txBody>
                    <a:bodyPr/>
                    <a:lstStyle/>
                    <a:p>
                      <a:pPr indent="0" marL="0">
                        <a:buNone/>
                      </a:pPr>
                      <a:r>
                        <a:rPr lang="en-US" sz="850" b="1" dirty="0">
                          <a:solidFill>
                            <a:srgbClr val="0A1F3D"/>
                          </a:solidFill>
                        </a:rPr>
                        <a:t>Value per annual cohort at £400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£23m / £45m</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c>
                  <a:txBody>
                    <a:bodyPr/>
                    <a:lstStyle/>
                    <a:p>
                      <a:pPr indent="0" marL="0">
                        <a:buNone/>
                      </a:pPr>
                      <a:r>
                        <a:rPr lang="en-US" sz="850" dirty="0">
                          <a:solidFill>
                            <a:srgbClr val="0A1F3D"/>
                          </a:solidFill>
                        </a:rPr>
                        <a:t>accounts x £400</a:t>
                      </a:r>
                      <a:endParaRPr lang="en-US" sz="850" dirty="0"/>
                    </a:p>
                  </a:txBody>
                  <a:tcPr marL="36576" marR="36576" marT="36576" marB="36576" anchor="t">
                    <a:lnL w="6350" cap="flat" cmpd="sng" algn="ctr">
                      <a:solidFill>
                        <a:srgbClr val="C9DBF0"/>
                      </a:solidFill>
                      <a:prstDash val="solid"/>
                      <a:round/>
                      <a:headEnd type="none" w="med" len="med"/>
                      <a:tailEnd type="none" w="med" len="med"/>
                    </a:lnL>
                    <a:lnR w="6350" cap="flat" cmpd="sng" algn="ctr">
                      <a:solidFill>
                        <a:srgbClr val="C9DBF0"/>
                      </a:solidFill>
                      <a:prstDash val="solid"/>
                      <a:round/>
                      <a:headEnd type="none" w="med" len="med"/>
                      <a:tailEnd type="none" w="med" len="med"/>
                    </a:lnR>
                    <a:lnT w="6350" cap="flat" cmpd="sng" algn="ctr">
                      <a:solidFill>
                        <a:srgbClr val="C9DBF0"/>
                      </a:solidFill>
                      <a:prstDash val="solid"/>
                      <a:round/>
                      <a:headEnd type="none" w="med" len="med"/>
                      <a:tailEnd type="none" w="med" len="med"/>
                    </a:lnT>
                    <a:lnB w="6350" cap="flat" cmpd="sng" algn="ctr">
                      <a:solidFill>
                        <a:srgbClr val="C9DBF0"/>
                      </a:solidFill>
                      <a:prstDash val="solid"/>
                      <a:round/>
                      <a:headEnd type="none" w="med" len="med"/>
                      <a:tailEnd type="none" w="med" len="med"/>
                    </a:lnB>
                    <a:solidFill>
                      <a:srgbClr val="FFFFFF"/>
                    </a:solidFill>
                  </a:tcPr>
                </a:tc>
              </a:tr>
            </a:tbl>
          </a:graphicData>
        </a:graphic>
      </p:graphicFrame>
      <p:sp>
        <p:nvSpPr>
          <p:cNvPr id="9" name="alt note"/>
          <p:cNvSpPr txBox="1"/>
          <p:nvPr/>
        </p:nvSpPr>
        <p:spPr>
          <a:xfrm>
            <a:off x="457200" y="5532120"/>
            <a:ext cx="11247120" cy="548640"/>
          </a:xfrm>
          <a:prstGeom prst="rect">
            <a:avLst/>
          </a:prstGeom>
          <a:noFill/>
          <a:ln/>
        </p:spPr>
        <p:txBody>
          <a:bodyPr wrap="square" lIns="0" tIns="0" rIns="0" bIns="0" rtlCol="0" anchor="ctr"/>
          <a:lstStyle/>
          <a:p>
            <a:pPr indent="0" marL="0">
              <a:buNone/>
            </a:pPr>
            <a:r>
              <a:rPr lang="en-US" sz="950" i="1" dirty="0">
                <a:solidFill>
                  <a:schemeClr val="tx2"/>
                </a:solidFill>
              </a:rPr>
              <a:t>Both models share the pool (step 1) and the £400. They differ in what sits between: the main model uses balances and market share; this one uses the AI answer as an impression and Barclaycard's own conversion rate, which makes it directly measurable by the monthly runs (favourable rate) and the funnel (conversion).</a:t>
            </a:r>
            <a:endParaRPr lang="en-US" sz="950" dirty="0"/>
          </a:p>
        </p:txBody>
      </p:sp>
      <p:sp>
        <p:nvSpPr>
          <p:cNvPr id="10" name="sourc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00" dirty="0">
                <a:solidFill>
                  <a:schemeClr val="accent2"/>
                </a:solidFill>
              </a:rPr>
              <a:t>Source: what_to_do.md item 8a, alternative model. Shaded rows are placeholders, not findings.</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8FD0"/>
                </a:solidFill>
              </a:defRPr>
            </a:lvl1pPr>
          </a:lstStyle>
          <a:p>
            <a:pPr algn="l"/>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Blue Evidence">
  <a:themeElements>
    <a:clrScheme name="Blue Evidence">
      <a:dk1>
        <a:srgbClr val="0A1F3D"/>
      </a:dk1>
      <a:lt1>
        <a:srgbClr val="FFFFFF"/>
      </a:lt1>
      <a:dk2>
        <a:srgbClr val="143A6B"/>
      </a:dk2>
      <a:lt2>
        <a:srgbClr val="EAF1F9"/>
      </a:lt2>
      <a:accent1>
        <a:srgbClr val="1F5FA8"/>
      </a:accent1>
      <a:accent2>
        <a:srgbClr val="5B8FD0"/>
      </a:accent2>
      <a:accent3>
        <a:srgbClr val="9DBDE3"/>
      </a:accent3>
      <a:accent4>
        <a:srgbClr val="0B2E59"/>
      </a:accent4>
      <a:accent5>
        <a:srgbClr val="C9DBF0"/>
      </a:accent5>
      <a:accent6>
        <a:srgbClr val="3E7CC4"/>
      </a:accent6>
      <a:hlink>
        <a:srgbClr val="1F5FA8"/>
      </a:hlink>
      <a:folHlink>
        <a:srgbClr val="5B8FD0"/>
      </a:folHlink>
    </a:clrScheme>
    <a:fontScheme name="Blue Evid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Barclaycard in AI balance-transfer advice: model by model</dc:title>
  <dc:subject>PptxGenJS Presentation</dc:subject>
  <dc:creator>Balance-transfer AI search study</dc:creator>
  <cp:lastModifiedBy>Balance-transfer AI search study</cp:lastModifiedBy>
  <cp:revision>1</cp:revision>
  <dcterms:created xsi:type="dcterms:W3CDTF">2026-10-12T02:32:18Z</dcterms:created>
  <dcterms:modified xsi:type="dcterms:W3CDTF">2026-10-12T02:32:18Z</dcterms:modified>
</cp:coreProperties>
</file>