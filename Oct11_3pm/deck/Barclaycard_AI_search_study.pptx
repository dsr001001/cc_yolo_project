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dcd31b24-29d7-a748-1ebb-662f85444738}">
          <p14:sldIdLst>
            <p14:sldId id="256"/>
            <p14:sldId id="257"/>
            <p14:sldId id="258"/>
            <p14:sldId id="259"/>
          </p14:sldIdLst>
        </p14:section>
        <p14:section name="Results" id="{a36a1ffb-d822-526f-73e8-c182aec16388}">
          <p14:sldIdLst>
            <p14:sldId id="260"/>
            <p14:sldId id="261"/>
            <p14:sldId id="262"/>
          </p14:sldIdLst>
        </p14:section>
        <p14:section name="Why Barclaycard loses" id="{89e26974-8330-b8a8-08b5-1144db5d9f61}">
          <p14:sldIdLst>
            <p14:sldId id="263"/>
            <p14:sldId id="264"/>
            <p14:sldId id="265"/>
            <p14:sldId id="266"/>
            <p14:sldId id="267"/>
            <p14:sldId id="268"/>
            <p14:sldId id="269"/>
            <p14:sldId id="270"/>
          </p14:sldIdLst>
        </p14:section>
        <p14:section name="What to do" id="{25cf695d-60ff-5330-0330-2758f42e9490}">
          <p14:sldIdLst>
            <p14:sldId id="271"/>
            <p14:sldId id="272"/>
            <p14:sldId id="273"/>
            <p14:sldId id="274"/>
          </p14:sldIdLst>
        </p14:section>
        <p14:section name="Appendix" id="{f49830d6-1a12-6cc1-e74e-b54b1576cb95}">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Web runs (of 8)</c:v>
                </c:pt>
              </c:strCache>
            </c:strRef>
          </c:tx>
          <c:spPr>
            <a:solidFill>
              <a:srgbClr val="1F5FA8"/>
            </a:solidFill>
            <a:effectLst/>
          </c:spPr>
          <c:invertIfNegative val="0"/>
          <c:dLbls>
            <c:numFmt formatCode="#,##0" sourceLinked="0"/>
            <c:txPr>
              <a:bodyPr/>
              <a:lstStyle/>
              <a:p>
                <a:pPr>
                  <a:defRPr b="0" i="0" strike="noStrike" sz="1200" u="none">
                    <a:solidFill>
                      <a:srgbClr val="143A6B"/>
                    </a:solidFill>
                    <a:latin typeface="+mn-lt"/>
                  </a:defRPr>
                </a:pPr>
              </a:p>
            </c:txPr>
            <c:showLegendKey val="0"/>
            <c:showVal val="1"/>
            <c:showCatName val="0"/>
            <c:showSerName val="0"/>
            <c:showPercent val="0"/>
            <c:showBubbleSize val="0"/>
            <c:showLeaderLines val="0"/>
          </c:dLbls>
          <c:cat>
            <c:multiLvlStrRef>
              <c:f>Sheet1!$A$2:$A$5</c:f>
              <c:multiLvlStrCache>
                <c:ptCount val="4"/>
                <c:lvl>
                  <c:pt idx="0">
                    <c:v>Unprompted top three (T2)</c:v>
                  </c:pt>
                  <c:pt idx="1">
                    <c:v>Top three once named (T3)</c:v>
                  </c:pt>
                  <c:pt idx="2">
                    <c:v>Card to apply for (T4)</c:v>
                  </c:pt>
                  <c:pt idx="3">
                    <c:v>First or second fallback (T4)</c:v>
                  </c:pt>
                </c:lvl>
              </c:multiLvlStrCache>
            </c:multiLvlStrRef>
          </c:cat>
          <c:val>
            <c:numRef>
              <c:f>Sheet1!$B$2:$B$5</c:f>
              <c:numCache>
                <c:formatCode>General</c:formatCode>
                <c:ptCount val="4"/>
                <c:pt idx="0">
                  <c:v>1</c:v>
                </c:pt>
                <c:pt idx="1">
                  <c:v>7</c:v>
                </c:pt>
                <c:pt idx="2">
                  <c:v>0</c:v>
                </c:pt>
                <c:pt idx="3">
                  <c:v>7</c:v>
                </c:pt>
              </c:numCache>
            </c:numRef>
          </c:val>
        </c:ser>
        <c:dLbls>
          <c:numFmt formatCode="#,##0" sourceLinked="0"/>
          <c:txPr>
            <a:bodyPr/>
            <a:lstStyle/>
            <a:p>
              <a:pPr>
                <a:defRPr b="0" i="0" strike="noStrike" sz="1200" u="none">
                  <a:solidFill>
                    <a:srgbClr val="143A6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3A6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C9DB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8FD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that used the domain</c:v>
                </c:pt>
              </c:strCache>
            </c:strRef>
          </c:tx>
          <c:spPr>
            <a:solidFill>
              <a:srgbClr val="1F5FA8"/>
            </a:solidFill>
            <a:effectLst/>
          </c:spPr>
          <c:invertIfNegative val="0"/>
          <c:dLbls>
            <c:numFmt formatCode="#,##0" sourceLinked="0"/>
            <c:txPr>
              <a:bodyPr/>
              <a:lstStyle/>
              <a:p>
                <a:pPr>
                  <a:defRPr b="0" i="0" strike="noStrike" sz="1100" u="none">
                    <a:solidFill>
                      <a:srgbClr val="143A6B"/>
                    </a:solidFill>
                    <a:latin typeface="+mn-lt"/>
                  </a:defRPr>
                </a:pPr>
              </a:p>
            </c:txPr>
            <c:showLegendKey val="0"/>
            <c:showVal val="1"/>
            <c:showCatName val="0"/>
            <c:showSerName val="0"/>
            <c:showPercent val="0"/>
            <c:showBubbleSize val="0"/>
            <c:showLeaderLines val="0"/>
          </c:dLbls>
          <c:cat>
            <c:multiLvlStrRef>
              <c:f>Sheet1!$A$2:$A$12</c:f>
              <c:multiLvlStrCache>
                <c:ptCount val="11"/>
                <c:lvl>
                  <c:pt idx="0">
                    <c:v>barclays.co.uk</c:v>
                  </c:pt>
                  <c:pt idx="1">
                    <c:v>TSB</c:v>
                  </c:pt>
                  <c:pt idx="2">
                    <c:v>Money to the Masses</c:v>
                  </c:pt>
                  <c:pt idx="3">
                    <c:v>MoneySavingExpert</c:v>
                  </c:pt>
                  <c:pt idx="4">
                    <c:v>Tesco Bank</c:v>
                  </c:pt>
                  <c:pt idx="5">
                    <c:v>Finder</c:v>
                  </c:pt>
                  <c:pt idx="6">
                    <c:v>HSBC</c:v>
                  </c:pt>
                  <c:pt idx="7">
                    <c:v>Nationwide</c:v>
                  </c:pt>
                  <c:pt idx="8">
                    <c:v>Virgin Money</c:v>
                  </c:pt>
                  <c:pt idx="9">
                    <c:v>barclaycard.co.uk</c:v>
                  </c:pt>
                  <c:pt idx="10">
                    <c:v>Which?</c:v>
                  </c:pt>
                </c:lvl>
              </c:multiLvlStrCache>
            </c:multiLvlStrRef>
          </c:cat>
          <c:val>
            <c:numRef>
              <c:f>Sheet1!$B$2:$B$12</c:f>
              <c:numCache>
                <c:formatCode>General</c:formatCode>
                <c:ptCount val="11"/>
                <c:pt idx="0">
                  <c:v>1</c:v>
                </c:pt>
                <c:pt idx="1">
                  <c:v>2</c:v>
                </c:pt>
                <c:pt idx="2">
                  <c:v>3</c:v>
                </c:pt>
                <c:pt idx="3">
                  <c:v>4</c:v>
                </c:pt>
                <c:pt idx="4">
                  <c:v>4</c:v>
                </c:pt>
                <c:pt idx="5">
                  <c:v>5</c:v>
                </c:pt>
                <c:pt idx="6">
                  <c:v>5</c:v>
                </c:pt>
                <c:pt idx="7">
                  <c:v>5</c:v>
                </c:pt>
                <c:pt idx="8">
                  <c:v>5</c:v>
                </c:pt>
                <c:pt idx="9">
                  <c:v>7</c:v>
                </c:pt>
                <c:pt idx="10">
                  <c:v>7</c:v>
                </c:pt>
              </c:numCache>
            </c:numRef>
          </c:val>
        </c:ser>
        <c:dLbls>
          <c:numFmt formatCode="#,##0" sourceLinked="0"/>
          <c:txPr>
            <a:bodyPr/>
            <a:lstStyle/>
            <a:p>
              <a:pPr>
                <a:defRPr b="0" i="0" strike="noStrike" sz="1100" u="none">
                  <a:solidFill>
                    <a:srgbClr val="143A6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3A6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C9DB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8FD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Fee on £3,000</c:v>
                </c:pt>
              </c:strCache>
            </c:strRef>
          </c:tx>
          <c:spPr>
            <a:solidFill>
              <a:srgbClr val="1F5FA8"/>
            </a:solidFill>
            <a:effectLst/>
          </c:spPr>
          <c:invertIfNegative val="0"/>
          <c:dLbls>
            <c:numFmt formatCode="£0.00" sourceLinked="0"/>
            <c:txPr>
              <a:bodyPr/>
              <a:lstStyle/>
              <a:p>
                <a:pPr>
                  <a:defRPr b="0" i="0" strike="noStrike" sz="1100" u="none">
                    <a:solidFill>
                      <a:srgbClr val="143A6B"/>
                    </a:solidFill>
                    <a:latin typeface="+mn-lt"/>
                  </a:defRPr>
                </a:pPr>
              </a:p>
            </c:txPr>
            <c:showLegendKey val="0"/>
            <c:showVal val="1"/>
            <c:showCatName val="0"/>
            <c:showSerName val="0"/>
            <c:showPercent val="0"/>
            <c:showBubbleSize val="0"/>
            <c:showLeaderLines val="0"/>
          </c:dLbls>
          <c:cat>
            <c:multiLvlStrRef>
              <c:f>Sheet1!$A$2:$A$9</c:f>
              <c:multiLvlStrCache>
                <c:ptCount val="8"/>
                <c:lvl>
                  <c:pt idx="0">
                    <c:v>TSB up to 38m</c:v>
                  </c:pt>
                  <c:pt idx="1">
                    <c:v>Barclaycard up to 24m</c:v>
                  </c:pt>
                  <c:pt idx="2">
                    <c:v>Tesco 35m</c:v>
                  </c:pt>
                  <c:pt idx="3">
                    <c:v>Barclaycard up to 36m</c:v>
                  </c:pt>
                  <c:pt idx="4">
                    <c:v>Virgin Money 36m</c:v>
                  </c:pt>
                  <c:pt idx="5">
                    <c:v>HSBC 36m</c:v>
                  </c:pt>
                  <c:pt idx="6">
                    <c:v>Capital One up to 36m</c:v>
                  </c:pt>
                  <c:pt idx="7">
                    <c:v>Virgin Money 24m</c:v>
                  </c:pt>
                </c:lvl>
              </c:multiLvlStrCache>
            </c:multiLvlStrRef>
          </c:cat>
          <c:val>
            <c:numRef>
              <c:f>Sheet1!$B$2:$B$9</c:f>
              <c:numCache>
                <c:formatCode>General</c:formatCode>
                <c:ptCount val="8"/>
                <c:pt idx="0">
                  <c:v>104.7</c:v>
                </c:pt>
                <c:pt idx="1">
                  <c:v>103.5</c:v>
                </c:pt>
                <c:pt idx="2">
                  <c:v>94.5</c:v>
                </c:pt>
                <c:pt idx="3">
                  <c:v>94.5</c:v>
                </c:pt>
                <c:pt idx="4">
                  <c:v>93</c:v>
                </c:pt>
                <c:pt idx="5">
                  <c:v>92.7</c:v>
                </c:pt>
                <c:pt idx="6">
                  <c:v>87</c:v>
                </c:pt>
                <c:pt idx="7">
                  <c:v>58.5</c:v>
                </c:pt>
              </c:numCache>
            </c:numRef>
          </c:val>
        </c:ser>
        <c:dLbls>
          <c:numFmt formatCode="£0.00" sourceLinked="0"/>
          <c:txPr>
            <a:bodyPr/>
            <a:lstStyle/>
            <a:p>
              <a:pPr>
                <a:defRPr b="0" i="0" strike="noStrike" sz="1100" u="none">
                  <a:solidFill>
                    <a:srgbClr val="143A6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3A6B"/>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b"/>
        <c:majorGridlines>
          <c:spPr>
            <a:ln w="6350" cap="flat">
              <a:solidFill>
                <a:srgbClr val="C9DB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8FD0"/>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in this deck come from Oct11_3pm in the study repository: transcripts/ (8 web runs), control/ (4 no-web runs), ground_truth.md (pages fetched the same day), summary.md, results.csv. Screenshots are in deck/evidence/.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Tiles: controls 4 of 4 (control/*.md turn 2). Unprompted 1 of 8 is Fable A (transcripts/A-fable.md turn 2, 22 month card third). Prompted 7 of 8: all except Sonnet A. Forced pick 0 of 8: results.csv column t4_pick.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 changed, 5 of 8: Haiku A (never saw the card), Opus A, Opus B, Sonnet A, Sonnet B (saw it only after opening barclaycard.co.uk at turn 3, after the shortlist was set). Fable A found it at turn 1 by opening barclaycard.co.uk directly. The lowest-fee claim: MSE and Which? list no card over 20 months with a fee under 1.95% other than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Haiku A read the same offer text on barclays.co.uk and interpreted it correctly (Barclays' cashback offer on this card requires a Barclays personal current account, which you don't have, so ignore it). So the misreading is not universal; it is a risk created by the 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E5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611880"/>
            <a:ext cx="1051560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3" name="Text 0"/>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chemeClr val="accent2"/>
                </a:solidFill>
              </a:rPr>
              <a:t>AI balance-transfer study, evidence captured 11 October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indent="0" marL="0">
              <a:buNone/>
            </a:pPr>
            <a:r>
              <a:rPr lang="en-US" sz="4000" b="1" dirty="0">
                <a:solidFill>
                  <a:schemeClr val="bg1"/>
                </a:solidFill>
              </a:rPr>
              <a:t>Barclaycard in AI balance-transfer advice</a:t>
            </a:r>
            <a:endParaRPr lang="en-US" sz="4000" dirty="0"/>
          </a:p>
        </p:txBody>
      </p:sp>
      <p:sp>
        <p:nvSpPr>
          <p:cNvPr id="3" name="Text 0"/>
          <p:cNvSpPr/>
          <p:nvPr>
            <p:ph idx="101" type="body" hasCustomPrompt="1"/>
          </p:nvPr>
        </p:nvSpPr>
        <p:spPr>
          <a:xfrm>
            <a:off x="731520" y="3611880"/>
            <a:ext cx="10515600" cy="1463040"/>
          </a:xfrm>
          <a:prstGeom prst="rect">
            <a:avLst/>
          </a:prstGeom>
          <a:noFill/>
          <a:ln/>
        </p:spPr>
        <p:txBody>
          <a:bodyPr wrap="square" lIns="0" tIns="0" rIns="0" bIns="0" rtlCol="0" anchor="t"/>
          <a:lstStyle/>
          <a:p>
            <a:pPr indent="0" marL="0">
              <a:buNone/>
            </a:pPr>
            <a:r>
              <a:rPr lang="en-US" sz="1800" dirty="0">
                <a:solidFill>
                  <a:schemeClr val="accent5"/>
                </a:solidFill>
              </a:rPr>
              <a:t>What four AI assistants recommend to a £3,000 balance-transfer customer, why Barclaycard is never the pick, and what to change.</a:t>
            </a:r>
            <a:endParaRPr lang="en-US" sz="1800" dirty="0"/>
          </a:p>
          <a:p>
            <a:pPr indent="0" marL="0">
              <a:buNone/>
            </a:pPr>
            <a:r>
              <a:rPr lang="en-US" sz="1800" dirty="0">
                <a:solidFill>
                  <a:schemeClr val="accent5"/>
                </a:solidFill>
              </a:rPr>
              <a:t>Prepared for the Head of Credit Cards. Study run and evidence captured 11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The one-page answer: the models know Barclaycard, but the sources they rank from do not show the right card</a:t>
            </a:r>
            <a:endParaRPr lang="en-US" sz="2600" dirty="0"/>
          </a:p>
        </p:txBody>
      </p:sp>
      <p:sp>
        <p:nvSpPr>
          <p:cNvPr id="3" name="tile models shortlist Barclaycard from memory"/>
          <p:cNvSpPr/>
          <p:nvPr/>
        </p:nvSpPr>
        <p:spPr>
          <a:xfrm>
            <a:off x="457200" y="1325880"/>
            <a:ext cx="2606040" cy="1691640"/>
          </a:xfrm>
          <a:prstGeom prst="roundRect">
            <a:avLst>
              <a:gd name="adj" fmla="val 4324"/>
            </a:avLst>
          </a:prstGeom>
          <a:solidFill>
            <a:schemeClr val="bg2"/>
          </a:solidFill>
          <a:ln w="9525">
            <a:solidFill>
              <a:schemeClr val="accent5"/>
            </a:solidFill>
            <a:prstDash val="solid"/>
          </a:ln>
        </p:spPr>
      </p:sp>
      <p:sp>
        <p:nvSpPr>
          <p:cNvPr id="4" name="tile big models shortlist Barclaycard from memory"/>
          <p:cNvSpPr txBox="1"/>
          <p:nvPr/>
        </p:nvSpPr>
        <p:spPr>
          <a:xfrm>
            <a:off x="594360" y="1399032"/>
            <a:ext cx="2331720" cy="658368"/>
          </a:xfrm>
          <a:prstGeom prst="rect">
            <a:avLst/>
          </a:prstGeom>
          <a:noFill/>
          <a:ln/>
        </p:spPr>
        <p:txBody>
          <a:bodyPr wrap="square" lIns="0" tIns="0" rIns="0" bIns="0" rtlCol="0" anchor="ctr"/>
          <a:lstStyle/>
          <a:p>
            <a:pPr indent="0" marL="0">
              <a:buNone/>
            </a:pPr>
            <a:r>
              <a:rPr lang="en-US" sz="3600" b="1" dirty="0">
                <a:solidFill>
                  <a:schemeClr val="accent1"/>
                </a:solidFill>
              </a:rPr>
              <a:t>4 of 4</a:t>
            </a:r>
            <a:endParaRPr lang="en-US" sz="3600" dirty="0"/>
          </a:p>
        </p:txBody>
      </p:sp>
      <p:sp>
        <p:nvSpPr>
          <p:cNvPr id="5" name="tile label models shortlist Barclaycard from memory"/>
          <p:cNvSpPr txBox="1"/>
          <p:nvPr/>
        </p:nvSpPr>
        <p:spPr>
          <a:xfrm>
            <a:off x="594360" y="2075688"/>
            <a:ext cx="2331720" cy="502920"/>
          </a:xfrm>
          <a:prstGeom prst="rect">
            <a:avLst/>
          </a:prstGeom>
          <a:noFill/>
          <a:ln/>
        </p:spPr>
        <p:txBody>
          <a:bodyPr wrap="square" lIns="0" tIns="0" rIns="0" bIns="0" rtlCol="0" anchor="t"/>
          <a:lstStyle/>
          <a:p>
            <a:pPr indent="0" marL="0">
              <a:buNone/>
            </a:pPr>
            <a:r>
              <a:rPr lang="en-US" sz="1150" b="1" dirty="0">
                <a:solidFill>
                  <a:schemeClr val="tx2"/>
                </a:solidFill>
              </a:rPr>
              <a:t>models shortlist Barclaycard from memory</a:t>
            </a:r>
            <a:endParaRPr lang="en-US" sz="1150" dirty="0"/>
          </a:p>
        </p:txBody>
      </p:sp>
      <p:sp>
        <p:nvSpPr>
          <p:cNvPr id="6" name="tile sub models shortlist Barclaycard from memory"/>
          <p:cNvSpPr txBox="1"/>
          <p:nvPr/>
        </p:nvSpPr>
        <p:spPr>
          <a:xfrm>
            <a:off x="594360" y="2633472"/>
            <a:ext cx="2331720" cy="347472"/>
          </a:xfrm>
          <a:prstGeom prst="rect">
            <a:avLst/>
          </a:prstGeom>
          <a:noFill/>
          <a:ln/>
        </p:spPr>
        <p:txBody>
          <a:bodyPr wrap="square" lIns="0" tIns="0" rIns="0" bIns="0" rtlCol="0" anchor="t"/>
          <a:lstStyle/>
          <a:p>
            <a:pPr indent="0" marL="0">
              <a:buNone/>
            </a:pPr>
            <a:r>
              <a:rPr lang="en-US" sz="900" dirty="0">
                <a:solidFill>
                  <a:schemeClr val="tx1"/>
                </a:solidFill>
              </a:rPr>
              <a:t>No web access. Control runs, turn 2.</a:t>
            </a:r>
            <a:endParaRPr lang="en-US" sz="900" dirty="0"/>
          </a:p>
        </p:txBody>
      </p:sp>
      <p:sp>
        <p:nvSpPr>
          <p:cNvPr id="7" name="tile web runs keep Barclaycard in the unprompted top three"/>
          <p:cNvSpPr/>
          <p:nvPr/>
        </p:nvSpPr>
        <p:spPr>
          <a:xfrm>
            <a:off x="3246120" y="1325880"/>
            <a:ext cx="2606040" cy="1691640"/>
          </a:xfrm>
          <a:prstGeom prst="roundRect">
            <a:avLst>
              <a:gd name="adj" fmla="val 4324"/>
            </a:avLst>
          </a:prstGeom>
          <a:solidFill>
            <a:schemeClr val="bg2"/>
          </a:solidFill>
          <a:ln w="9525">
            <a:solidFill>
              <a:schemeClr val="accent5"/>
            </a:solidFill>
            <a:prstDash val="solid"/>
          </a:ln>
        </p:spPr>
      </p:sp>
      <p:sp>
        <p:nvSpPr>
          <p:cNvPr id="8" name="tile big web runs keep Barclaycard in the unprompted top three"/>
          <p:cNvSpPr txBox="1"/>
          <p:nvPr/>
        </p:nvSpPr>
        <p:spPr>
          <a:xfrm>
            <a:off x="3383280" y="1399032"/>
            <a:ext cx="2331720" cy="658368"/>
          </a:xfrm>
          <a:prstGeom prst="rect">
            <a:avLst/>
          </a:prstGeom>
          <a:noFill/>
          <a:ln/>
        </p:spPr>
        <p:txBody>
          <a:bodyPr wrap="square" lIns="0" tIns="0" rIns="0" bIns="0" rtlCol="0" anchor="ctr"/>
          <a:lstStyle/>
          <a:p>
            <a:pPr indent="0" marL="0">
              <a:buNone/>
            </a:pPr>
            <a:r>
              <a:rPr lang="en-US" sz="3600" b="1" dirty="0">
                <a:solidFill>
                  <a:schemeClr val="accent1"/>
                </a:solidFill>
              </a:rPr>
              <a:t>1 of 8</a:t>
            </a:r>
            <a:endParaRPr lang="en-US" sz="3600" dirty="0"/>
          </a:p>
        </p:txBody>
      </p:sp>
      <p:sp>
        <p:nvSpPr>
          <p:cNvPr id="9" name="tile label web runs keep Barclaycard in the unprompted top three"/>
          <p:cNvSpPr txBox="1"/>
          <p:nvPr/>
        </p:nvSpPr>
        <p:spPr>
          <a:xfrm>
            <a:off x="3383280" y="2075688"/>
            <a:ext cx="2331720" cy="502920"/>
          </a:xfrm>
          <a:prstGeom prst="rect">
            <a:avLst/>
          </a:prstGeom>
          <a:noFill/>
          <a:ln/>
        </p:spPr>
        <p:txBody>
          <a:bodyPr wrap="square" lIns="0" tIns="0" rIns="0" bIns="0" rtlCol="0" anchor="t"/>
          <a:lstStyle/>
          <a:p>
            <a:pPr indent="0" marL="0">
              <a:buNone/>
            </a:pPr>
            <a:r>
              <a:rPr lang="en-US" sz="1150" b="1" dirty="0">
                <a:solidFill>
                  <a:schemeClr val="tx2"/>
                </a:solidFill>
              </a:rPr>
              <a:t>web runs keep Barclaycard in the unprompted top three</a:t>
            </a:r>
            <a:endParaRPr lang="en-US" sz="1150" dirty="0"/>
          </a:p>
        </p:txBody>
      </p:sp>
      <p:sp>
        <p:nvSpPr>
          <p:cNvPr id="10" name="tile sub web runs keep Barclaycard in the unprompted top three"/>
          <p:cNvSpPr txBox="1"/>
          <p:nvPr/>
        </p:nvSpPr>
        <p:spPr>
          <a:xfrm>
            <a:off x="3383280" y="2633472"/>
            <a:ext cx="2331720" cy="347472"/>
          </a:xfrm>
          <a:prstGeom prst="rect">
            <a:avLst/>
          </a:prstGeom>
          <a:noFill/>
          <a:ln/>
        </p:spPr>
        <p:txBody>
          <a:bodyPr wrap="square" lIns="0" tIns="0" rIns="0" bIns="0" rtlCol="0" anchor="t"/>
          <a:lstStyle/>
          <a:p>
            <a:pPr indent="0" marL="0">
              <a:buNone/>
            </a:pPr>
            <a:r>
              <a:rPr lang="en-US" sz="900" dirty="0">
                <a:solidFill>
                  <a:schemeClr val="tx1"/>
                </a:solidFill>
              </a:rPr>
              <a:t>Turn 2, after persona details.</a:t>
            </a:r>
            <a:endParaRPr lang="en-US" sz="900" dirty="0"/>
          </a:p>
        </p:txBody>
      </p:sp>
      <p:sp>
        <p:nvSpPr>
          <p:cNvPr id="11" name="tile web runs place it in the top three once the user names it"/>
          <p:cNvSpPr/>
          <p:nvPr/>
        </p:nvSpPr>
        <p:spPr>
          <a:xfrm>
            <a:off x="6035040" y="1325880"/>
            <a:ext cx="2606040" cy="1691640"/>
          </a:xfrm>
          <a:prstGeom prst="roundRect">
            <a:avLst>
              <a:gd name="adj" fmla="val 4324"/>
            </a:avLst>
          </a:prstGeom>
          <a:solidFill>
            <a:schemeClr val="bg2"/>
          </a:solidFill>
          <a:ln w="9525">
            <a:solidFill>
              <a:schemeClr val="accent5"/>
            </a:solidFill>
            <a:prstDash val="solid"/>
          </a:ln>
        </p:spPr>
      </p:sp>
      <p:sp>
        <p:nvSpPr>
          <p:cNvPr id="12" name="tile big web runs place it in the top three once the user names it"/>
          <p:cNvSpPr txBox="1"/>
          <p:nvPr/>
        </p:nvSpPr>
        <p:spPr>
          <a:xfrm>
            <a:off x="6172200" y="1399032"/>
            <a:ext cx="2331720" cy="658368"/>
          </a:xfrm>
          <a:prstGeom prst="rect">
            <a:avLst/>
          </a:prstGeom>
          <a:noFill/>
          <a:ln/>
        </p:spPr>
        <p:txBody>
          <a:bodyPr wrap="square" lIns="0" tIns="0" rIns="0" bIns="0" rtlCol="0" anchor="ctr"/>
          <a:lstStyle/>
          <a:p>
            <a:pPr indent="0" marL="0">
              <a:buNone/>
            </a:pPr>
            <a:r>
              <a:rPr lang="en-US" sz="3600" b="1" dirty="0">
                <a:solidFill>
                  <a:schemeClr val="accent1"/>
                </a:solidFill>
              </a:rPr>
              <a:t>7 of 8</a:t>
            </a:r>
            <a:endParaRPr lang="en-US" sz="3600" dirty="0"/>
          </a:p>
        </p:txBody>
      </p:sp>
      <p:sp>
        <p:nvSpPr>
          <p:cNvPr id="13" name="tile label web runs place it in the top three once the user names it"/>
          <p:cNvSpPr txBox="1"/>
          <p:nvPr/>
        </p:nvSpPr>
        <p:spPr>
          <a:xfrm>
            <a:off x="6172200" y="2075688"/>
            <a:ext cx="2331720" cy="502920"/>
          </a:xfrm>
          <a:prstGeom prst="rect">
            <a:avLst/>
          </a:prstGeom>
          <a:noFill/>
          <a:ln/>
        </p:spPr>
        <p:txBody>
          <a:bodyPr wrap="square" lIns="0" tIns="0" rIns="0" bIns="0" rtlCol="0" anchor="t"/>
          <a:lstStyle/>
          <a:p>
            <a:pPr indent="0" marL="0">
              <a:buNone/>
            </a:pPr>
            <a:r>
              <a:rPr lang="en-US" sz="1150" b="1" dirty="0">
                <a:solidFill>
                  <a:schemeClr val="tx2"/>
                </a:solidFill>
              </a:rPr>
              <a:t>web runs place it in the top three once the user names it</a:t>
            </a:r>
            <a:endParaRPr lang="en-US" sz="1150" dirty="0"/>
          </a:p>
        </p:txBody>
      </p:sp>
      <p:sp>
        <p:nvSpPr>
          <p:cNvPr id="14" name="tile sub web runs place it in the top three once the user names it"/>
          <p:cNvSpPr txBox="1"/>
          <p:nvPr/>
        </p:nvSpPr>
        <p:spPr>
          <a:xfrm>
            <a:off x="6172200" y="2633472"/>
            <a:ext cx="2331720" cy="347472"/>
          </a:xfrm>
          <a:prstGeom prst="rect">
            <a:avLst/>
          </a:prstGeom>
          <a:noFill/>
          <a:ln/>
        </p:spPr>
        <p:txBody>
          <a:bodyPr wrap="square" lIns="0" tIns="0" rIns="0" bIns="0" rtlCol="0" anchor="t"/>
          <a:lstStyle/>
          <a:p>
            <a:pPr indent="0" marL="0">
              <a:buNone/>
            </a:pPr>
            <a:r>
              <a:rPr lang="en-US" sz="900" dirty="0">
                <a:solidFill>
                  <a:schemeClr val="tx1"/>
                </a:solidFill>
              </a:rPr>
              <a:t>Turn 3 probe.</a:t>
            </a:r>
            <a:endParaRPr lang="en-US" sz="900" dirty="0"/>
          </a:p>
        </p:txBody>
      </p:sp>
      <p:sp>
        <p:nvSpPr>
          <p:cNvPr id="15" name="tile web runs pick Barclaycard as the card to apply for"/>
          <p:cNvSpPr/>
          <p:nvPr/>
        </p:nvSpPr>
        <p:spPr>
          <a:xfrm>
            <a:off x="8823960" y="1325880"/>
            <a:ext cx="2606040" cy="1691640"/>
          </a:xfrm>
          <a:prstGeom prst="roundRect">
            <a:avLst>
              <a:gd name="adj" fmla="val 4324"/>
            </a:avLst>
          </a:prstGeom>
          <a:solidFill>
            <a:schemeClr val="bg2"/>
          </a:solidFill>
          <a:ln w="9525">
            <a:solidFill>
              <a:schemeClr val="accent5"/>
            </a:solidFill>
            <a:prstDash val="solid"/>
          </a:ln>
        </p:spPr>
      </p:sp>
      <p:sp>
        <p:nvSpPr>
          <p:cNvPr id="16" name="tile big web runs pick Barclaycard as the card to apply for"/>
          <p:cNvSpPr txBox="1"/>
          <p:nvPr/>
        </p:nvSpPr>
        <p:spPr>
          <a:xfrm>
            <a:off x="8961120" y="1399032"/>
            <a:ext cx="2331720" cy="658368"/>
          </a:xfrm>
          <a:prstGeom prst="rect">
            <a:avLst/>
          </a:prstGeom>
          <a:noFill/>
          <a:ln/>
        </p:spPr>
        <p:txBody>
          <a:bodyPr wrap="square" lIns="0" tIns="0" rIns="0" bIns="0" rtlCol="0" anchor="ctr"/>
          <a:lstStyle/>
          <a:p>
            <a:pPr indent="0" marL="0">
              <a:buNone/>
            </a:pPr>
            <a:r>
              <a:rPr lang="en-US" sz="3600" b="1" dirty="0">
                <a:solidFill>
                  <a:schemeClr val="accent1"/>
                </a:solidFill>
              </a:rPr>
              <a:t>0 of 8</a:t>
            </a:r>
            <a:endParaRPr lang="en-US" sz="3600" dirty="0"/>
          </a:p>
        </p:txBody>
      </p:sp>
      <p:sp>
        <p:nvSpPr>
          <p:cNvPr id="17" name="tile label web runs pick Barclaycard as the card to apply for"/>
          <p:cNvSpPr txBox="1"/>
          <p:nvPr/>
        </p:nvSpPr>
        <p:spPr>
          <a:xfrm>
            <a:off x="8961120" y="2075688"/>
            <a:ext cx="2331720" cy="502920"/>
          </a:xfrm>
          <a:prstGeom prst="rect">
            <a:avLst/>
          </a:prstGeom>
          <a:noFill/>
          <a:ln/>
        </p:spPr>
        <p:txBody>
          <a:bodyPr wrap="square" lIns="0" tIns="0" rIns="0" bIns="0" rtlCol="0" anchor="t"/>
          <a:lstStyle/>
          <a:p>
            <a:pPr indent="0" marL="0">
              <a:buNone/>
            </a:pPr>
            <a:r>
              <a:rPr lang="en-US" sz="1150" b="1" dirty="0">
                <a:solidFill>
                  <a:schemeClr val="tx2"/>
                </a:solidFill>
              </a:rPr>
              <a:t>web runs pick Barclaycard as the card to apply for</a:t>
            </a:r>
            <a:endParaRPr lang="en-US" sz="1150" dirty="0"/>
          </a:p>
        </p:txBody>
      </p:sp>
      <p:sp>
        <p:nvSpPr>
          <p:cNvPr id="18" name="tile sub web runs pick Barclaycard as the card to apply for"/>
          <p:cNvSpPr txBox="1"/>
          <p:nvPr/>
        </p:nvSpPr>
        <p:spPr>
          <a:xfrm>
            <a:off x="8961120" y="2633472"/>
            <a:ext cx="2331720" cy="347472"/>
          </a:xfrm>
          <a:prstGeom prst="rect">
            <a:avLst/>
          </a:prstGeom>
          <a:noFill/>
          <a:ln/>
        </p:spPr>
        <p:txBody>
          <a:bodyPr wrap="square" lIns="0" tIns="0" rIns="0" bIns="0" rtlCol="0" anchor="t"/>
          <a:lstStyle/>
          <a:p>
            <a:pPr indent="0" marL="0">
              <a:buNone/>
            </a:pPr>
            <a:r>
              <a:rPr lang="en-US" sz="900" dirty="0">
                <a:solidFill>
                  <a:schemeClr val="tx1"/>
                </a:solidFill>
              </a:rPr>
              <a:t>Turn 4 forced choice.</a:t>
            </a:r>
            <a:endParaRPr lang="en-US" sz="900" dirty="0"/>
          </a:p>
        </p:txBody>
      </p:sp>
      <p:sp>
        <p:nvSpPr>
          <p:cNvPr id="19" name="body text"/>
          <p:cNvSpPr txBox="1"/>
          <p:nvPr/>
        </p:nvSpPr>
        <p:spPr>
          <a:xfrm>
            <a:off x="457200" y="3291840"/>
            <a:ext cx="11247120" cy="274320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The gap is between memory and the pick. </a:t>
            </a:r>
            <a:pPr indent="0" marL="0">
              <a:spcAft>
                <a:spcPts val="600"/>
              </a:spcAft>
              <a:buNone/>
            </a:pPr>
            <a:r>
              <a:rPr lang="en-US" sz="1400" dirty="0">
                <a:solidFill>
                  <a:schemeClr val="tx1"/>
                </a:solidFill>
              </a:rPr>
              <a:t>Every model recalls Barclaycard as a leading issuer and reports its live figures correctly once it opens barclaycard.co.uk. It drops out in the step between: the comparison guides that set the shortlist (Which?, MoneySavingExpert) do not list the 22 month 1.49% card, and label the 36 month card as uncertain against HSBC's and Virgin Money's “definite” terms.</a:t>
            </a:r>
            <a:endParaRPr lang="en-US" sz="1400" dirty="0"/>
          </a:p>
          <a:p>
            <a:pPr marL="177800" indent="-177800">
              <a:spcAft>
                <a:spcPts val="600"/>
              </a:spcAft>
              <a:buSzPct val="100000"/>
              <a:buChar char="•"/>
            </a:pPr>
            <a:r>
              <a:rPr lang="en-US" sz="1400" b="1" dirty="0">
                <a:solidFill>
                  <a:schemeClr val="tx1"/>
                </a:solidFill>
              </a:rPr>
              <a:t>Six causes, each with a screenshot. </a:t>
            </a:r>
            <a:pPr indent="0" marL="0">
              <a:spcAft>
                <a:spcPts val="600"/>
              </a:spcAft>
              <a:buNone/>
            </a:pPr>
            <a:r>
              <a:rPr lang="en-US" sz="1400" dirty="0">
                <a:solidFill>
                  <a:schemeClr val="tx1"/>
                </a:solidFill>
              </a:rPr>
              <a:t>Missing 22 month card in the guides; “up to” versus “definite”; a fee 0.06 points above HSBC and 0.15 above the customer's 3% ceiling; no eligibility criteria on Barclaycard pages; offer text that one model read as a card condition; 404s, broken images and inconsistent APR lines.</a:t>
            </a:r>
            <a:endParaRPr lang="en-US" sz="1400" dirty="0"/>
          </a:p>
          <a:p>
            <a:pPr marL="177800" indent="-177800">
              <a:spcAft>
                <a:spcPts val="600"/>
              </a:spcAft>
              <a:buSzPct val="100000"/>
              <a:buChar char="•"/>
            </a:pPr>
            <a:r>
              <a:rPr lang="en-US" sz="1400" b="1" dirty="0">
                <a:solidFill>
                  <a:schemeClr val="tx1"/>
                </a:solidFill>
              </a:rPr>
              <a:t>Decision asked today. </a:t>
            </a:r>
            <a:pPr indent="0" marL="0">
              <a:spcAft>
                <a:spcPts val="600"/>
              </a:spcAft>
              <a:buNone/>
            </a:pPr>
            <a:r>
              <a:rPr lang="en-US" sz="1400" dirty="0">
                <a:solidFill>
                  <a:schemeClr val="tx1"/>
                </a:solidFill>
              </a:rPr>
              <a:t>Approve three low-effort actions (slides 17 and 18) and a monthly rerun of the same protocol so the effect can be measured against the baseline on this page.</a:t>
            </a:r>
            <a:endParaRPr lang="en-US" sz="1400" dirty="0"/>
          </a:p>
        </p:txBody>
      </p:sp>
      <p:sp>
        <p:nvSpPr>
          <p:cNvPr id="2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Oct11_3pm/summary.md sections 1 and 4; results.csv. Each statistic is reproducible from the transcript turn named on the tile.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How to read this deck: every claim carries a test that could prove it wrong</a:t>
            </a:r>
            <a:endParaRPr lang="en-US" sz="2600" dirty="0"/>
          </a:p>
        </p:txBody>
      </p:sp>
      <p:sp>
        <p:nvSpPr>
          <p:cNvPr id="3" name="col 0"/>
          <p:cNvSpPr/>
          <p:nvPr/>
        </p:nvSpPr>
        <p:spPr>
          <a:xfrm>
            <a:off x="457200" y="1371600"/>
            <a:ext cx="3611880" cy="3291840"/>
          </a:xfrm>
          <a:prstGeom prst="roundRect">
            <a:avLst>
              <a:gd name="adj" fmla="val 2222"/>
            </a:avLst>
          </a:prstGeom>
          <a:solidFill>
            <a:schemeClr val="bg2"/>
          </a:solidFill>
          <a:ln w="9525">
            <a:solidFill>
              <a:schemeClr val="accent5"/>
            </a:solidFill>
            <a:prstDash val="solid"/>
          </a:ln>
        </p:spPr>
      </p:sp>
      <p:sp>
        <p:nvSpPr>
          <p:cNvPr id="4" name="num 1"/>
          <p:cNvSpPr/>
          <p:nvPr/>
        </p:nvSpPr>
        <p:spPr>
          <a:xfrm>
            <a:off x="640080" y="1554480"/>
            <a:ext cx="384048" cy="384048"/>
          </a:xfrm>
          <a:prstGeom prst="ellipse">
            <a:avLst/>
          </a:prstGeom>
          <a:solidFill>
            <a:schemeClr val="accent1"/>
          </a:solidFill>
          <a:ln w="12700">
            <a:solidFill>
              <a:schemeClr val="accent1"/>
            </a:solidFill>
            <a:prstDash val="solid"/>
          </a:ln>
        </p:spPr>
      </p:sp>
      <p:sp>
        <p:nvSpPr>
          <p:cNvPr id="5" name="num text 1"/>
          <p:cNvSpPr txBox="1"/>
          <p:nvPr/>
        </p:nvSpPr>
        <p:spPr>
          <a:xfrm>
            <a:off x="640080" y="1554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ol title 0"/>
          <p:cNvSpPr txBox="1"/>
          <p:nvPr/>
        </p:nvSpPr>
        <p:spPr>
          <a:xfrm>
            <a:off x="1143000" y="1536192"/>
            <a:ext cx="2743200" cy="411480"/>
          </a:xfrm>
          <a:prstGeom prst="rect">
            <a:avLst/>
          </a:prstGeom>
          <a:noFill/>
          <a:ln/>
        </p:spPr>
        <p:txBody>
          <a:bodyPr wrap="square" lIns="0" tIns="0" rIns="0" bIns="0" rtlCol="0" anchor="ctr"/>
          <a:lstStyle/>
          <a:p>
            <a:pPr indent="0" marL="0">
              <a:buNone/>
            </a:pPr>
            <a:r>
              <a:rPr lang="en-US" sz="1800" b="1" dirty="0">
                <a:solidFill>
                  <a:schemeClr val="tx2"/>
                </a:solidFill>
              </a:rPr>
              <a:t>Transcripts</a:t>
            </a:r>
            <a:endParaRPr lang="en-US" sz="1800" dirty="0"/>
          </a:p>
        </p:txBody>
      </p:sp>
      <p:sp>
        <p:nvSpPr>
          <p:cNvPr id="7" name="col body 0"/>
          <p:cNvSpPr txBox="1"/>
          <p:nvPr/>
        </p:nvSpPr>
        <p:spPr>
          <a:xfrm>
            <a:off x="640080" y="2103120"/>
            <a:ext cx="3246120" cy="1463040"/>
          </a:xfrm>
          <a:prstGeom prst="rect">
            <a:avLst/>
          </a:prstGeom>
          <a:noFill/>
          <a:ln/>
        </p:spPr>
        <p:txBody>
          <a:bodyPr wrap="square" lIns="0" tIns="0" rIns="0" bIns="0" rtlCol="0" anchor="t"/>
          <a:lstStyle/>
          <a:p>
            <a:pPr indent="0" marL="0">
              <a:buNone/>
            </a:pPr>
            <a:r>
              <a:rPr lang="en-US" sz="1250" dirty="0">
                <a:solidFill>
                  <a:schemeClr val="tx1"/>
                </a:solidFill>
              </a:rPr>
              <a:t>Each count (1 of 8, 7 of 8) points to a turn in a named transcript file. The model's own words are quoted; nothing is paraphrased into a stronger claim.</a:t>
            </a:r>
            <a:endParaRPr lang="en-US" sz="1250" dirty="0"/>
          </a:p>
        </p:txBody>
      </p:sp>
      <p:sp>
        <p:nvSpPr>
          <p:cNvPr id="8" name="col test 0"/>
          <p:cNvSpPr txBox="1"/>
          <p:nvPr/>
        </p:nvSpPr>
        <p:spPr>
          <a:xfrm>
            <a:off x="640080" y="3611880"/>
            <a:ext cx="3246120" cy="960120"/>
          </a:xfrm>
          <a:prstGeom prst="rect">
            <a:avLst/>
          </a:prstGeom>
          <a:noFill/>
          <a:ln/>
        </p:spPr>
        <p:txBody>
          <a:bodyPr wrap="square" lIns="0" tIns="0" rIns="0" bIns="0" rtlCol="0" anchor="t"/>
          <a:lstStyle/>
          <a:p>
            <a:pPr indent="0" marL="0">
              <a:buNone/>
            </a:pPr>
            <a:r>
              <a:rPr lang="en-US" sz="1150" b="1" dirty="0">
                <a:solidFill>
                  <a:schemeClr val="accent1"/>
                </a:solidFill>
              </a:rPr>
              <a:t>Falsified if: </a:t>
            </a:r>
            <a:pPr indent="0" marL="0">
              <a:buNone/>
            </a:pPr>
            <a:r>
              <a:rPr lang="en-US" sz="1150" dirty="0">
                <a:solidFill>
                  <a:schemeClr val="tx1"/>
                </a:solidFill>
              </a:rPr>
              <a:t>reading the file and finding a different answer at that turn.</a:t>
            </a:r>
            <a:endParaRPr lang="en-US" sz="1150" dirty="0"/>
          </a:p>
        </p:txBody>
      </p:sp>
      <p:sp>
        <p:nvSpPr>
          <p:cNvPr id="9" name="col 1"/>
          <p:cNvSpPr/>
          <p:nvPr/>
        </p:nvSpPr>
        <p:spPr>
          <a:xfrm>
            <a:off x="4251960" y="1371600"/>
            <a:ext cx="3611880" cy="3291840"/>
          </a:xfrm>
          <a:prstGeom prst="roundRect">
            <a:avLst>
              <a:gd name="adj" fmla="val 2222"/>
            </a:avLst>
          </a:prstGeom>
          <a:solidFill>
            <a:schemeClr val="bg2"/>
          </a:solidFill>
          <a:ln w="9525">
            <a:solidFill>
              <a:schemeClr val="accent5"/>
            </a:solidFill>
            <a:prstDash val="solid"/>
          </a:ln>
        </p:spPr>
      </p:sp>
      <p:sp>
        <p:nvSpPr>
          <p:cNvPr id="10" name="num 2"/>
          <p:cNvSpPr/>
          <p:nvPr/>
        </p:nvSpPr>
        <p:spPr>
          <a:xfrm>
            <a:off x="4434840" y="1554480"/>
            <a:ext cx="384048" cy="384048"/>
          </a:xfrm>
          <a:prstGeom prst="ellipse">
            <a:avLst/>
          </a:prstGeom>
          <a:solidFill>
            <a:schemeClr val="accent1"/>
          </a:solidFill>
          <a:ln w="12700">
            <a:solidFill>
              <a:schemeClr val="accent1"/>
            </a:solidFill>
            <a:prstDash val="solid"/>
          </a:ln>
        </p:spPr>
      </p:sp>
      <p:sp>
        <p:nvSpPr>
          <p:cNvPr id="11" name="num text 2"/>
          <p:cNvSpPr txBox="1"/>
          <p:nvPr/>
        </p:nvSpPr>
        <p:spPr>
          <a:xfrm>
            <a:off x="4434840" y="1554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l title 1"/>
          <p:cNvSpPr txBox="1"/>
          <p:nvPr/>
        </p:nvSpPr>
        <p:spPr>
          <a:xfrm>
            <a:off x="4937760" y="1536192"/>
            <a:ext cx="2743200" cy="411480"/>
          </a:xfrm>
          <a:prstGeom prst="rect">
            <a:avLst/>
          </a:prstGeom>
          <a:noFill/>
          <a:ln/>
        </p:spPr>
        <p:txBody>
          <a:bodyPr wrap="square" lIns="0" tIns="0" rIns="0" bIns="0" rtlCol="0" anchor="ctr"/>
          <a:lstStyle/>
          <a:p>
            <a:pPr indent="0" marL="0">
              <a:buNone/>
            </a:pPr>
            <a:r>
              <a:rPr lang="en-US" sz="1800" b="1" dirty="0">
                <a:solidFill>
                  <a:schemeClr val="tx2"/>
                </a:solidFill>
              </a:rPr>
              <a:t>Screenshots</a:t>
            </a:r>
            <a:endParaRPr lang="en-US" sz="1800" dirty="0"/>
          </a:p>
        </p:txBody>
      </p:sp>
      <p:sp>
        <p:nvSpPr>
          <p:cNvPr id="13" name="col body 1"/>
          <p:cNvSpPr txBox="1"/>
          <p:nvPr/>
        </p:nvSpPr>
        <p:spPr>
          <a:xfrm>
            <a:off x="4434840" y="2103120"/>
            <a:ext cx="3246120" cy="1463040"/>
          </a:xfrm>
          <a:prstGeom prst="rect">
            <a:avLst/>
          </a:prstGeom>
          <a:noFill/>
          <a:ln/>
        </p:spPr>
        <p:txBody>
          <a:bodyPr wrap="square" lIns="0" tIns="0" rIns="0" bIns="0" rtlCol="0" anchor="t"/>
          <a:lstStyle/>
          <a:p>
            <a:pPr indent="0" marL="0">
              <a:buNone/>
            </a:pPr>
            <a:r>
              <a:rPr lang="en-US" sz="1250" dirty="0">
                <a:solidFill>
                  <a:schemeClr val="tx1"/>
                </a:solidFill>
              </a:rPr>
              <a:t>Each website claim has a full-page capture and an annotated crop, taken 11 October 2026 between 11:30 and 11:40 UTC with a 1280 pixel desktop viewport. URLs are listed in the appendix.</a:t>
            </a:r>
            <a:endParaRPr lang="en-US" sz="1250" dirty="0"/>
          </a:p>
        </p:txBody>
      </p:sp>
      <p:sp>
        <p:nvSpPr>
          <p:cNvPr id="14" name="col test 1"/>
          <p:cNvSpPr txBox="1"/>
          <p:nvPr/>
        </p:nvSpPr>
        <p:spPr>
          <a:xfrm>
            <a:off x="4434840" y="3611880"/>
            <a:ext cx="3246120" cy="960120"/>
          </a:xfrm>
          <a:prstGeom prst="rect">
            <a:avLst/>
          </a:prstGeom>
          <a:noFill/>
          <a:ln/>
        </p:spPr>
        <p:txBody>
          <a:bodyPr wrap="square" lIns="0" tIns="0" rIns="0" bIns="0" rtlCol="0" anchor="t"/>
          <a:lstStyle/>
          <a:p>
            <a:pPr indent="0" marL="0">
              <a:buNone/>
            </a:pPr>
            <a:r>
              <a:rPr lang="en-US" sz="1150" b="1" dirty="0">
                <a:solidFill>
                  <a:schemeClr val="accent1"/>
                </a:solidFill>
              </a:rPr>
              <a:t>Falsified if: </a:t>
            </a:r>
            <a:pPr indent="0" marL="0">
              <a:buNone/>
            </a:pPr>
            <a:r>
              <a:rPr lang="en-US" sz="1150" dirty="0">
                <a:solidFill>
                  <a:schemeClr val="tx1"/>
                </a:solidFill>
              </a:rPr>
              <a:t>opening the URL today and finding the page says something else (which would also date the finding).</a:t>
            </a:r>
            <a:endParaRPr lang="en-US" sz="1150" dirty="0"/>
          </a:p>
        </p:txBody>
      </p:sp>
      <p:sp>
        <p:nvSpPr>
          <p:cNvPr id="15" name="col 2"/>
          <p:cNvSpPr/>
          <p:nvPr/>
        </p:nvSpPr>
        <p:spPr>
          <a:xfrm>
            <a:off x="8046720" y="1371600"/>
            <a:ext cx="3611880" cy="3291840"/>
          </a:xfrm>
          <a:prstGeom prst="roundRect">
            <a:avLst>
              <a:gd name="adj" fmla="val 2222"/>
            </a:avLst>
          </a:prstGeom>
          <a:solidFill>
            <a:schemeClr val="bg2"/>
          </a:solidFill>
          <a:ln w="9525">
            <a:solidFill>
              <a:schemeClr val="accent5"/>
            </a:solidFill>
            <a:prstDash val="solid"/>
          </a:ln>
        </p:spPr>
      </p:sp>
      <p:sp>
        <p:nvSpPr>
          <p:cNvPr id="16" name="num 3"/>
          <p:cNvSpPr/>
          <p:nvPr/>
        </p:nvSpPr>
        <p:spPr>
          <a:xfrm>
            <a:off x="8229600" y="1554480"/>
            <a:ext cx="384048" cy="384048"/>
          </a:xfrm>
          <a:prstGeom prst="ellipse">
            <a:avLst/>
          </a:prstGeom>
          <a:solidFill>
            <a:schemeClr val="accent1"/>
          </a:solidFill>
          <a:ln w="12700">
            <a:solidFill>
              <a:schemeClr val="accent1"/>
            </a:solidFill>
            <a:prstDash val="solid"/>
          </a:ln>
        </p:spPr>
      </p:sp>
      <p:sp>
        <p:nvSpPr>
          <p:cNvPr id="17" name="num text 3"/>
          <p:cNvSpPr txBox="1"/>
          <p:nvPr/>
        </p:nvSpPr>
        <p:spPr>
          <a:xfrm>
            <a:off x="8229600" y="1554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ol title 2"/>
          <p:cNvSpPr txBox="1"/>
          <p:nvPr/>
        </p:nvSpPr>
        <p:spPr>
          <a:xfrm>
            <a:off x="8732520" y="1536192"/>
            <a:ext cx="2743200" cy="411480"/>
          </a:xfrm>
          <a:prstGeom prst="rect">
            <a:avLst/>
          </a:prstGeom>
          <a:noFill/>
          <a:ln/>
        </p:spPr>
        <p:txBody>
          <a:bodyPr wrap="square" lIns="0" tIns="0" rIns="0" bIns="0" rtlCol="0" anchor="ctr"/>
          <a:lstStyle/>
          <a:p>
            <a:pPr indent="0" marL="0">
              <a:buNone/>
            </a:pPr>
            <a:r>
              <a:rPr lang="en-US" sz="1800" b="1" dirty="0">
                <a:solidFill>
                  <a:schemeClr val="tx2"/>
                </a:solidFill>
              </a:rPr>
              <a:t>Rerun protocol</a:t>
            </a:r>
            <a:endParaRPr lang="en-US" sz="1800" dirty="0"/>
          </a:p>
        </p:txBody>
      </p:sp>
      <p:sp>
        <p:nvSpPr>
          <p:cNvPr id="19" name="col body 2"/>
          <p:cNvSpPr txBox="1"/>
          <p:nvPr/>
        </p:nvSpPr>
        <p:spPr>
          <a:xfrm>
            <a:off x="8229600" y="2103120"/>
            <a:ext cx="3246120" cy="1463040"/>
          </a:xfrm>
          <a:prstGeom prst="rect">
            <a:avLst/>
          </a:prstGeom>
          <a:noFill/>
          <a:ln/>
        </p:spPr>
        <p:txBody>
          <a:bodyPr wrap="square" lIns="0" tIns="0" rIns="0" bIns="0" rtlCol="0" anchor="t"/>
          <a:lstStyle/>
          <a:p>
            <a:pPr indent="0" marL="0">
              <a:buNone/>
            </a:pPr>
            <a:r>
              <a:rPr lang="en-US" sz="1250" dirty="0">
                <a:solidFill>
                  <a:schemeClr val="tx1"/>
                </a:solidFill>
              </a:rPr>
              <a:t>The persona, turn script and scoring are written down in protocol.md. A rerun with the same inputs should reproduce the pattern, not the exact counts.</a:t>
            </a:r>
            <a:endParaRPr lang="en-US" sz="1250" dirty="0"/>
          </a:p>
        </p:txBody>
      </p:sp>
      <p:sp>
        <p:nvSpPr>
          <p:cNvPr id="20" name="col test 2"/>
          <p:cNvSpPr txBox="1"/>
          <p:nvPr/>
        </p:nvSpPr>
        <p:spPr>
          <a:xfrm>
            <a:off x="8229600" y="3611880"/>
            <a:ext cx="3246120" cy="960120"/>
          </a:xfrm>
          <a:prstGeom prst="rect">
            <a:avLst/>
          </a:prstGeom>
          <a:noFill/>
          <a:ln/>
        </p:spPr>
        <p:txBody>
          <a:bodyPr wrap="square" lIns="0" tIns="0" rIns="0" bIns="0" rtlCol="0" anchor="t"/>
          <a:lstStyle/>
          <a:p>
            <a:pPr indent="0" marL="0">
              <a:buNone/>
            </a:pPr>
            <a:r>
              <a:rPr lang="en-US" sz="1150" b="1" dirty="0">
                <a:solidFill>
                  <a:schemeClr val="accent1"/>
                </a:solidFill>
              </a:rPr>
              <a:t>Falsified if: </a:t>
            </a:r>
            <a:pPr indent="0" marL="0">
              <a:buNone/>
            </a:pPr>
            <a:r>
              <a:rPr lang="en-US" sz="1150" dirty="0">
                <a:solidFill>
                  <a:schemeClr val="tx1"/>
                </a:solidFill>
              </a:rPr>
              <a:t>a rerun with the same protocol puts Barclaycard in the unprompted top three in most runs.</a:t>
            </a:r>
            <a:endParaRPr lang="en-US" sz="1150" dirty="0"/>
          </a:p>
        </p:txBody>
      </p:sp>
      <p:sp>
        <p:nvSpPr>
          <p:cNvPr id="21" name="body text"/>
          <p:cNvSpPr txBox="1"/>
          <p:nvPr/>
        </p:nvSpPr>
        <p:spPr>
          <a:xfrm>
            <a:off x="457200" y="4892040"/>
            <a:ext cx="11247120" cy="1188720"/>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chemeClr val="tx1"/>
                </a:solidFill>
              </a:rPr>
              <a:t>What is inferred rather than observed. </a:t>
            </a:r>
            <a:pPr indent="0" marL="0">
              <a:spcAft>
                <a:spcPts val="600"/>
              </a:spcAft>
              <a:buNone/>
            </a:pPr>
            <a:r>
              <a:rPr lang="en-US" sz="1200" dirty="0">
                <a:solidFill>
                  <a:schemeClr val="tx1"/>
                </a:solidFill>
              </a:rPr>
              <a:t>The six causes are the reasons the models themselves gave when they ranked Barclaycard lower, cross-checked against the pages. They are the best available explanation, not a controlled experiment. The measurement plan on slide 18 is how the inference gets tested.</a:t>
            </a:r>
            <a:endParaRPr lang="en-US" sz="1200" dirty="0"/>
          </a:p>
          <a:p>
            <a:pPr marL="177800" indent="-177800">
              <a:spcAft>
                <a:spcPts val="600"/>
              </a:spcAft>
              <a:buSzPct val="100000"/>
              <a:buChar char="•"/>
            </a:pPr>
            <a:r>
              <a:rPr lang="en-US" sz="1200" b="1" dirty="0">
                <a:solidFill>
                  <a:schemeClr val="tx1"/>
                </a:solidFill>
              </a:rPr>
              <a:t>Sample size. </a:t>
            </a:r>
            <a:pPr indent="0" marL="0">
              <a:spcAft>
                <a:spcPts val="600"/>
              </a:spcAft>
              <a:buNone/>
            </a:pPr>
            <a:r>
              <a:rPr lang="en-US" sz="1200" dirty="0">
                <a:solidFill>
                  <a:schemeClr val="tx1"/>
                </a:solidFill>
              </a:rPr>
              <a:t>Eight web runs and four controls. One run moving changes a rate by 12.5 points. Read the direction and the repeated reasons, not the decimals.</a:t>
            </a:r>
            <a:endParaRPr lang="en-US" sz="120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Oct11_3pm/protocol.md; deck/evidence/README.md for URLs and capture times.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Method: one customer, four assistants, two credit profiles, five turns, plus four runs with no web access</a:t>
            </a:r>
            <a:endParaRPr lang="en-US" sz="2600" dirty="0"/>
          </a:p>
        </p:txBody>
      </p:sp>
      <p:sp>
        <p:nvSpPr>
          <p:cNvPr id="3" name="persona card"/>
          <p:cNvSpPr/>
          <p:nvPr/>
        </p:nvSpPr>
        <p:spPr>
          <a:xfrm>
            <a:off x="457200" y="1371600"/>
            <a:ext cx="3931920" cy="4480560"/>
          </a:xfrm>
          <a:prstGeom prst="roundRect">
            <a:avLst>
              <a:gd name="adj" fmla="val 1860"/>
            </a:avLst>
          </a:prstGeom>
          <a:solidFill>
            <a:schemeClr val="bg2"/>
          </a:solidFill>
          <a:ln w="9525">
            <a:solidFill>
              <a:schemeClr val="accent5"/>
            </a:solidFill>
            <a:prstDash val="solid"/>
          </a:ln>
        </p:spPr>
      </p:sp>
      <p:sp>
        <p:nvSpPr>
          <p:cNvPr id="4" name="persona title"/>
          <p:cNvSpPr txBox="1"/>
          <p:nvPr/>
        </p:nvSpPr>
        <p:spPr>
          <a:xfrm>
            <a:off x="640080" y="1463040"/>
            <a:ext cx="3566160" cy="365760"/>
          </a:xfrm>
          <a:prstGeom prst="rect">
            <a:avLst/>
          </a:prstGeom>
          <a:noFill/>
          <a:ln/>
        </p:spPr>
        <p:txBody>
          <a:bodyPr wrap="square" lIns="0" tIns="0" rIns="0" bIns="0" rtlCol="0" anchor="ctr"/>
          <a:lstStyle/>
          <a:p>
            <a:pPr indent="0" marL="0">
              <a:buNone/>
            </a:pPr>
            <a:r>
              <a:rPr lang="en-US" sz="1400" b="1" dirty="0">
                <a:solidFill>
                  <a:schemeClr val="tx2"/>
                </a:solidFill>
              </a:rPr>
              <a:t>The customer the models advised</a:t>
            </a:r>
            <a:endParaRPr lang="en-US" sz="1400" dirty="0"/>
          </a:p>
        </p:txBody>
      </p:sp>
      <p:sp>
        <p:nvSpPr>
          <p:cNvPr id="5" name="body text"/>
          <p:cNvSpPr txBox="1"/>
          <p:nvPr/>
        </p:nvSpPr>
        <p:spPr>
          <a:xfrm>
            <a:off x="640080" y="1874520"/>
            <a:ext cx="3566160" cy="39319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34, Leeds, renting, employed, £38,000 salary</a:t>
            </a:r>
            <a:endParaRPr lang="en-US" sz="1200" dirty="0"/>
          </a:p>
          <a:p>
            <a:pPr marL="177800" indent="-177800">
              <a:spcAft>
                <a:spcPts val="600"/>
              </a:spcAft>
              <a:buSzPct val="100000"/>
              <a:buChar char="•"/>
            </a:pPr>
            <a:r>
              <a:rPr lang="en-US" sz="1200" dirty="0">
                <a:solidFill>
                  <a:schemeClr val="tx1"/>
                </a:solidFill>
              </a:rPr>
              <a:t>£3,000 at 24.9% on a small online lender's card</a:t>
            </a:r>
            <a:endParaRPr lang="en-US" sz="1200" dirty="0"/>
          </a:p>
          <a:p>
            <a:pPr marL="177800" indent="-177800">
              <a:spcAft>
                <a:spcPts val="600"/>
              </a:spcAft>
              <a:buSzPct val="100000"/>
              <a:buChar char="•"/>
            </a:pPr>
            <a:r>
              <a:rPr lang="en-US" sz="1200" dirty="0">
                <a:solidFill>
                  <a:schemeClr val="tx1"/>
                </a:solidFill>
              </a:rPr>
              <a:t>Current account with a building society</a:t>
            </a:r>
            <a:endParaRPr lang="en-US" sz="1200" dirty="0"/>
          </a:p>
          <a:p>
            <a:pPr marL="177800" indent="-177800">
              <a:spcAft>
                <a:spcPts val="600"/>
              </a:spcAft>
              <a:buSzPct val="100000"/>
              <a:buChar char="•"/>
            </a:pPr>
            <a:r>
              <a:rPr lang="en-US" sz="1200" dirty="0">
                <a:solidFill>
                  <a:schemeClr val="tx1"/>
                </a:solidFill>
              </a:rPr>
              <a:t>Can pay £150 to £200 a month; wants it cleared in 18 to 24 months</a:t>
            </a:r>
            <a:endParaRPr lang="en-US" sz="1200" dirty="0"/>
          </a:p>
          <a:p>
            <a:pPr marL="177800" indent="-177800">
              <a:spcAft>
                <a:spcPts val="600"/>
              </a:spcAft>
              <a:buSzPct val="100000"/>
              <a:buChar char="•"/>
            </a:pPr>
            <a:r>
              <a:rPr lang="en-US" sz="1200" dirty="0">
                <a:solidFill>
                  <a:schemeClr val="tx1"/>
                </a:solidFill>
              </a:rPr>
              <a:t>Prefers the longest 0% period; fee up to about 3%</a:t>
            </a:r>
            <a:endParaRPr lang="en-US" sz="1200" dirty="0"/>
          </a:p>
          <a:p>
            <a:pPr marL="177800" indent="-177800">
              <a:spcAft>
                <a:spcPts val="600"/>
              </a:spcAft>
              <a:buSzPct val="100000"/>
              <a:buChar char="•"/>
            </a:pPr>
            <a:r>
              <a:rPr lang="en-US" sz="1200" dirty="0">
                <a:solidFill>
                  <a:schemeClr val="tx1"/>
                </a:solidFill>
              </a:rPr>
              <a:t>Profile A: clean credit, Experian “Good”</a:t>
            </a:r>
            <a:endParaRPr lang="en-US" sz="1200" dirty="0"/>
          </a:p>
          <a:p>
            <a:pPr marL="177800" indent="-177800">
              <a:spcAft>
                <a:spcPts val="600"/>
              </a:spcAft>
              <a:buSzPct val="100000"/>
              <a:buChar char="•"/>
            </a:pPr>
            <a:r>
              <a:rPr lang="en-US" sz="1200" dirty="0">
                <a:solidFill>
                  <a:schemeClr val="tx1"/>
                </a:solidFill>
              </a:rPr>
              <a:t>Profile B: one missed payment 20 months ago, Experian “Fair”</a:t>
            </a:r>
            <a:endParaRPr lang="en-US" sz="1200" dirty="0"/>
          </a:p>
          <a:p>
            <a:pPr marL="177800" indent="-177800">
              <a:spcAft>
                <a:spcPts val="600"/>
              </a:spcAft>
              <a:buSzPct val="100000"/>
              <a:buChar char="•"/>
            </a:pPr>
            <a:r>
              <a:rPr lang="en-US" sz="1200" dirty="0">
                <a:solidFill>
                  <a:schemeClr val="tx1"/>
                </a:solidFill>
              </a:rPr>
              <a:t>Has not used an eligibility checker</a:t>
            </a:r>
            <a:endParaRPr lang="en-US" sz="1200" dirty="0"/>
          </a:p>
        </p:txBody>
      </p:sp>
      <p:sp>
        <p:nvSpPr>
          <p:cNvPr id="6" name="num 1"/>
          <p:cNvSpPr/>
          <p:nvPr/>
        </p:nvSpPr>
        <p:spPr>
          <a:xfrm>
            <a:off x="4754880" y="1444752"/>
            <a:ext cx="402336" cy="402336"/>
          </a:xfrm>
          <a:prstGeom prst="ellipse">
            <a:avLst/>
          </a:prstGeom>
          <a:solidFill>
            <a:schemeClr val="accent1"/>
          </a:solidFill>
          <a:ln w="12700">
            <a:solidFill>
              <a:schemeClr val="accent1"/>
            </a:solidFill>
            <a:prstDash val="solid"/>
          </a:ln>
        </p:spPr>
      </p:sp>
      <p:sp>
        <p:nvSpPr>
          <p:cNvPr id="7" name="num text 1"/>
          <p:cNvSpPr txBox="1"/>
          <p:nvPr/>
        </p:nvSpPr>
        <p:spPr>
          <a:xfrm>
            <a:off x="4754880" y="14447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urn T1"/>
          <p:cNvSpPr txBox="1"/>
          <p:nvPr/>
        </p:nvSpPr>
        <p:spPr>
          <a:xfrm>
            <a:off x="5349240" y="1371600"/>
            <a:ext cx="3383280" cy="685800"/>
          </a:xfrm>
          <a:prstGeom prst="rect">
            <a:avLst/>
          </a:prstGeom>
          <a:noFill/>
          <a:ln/>
        </p:spPr>
        <p:txBody>
          <a:bodyPr wrap="square" lIns="0" tIns="0" rIns="0" bIns="0" rtlCol="0" anchor="t"/>
          <a:lstStyle/>
          <a:p>
            <a:pPr indent="0" marL="0">
              <a:buNone/>
            </a:pPr>
            <a:r>
              <a:rPr lang="en-US" sz="1150" b="1" dirty="0">
                <a:solidFill>
                  <a:schemeClr val="tx2"/>
                </a:solidFill>
              </a:rPr>
              <a:t>Open question</a:t>
            </a:r>
            <a:endParaRPr lang="en-US" sz="1150" dirty="0"/>
          </a:p>
          <a:p>
            <a:pPr indent="0" marL="0">
              <a:buNone/>
            </a:pPr>
            <a:r>
              <a:rPr lang="en-US" sz="1150" dirty="0">
                <a:solidFill>
                  <a:schemeClr val="tx1"/>
                </a:solidFill>
              </a:rPr>
              <a:t>“Which 0% balance transfer card should I go for?”</a:t>
            </a:r>
            <a:endParaRPr lang="en-US" sz="1150" dirty="0"/>
          </a:p>
        </p:txBody>
      </p:sp>
      <p:sp>
        <p:nvSpPr>
          <p:cNvPr id="9" name="num 2"/>
          <p:cNvSpPr/>
          <p:nvPr/>
        </p:nvSpPr>
        <p:spPr>
          <a:xfrm>
            <a:off x="4754880" y="2176272"/>
            <a:ext cx="402336" cy="402336"/>
          </a:xfrm>
          <a:prstGeom prst="ellipse">
            <a:avLst/>
          </a:prstGeom>
          <a:solidFill>
            <a:schemeClr val="accent1"/>
          </a:solidFill>
          <a:ln w="12700">
            <a:solidFill>
              <a:schemeClr val="accent1"/>
            </a:solidFill>
            <a:prstDash val="solid"/>
          </a:ln>
        </p:spPr>
      </p:sp>
      <p:sp>
        <p:nvSpPr>
          <p:cNvPr id="10" name="num text 2"/>
          <p:cNvSpPr txBox="1"/>
          <p:nvPr/>
        </p:nvSpPr>
        <p:spPr>
          <a:xfrm>
            <a:off x="4754880" y="2176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urn T2"/>
          <p:cNvSpPr txBox="1"/>
          <p:nvPr/>
        </p:nvSpPr>
        <p:spPr>
          <a:xfrm>
            <a:off x="5349240" y="2103120"/>
            <a:ext cx="3383280" cy="685800"/>
          </a:xfrm>
          <a:prstGeom prst="rect">
            <a:avLst/>
          </a:prstGeom>
          <a:noFill/>
          <a:ln/>
        </p:spPr>
        <p:txBody>
          <a:bodyPr wrap="square" lIns="0" tIns="0" rIns="0" bIns="0" rtlCol="0" anchor="t"/>
          <a:lstStyle/>
          <a:p>
            <a:pPr indent="0" marL="0">
              <a:buNone/>
            </a:pPr>
            <a:r>
              <a:rPr lang="en-US" sz="1150" b="1" dirty="0">
                <a:solidFill>
                  <a:schemeClr val="tx2"/>
                </a:solidFill>
              </a:rPr>
              <a:t>Persona answers</a:t>
            </a:r>
            <a:endParaRPr lang="en-US" sz="1150" dirty="0"/>
          </a:p>
          <a:p>
            <a:pPr indent="0" marL="0">
              <a:buNone/>
            </a:pPr>
            <a:r>
              <a:rPr lang="en-US" sz="1150" dirty="0">
                <a:solidFill>
                  <a:schemeClr val="tx1"/>
                </a:solidFill>
              </a:rPr>
              <a:t>Model's questions answered from the fact sheet; final top three requested with sources</a:t>
            </a:r>
            <a:endParaRPr lang="en-US" sz="1150" dirty="0"/>
          </a:p>
        </p:txBody>
      </p:sp>
      <p:sp>
        <p:nvSpPr>
          <p:cNvPr id="12" name="num 3"/>
          <p:cNvSpPr/>
          <p:nvPr/>
        </p:nvSpPr>
        <p:spPr>
          <a:xfrm>
            <a:off x="4754880" y="2907792"/>
            <a:ext cx="402336" cy="402336"/>
          </a:xfrm>
          <a:prstGeom prst="ellipse">
            <a:avLst/>
          </a:prstGeom>
          <a:solidFill>
            <a:schemeClr val="accent1"/>
          </a:solidFill>
          <a:ln w="12700">
            <a:solidFill>
              <a:schemeClr val="accent1"/>
            </a:solidFill>
            <a:prstDash val="solid"/>
          </a:ln>
        </p:spPr>
      </p:sp>
      <p:sp>
        <p:nvSpPr>
          <p:cNvPr id="13" name="num text 3"/>
          <p:cNvSpPr txBox="1"/>
          <p:nvPr/>
        </p:nvSpPr>
        <p:spPr>
          <a:xfrm>
            <a:off x="4754880" y="29077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urn T3"/>
          <p:cNvSpPr txBox="1"/>
          <p:nvPr/>
        </p:nvSpPr>
        <p:spPr>
          <a:xfrm>
            <a:off x="5349240" y="2834640"/>
            <a:ext cx="3383280" cy="685800"/>
          </a:xfrm>
          <a:prstGeom prst="rect">
            <a:avLst/>
          </a:prstGeom>
          <a:noFill/>
          <a:ln/>
        </p:spPr>
        <p:txBody>
          <a:bodyPr wrap="square" lIns="0" tIns="0" rIns="0" bIns="0" rtlCol="0" anchor="t"/>
          <a:lstStyle/>
          <a:p>
            <a:pPr indent="0" marL="0">
              <a:buNone/>
            </a:pPr>
            <a:r>
              <a:rPr lang="en-US" sz="1150" b="1" dirty="0">
                <a:solidFill>
                  <a:schemeClr val="tx2"/>
                </a:solidFill>
              </a:rPr>
              <a:t>Brand probe</a:t>
            </a:r>
            <a:endParaRPr lang="en-US" sz="1150" dirty="0"/>
          </a:p>
          <a:p>
            <a:pPr indent="0" marL="0">
              <a:buNone/>
            </a:pPr>
            <a:r>
              <a:rPr lang="en-US" sz="1150" dirty="0">
                <a:solidFill>
                  <a:schemeClr val="tx1"/>
                </a:solidFill>
              </a:rPr>
              <a:t>“A friend mentioned Barclaycard. Where does it sit?”</a:t>
            </a:r>
            <a:endParaRPr lang="en-US" sz="1150" dirty="0"/>
          </a:p>
        </p:txBody>
      </p:sp>
      <p:sp>
        <p:nvSpPr>
          <p:cNvPr id="15" name="num 4"/>
          <p:cNvSpPr/>
          <p:nvPr/>
        </p:nvSpPr>
        <p:spPr>
          <a:xfrm>
            <a:off x="4754880" y="3639312"/>
            <a:ext cx="402336" cy="402336"/>
          </a:xfrm>
          <a:prstGeom prst="ellipse">
            <a:avLst/>
          </a:prstGeom>
          <a:solidFill>
            <a:schemeClr val="accent1"/>
          </a:solidFill>
          <a:ln w="12700">
            <a:solidFill>
              <a:schemeClr val="accent1"/>
            </a:solidFill>
            <a:prstDash val="solid"/>
          </a:ln>
        </p:spPr>
      </p:sp>
      <p:sp>
        <p:nvSpPr>
          <p:cNvPr id="16" name="num text 4"/>
          <p:cNvSpPr txBox="1"/>
          <p:nvPr/>
        </p:nvSpPr>
        <p:spPr>
          <a:xfrm>
            <a:off x="4754880" y="3639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urn T4"/>
          <p:cNvSpPr txBox="1"/>
          <p:nvPr/>
        </p:nvSpPr>
        <p:spPr>
          <a:xfrm>
            <a:off x="5349240" y="3566160"/>
            <a:ext cx="3383280" cy="685800"/>
          </a:xfrm>
          <a:prstGeom prst="rect">
            <a:avLst/>
          </a:prstGeom>
          <a:noFill/>
          <a:ln/>
        </p:spPr>
        <p:txBody>
          <a:bodyPr wrap="square" lIns="0" tIns="0" rIns="0" bIns="0" rtlCol="0" anchor="t"/>
          <a:lstStyle/>
          <a:p>
            <a:pPr indent="0" marL="0">
              <a:buNone/>
            </a:pPr>
            <a:r>
              <a:rPr lang="en-US" sz="1150" b="1" dirty="0">
                <a:solidFill>
                  <a:schemeClr val="tx2"/>
                </a:solidFill>
              </a:rPr>
              <a:t>Forced pick</a:t>
            </a:r>
            <a:endParaRPr lang="en-US" sz="1150" dirty="0"/>
          </a:p>
          <a:p>
            <a:pPr indent="0" marL="0">
              <a:buNone/>
            </a:pPr>
            <a:r>
              <a:rPr lang="en-US" sz="1150" dirty="0">
                <a:solidFill>
                  <a:schemeClr val="tx1"/>
                </a:solidFill>
              </a:rPr>
              <a:t>One card to apply for, and what would change the answer</a:t>
            </a:r>
            <a:endParaRPr lang="en-US" sz="1150" dirty="0"/>
          </a:p>
        </p:txBody>
      </p:sp>
      <p:sp>
        <p:nvSpPr>
          <p:cNvPr id="18" name="num 5"/>
          <p:cNvSpPr/>
          <p:nvPr/>
        </p:nvSpPr>
        <p:spPr>
          <a:xfrm>
            <a:off x="4754880" y="4370832"/>
            <a:ext cx="402336" cy="402336"/>
          </a:xfrm>
          <a:prstGeom prst="ellipse">
            <a:avLst/>
          </a:prstGeom>
          <a:solidFill>
            <a:schemeClr val="accent1"/>
          </a:solidFill>
          <a:ln w="12700">
            <a:solidFill>
              <a:schemeClr val="accent1"/>
            </a:solidFill>
            <a:prstDash val="solid"/>
          </a:ln>
        </p:spPr>
      </p:sp>
      <p:sp>
        <p:nvSpPr>
          <p:cNvPr id="19" name="num text 5"/>
          <p:cNvSpPr txBox="1"/>
          <p:nvPr/>
        </p:nvSpPr>
        <p:spPr>
          <a:xfrm>
            <a:off x="4754880" y="43708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0" name="turn T5"/>
          <p:cNvSpPr txBox="1"/>
          <p:nvPr/>
        </p:nvSpPr>
        <p:spPr>
          <a:xfrm>
            <a:off x="5349240" y="4297680"/>
            <a:ext cx="3383280" cy="685800"/>
          </a:xfrm>
          <a:prstGeom prst="rect">
            <a:avLst/>
          </a:prstGeom>
          <a:noFill/>
          <a:ln/>
        </p:spPr>
        <p:txBody>
          <a:bodyPr wrap="square" lIns="0" tIns="0" rIns="0" bIns="0" rtlCol="0" anchor="t"/>
          <a:lstStyle/>
          <a:p>
            <a:pPr indent="0" marL="0">
              <a:buNone/>
            </a:pPr>
            <a:r>
              <a:rPr lang="en-US" sz="1150" b="1" dirty="0">
                <a:solidFill>
                  <a:schemeClr val="tx2"/>
                </a:solidFill>
              </a:rPr>
              <a:t>Provenance</a:t>
            </a:r>
            <a:endParaRPr lang="en-US" sz="1150" dirty="0"/>
          </a:p>
          <a:p>
            <a:pPr indent="0" marL="0">
              <a:buNone/>
            </a:pPr>
            <a:r>
              <a:rPr lang="en-US" sz="1150" dirty="0">
                <a:solidFill>
                  <a:schemeClr val="tx1"/>
                </a:solidFill>
              </a:rPr>
              <a:t>Which facts came from where; what was missing from provider pages</a:t>
            </a:r>
            <a:endParaRPr lang="en-US" sz="1150" dirty="0"/>
          </a:p>
        </p:txBody>
      </p:sp>
      <p:sp>
        <p:nvSpPr>
          <p:cNvPr id="21" name="design title"/>
          <p:cNvSpPr txBox="1"/>
          <p:nvPr/>
        </p:nvSpPr>
        <p:spPr>
          <a:xfrm>
            <a:off x="9052560" y="1371600"/>
            <a:ext cx="2743200" cy="365760"/>
          </a:xfrm>
          <a:prstGeom prst="rect">
            <a:avLst/>
          </a:prstGeom>
          <a:noFill/>
          <a:ln/>
        </p:spPr>
        <p:txBody>
          <a:bodyPr wrap="square" lIns="0" tIns="0" rIns="0" bIns="0" rtlCol="0" anchor="ctr"/>
          <a:lstStyle/>
          <a:p>
            <a:pPr indent="0" marL="0">
              <a:buNone/>
            </a:pPr>
            <a:r>
              <a:rPr lang="en-US" sz="1400" b="1" dirty="0">
                <a:solidFill>
                  <a:schemeClr val="tx2"/>
                </a:solidFill>
              </a:rPr>
              <a:t>Design</a:t>
            </a:r>
            <a:endParaRPr lang="en-US" sz="1400" dirty="0"/>
          </a:p>
        </p:txBody>
      </p:sp>
      <p:sp>
        <p:nvSpPr>
          <p:cNvPr id="22" name="body text"/>
          <p:cNvSpPr txBox="1"/>
          <p:nvPr/>
        </p:nvSpPr>
        <p:spPr>
          <a:xfrm>
            <a:off x="9052560" y="1783080"/>
            <a:ext cx="2743200" cy="411480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rPr>
              <a:t>Four assistants (Haiku 5.5, Sonnet 5.5, Opus 5.5, Fable 5.1), medium effort, web search on</a:t>
            </a:r>
            <a:endParaRPr lang="en-US" sz="1150" dirty="0"/>
          </a:p>
          <a:p>
            <a:pPr marL="177800" indent="-177800">
              <a:spcAft>
                <a:spcPts val="600"/>
              </a:spcAft>
              <a:buSzPct val="100000"/>
              <a:buChar char="•"/>
            </a:pPr>
            <a:r>
              <a:rPr lang="en-US" sz="1150" dirty="0">
                <a:solidFill>
                  <a:schemeClr val="tx1"/>
                </a:solidFill>
              </a:rPr>
              <a:t>4 models x 2 profiles x 5 turns = 40 web turns</a:t>
            </a:r>
            <a:endParaRPr lang="en-US" sz="1150" dirty="0"/>
          </a:p>
          <a:p>
            <a:pPr marL="177800" indent="-177800">
              <a:spcAft>
                <a:spcPts val="600"/>
              </a:spcAft>
              <a:buSzPct val="100000"/>
              <a:buChar char="•"/>
            </a:pPr>
            <a:r>
              <a:rPr lang="en-US" sz="1150" dirty="0">
                <a:solidFill>
                  <a:schemeClr val="tx1"/>
                </a:solidFill>
              </a:rPr>
              <a:t>4 control runs with no web access, profile A, same script = 20 turns</a:t>
            </a:r>
            <a:endParaRPr lang="en-US" sz="1150" dirty="0"/>
          </a:p>
          <a:p>
            <a:pPr marL="177800" indent="-177800">
              <a:spcAft>
                <a:spcPts val="600"/>
              </a:spcAft>
              <a:buSzPct val="100000"/>
              <a:buChar char="•"/>
            </a:pPr>
            <a:r>
              <a:rPr lang="en-US" sz="1150" dirty="0">
                <a:solidFill>
                  <a:schemeClr val="tx1"/>
                </a:solidFill>
              </a:rPr>
              <a:t>Every reply logged with the queries run and pages opened</a:t>
            </a:r>
            <a:endParaRPr lang="en-US" sz="1150" dirty="0"/>
          </a:p>
          <a:p>
            <a:pPr marL="177800" indent="-177800">
              <a:spcAft>
                <a:spcPts val="600"/>
              </a:spcAft>
              <a:buSzPct val="100000"/>
              <a:buChar char="•"/>
            </a:pPr>
            <a:r>
              <a:rPr lang="en-US" sz="1150" dirty="0">
                <a:solidFill>
                  <a:schemeClr val="tx1"/>
                </a:solidFill>
              </a:rPr>
              <a:t>Ground truth: Barclaycard, Barclays, HSBC, MSE and Which? pages fetched the same afternoon</a:t>
            </a:r>
            <a:endParaRPr lang="en-US" sz="1150" dirty="0"/>
          </a:p>
        </p:txBody>
      </p:sp>
      <p:sp>
        <p:nvSpPr>
          <p:cNvPr id="23" name="test box"/>
          <p:cNvSpPr/>
          <p:nvPr/>
        </p:nvSpPr>
        <p:spPr>
          <a:xfrm>
            <a:off x="4754880" y="5120640"/>
            <a:ext cx="7040880" cy="731520"/>
          </a:xfrm>
          <a:prstGeom prst="roundRect">
            <a:avLst>
              <a:gd name="adj" fmla="val 10000"/>
            </a:avLst>
          </a:prstGeom>
          <a:solidFill>
            <a:schemeClr val="bg2"/>
          </a:solidFill>
          <a:ln w="9525">
            <a:solidFill>
              <a:schemeClr val="accent5"/>
            </a:solidFill>
            <a:prstDash val="solid"/>
          </a:ln>
        </p:spPr>
      </p:sp>
      <p:sp>
        <p:nvSpPr>
          <p:cNvPr id="24" name="test text"/>
          <p:cNvSpPr txBox="1"/>
          <p:nvPr/>
        </p:nvSpPr>
        <p:spPr>
          <a:xfrm>
            <a:off x="4892040" y="5166360"/>
            <a:ext cx="6766560" cy="64008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Rerun the script in protocol.md with any persona. Falsified if the same inputs produce a materially different pattern (Barclaycard the unprompted pick in most runs).</a:t>
            </a:r>
            <a:endParaRPr lang="en-US" sz="1100" dirty="0"/>
          </a:p>
        </p:txBody>
      </p:sp>
      <p:sp>
        <p:nvSpPr>
          <p:cNvPr id="2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Oct11_3pm/protocol.md; transcripts/ and control/ carry the SEARCH LOG after every reply.</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Result: Barclaycard is recalled by every model and chosen by none</a:t>
            </a:r>
            <a:endParaRPr lang="en-US" sz="2600" dirty="0"/>
          </a:p>
        </p:txBody>
      </p:sp>
      <p:graphicFrame>
        <p:nvGraphicFramePr>
          <p:cNvPr id="3" name="results chart" descr=""/>
          <p:cNvGraphicFramePr/>
          <p:nvPr/>
        </p:nvGraphicFramePr>
        <p:xfrm>
          <a:off x="457200" y="1325880"/>
          <a:ext cx="6766560" cy="3840480"/>
        </p:xfrm>
        <a:graphic xmlns:a="http://schemas.openxmlformats.org/drawingml/2006/main">
          <a:graphicData uri="http://schemas.openxmlformats.org/drawingml/2006/chart">
            <c:chart xmlns:c="http://schemas.openxmlformats.org/drawingml/2006/chart" r:id="rId1"/>
          </a:graphicData>
        </a:graphic>
      </p:graphicFrame>
      <p:sp>
        <p:nvSpPr>
          <p:cNvPr id="4" name="chart caption"/>
          <p:cNvSpPr txBox="1"/>
          <p:nvPr/>
        </p:nvSpPr>
        <p:spPr>
          <a:xfrm>
            <a:off x="457200" y="5166360"/>
            <a:ext cx="6766560" cy="274320"/>
          </a:xfrm>
          <a:prstGeom prst="rect">
            <a:avLst/>
          </a:prstGeom>
          <a:noFill/>
          <a:ln/>
        </p:spPr>
        <p:txBody>
          <a:bodyPr wrap="square" lIns="0" tIns="0" rIns="0" bIns="0" rtlCol="0" anchor="ctr"/>
          <a:lstStyle/>
          <a:p>
            <a:pPr indent="0" marL="0">
              <a:buNone/>
            </a:pPr>
            <a:r>
              <a:rPr lang="en-US" sz="1000" i="1" dirty="0">
                <a:solidFill>
                  <a:schemeClr val="tx2"/>
                </a:solidFill>
              </a:rPr>
              <a:t>Web runs in which Barclaycard appears, out of 8</a:t>
            </a:r>
            <a:endParaRPr lang="en-US" sz="1000" dirty="0"/>
          </a:p>
        </p:txBody>
      </p:sp>
      <p:sp>
        <p:nvSpPr>
          <p:cNvPr id="5" name="tile controls shortlist Barclaycard with no web access"/>
          <p:cNvSpPr/>
          <p:nvPr/>
        </p:nvSpPr>
        <p:spPr>
          <a:xfrm>
            <a:off x="7589520" y="1325880"/>
            <a:ext cx="4114800" cy="1463040"/>
          </a:xfrm>
          <a:prstGeom prst="roundRect">
            <a:avLst>
              <a:gd name="adj" fmla="val 5000"/>
            </a:avLst>
          </a:prstGeom>
          <a:solidFill>
            <a:schemeClr val="bg2"/>
          </a:solidFill>
          <a:ln w="9525">
            <a:solidFill>
              <a:schemeClr val="accent5"/>
            </a:solidFill>
            <a:prstDash val="solid"/>
          </a:ln>
        </p:spPr>
      </p:sp>
      <p:sp>
        <p:nvSpPr>
          <p:cNvPr id="6" name="tile big controls shortlist Barclaycard with no web access"/>
          <p:cNvSpPr txBox="1"/>
          <p:nvPr/>
        </p:nvSpPr>
        <p:spPr>
          <a:xfrm>
            <a:off x="7726680" y="1399032"/>
            <a:ext cx="3840480" cy="658368"/>
          </a:xfrm>
          <a:prstGeom prst="rect">
            <a:avLst/>
          </a:prstGeom>
          <a:noFill/>
          <a:ln/>
        </p:spPr>
        <p:txBody>
          <a:bodyPr wrap="square" lIns="0" tIns="0" rIns="0" bIns="0" rtlCol="0" anchor="ctr"/>
          <a:lstStyle/>
          <a:p>
            <a:pPr indent="0" marL="0">
              <a:buNone/>
            </a:pPr>
            <a:r>
              <a:rPr lang="en-US" sz="3600" b="1" dirty="0">
                <a:solidFill>
                  <a:schemeClr val="accent1"/>
                </a:solidFill>
              </a:rPr>
              <a:t>4 of 4</a:t>
            </a:r>
            <a:endParaRPr lang="en-US" sz="3600" dirty="0"/>
          </a:p>
        </p:txBody>
      </p:sp>
      <p:sp>
        <p:nvSpPr>
          <p:cNvPr id="7" name="tile label controls shortlist Barclaycard with no web access"/>
          <p:cNvSpPr txBox="1"/>
          <p:nvPr/>
        </p:nvSpPr>
        <p:spPr>
          <a:xfrm>
            <a:off x="7726680" y="2075688"/>
            <a:ext cx="3840480" cy="502920"/>
          </a:xfrm>
          <a:prstGeom prst="rect">
            <a:avLst/>
          </a:prstGeom>
          <a:noFill/>
          <a:ln/>
        </p:spPr>
        <p:txBody>
          <a:bodyPr wrap="square" lIns="0" tIns="0" rIns="0" bIns="0" rtlCol="0" anchor="t"/>
          <a:lstStyle/>
          <a:p>
            <a:pPr indent="0" marL="0">
              <a:buNone/>
            </a:pPr>
            <a:r>
              <a:rPr lang="en-US" sz="1150" b="1" dirty="0">
                <a:solidFill>
                  <a:schemeClr val="tx2"/>
                </a:solidFill>
              </a:rPr>
              <a:t>controls shortlist Barclaycard with no web access</a:t>
            </a:r>
            <a:endParaRPr lang="en-US" sz="1150" dirty="0"/>
          </a:p>
        </p:txBody>
      </p:sp>
      <p:sp>
        <p:nvSpPr>
          <p:cNvPr id="8" name="tile sub controls shortlist Barclaycard with no web access"/>
          <p:cNvSpPr txBox="1"/>
          <p:nvPr/>
        </p:nvSpPr>
        <p:spPr>
          <a:xfrm>
            <a:off x="7726680" y="2404872"/>
            <a:ext cx="3840480" cy="347472"/>
          </a:xfrm>
          <a:prstGeom prst="rect">
            <a:avLst/>
          </a:prstGeom>
          <a:noFill/>
          <a:ln/>
        </p:spPr>
        <p:txBody>
          <a:bodyPr wrap="square" lIns="0" tIns="0" rIns="0" bIns="0" rtlCol="0" anchor="t"/>
          <a:lstStyle/>
          <a:p>
            <a:pPr indent="0" marL="0">
              <a:buNone/>
            </a:pPr>
            <a:r>
              <a:rPr lang="en-US" sz="900" dirty="0">
                <a:solidFill>
                  <a:schemeClr val="tx1"/>
                </a:solidFill>
              </a:rPr>
              <a:t>Haiku 1st, Sonnet 2nd, Opus 3rd, Fable names the mid-length tier. All quote stale figures.</a:t>
            </a:r>
            <a:endParaRPr lang="en-US" sz="900" dirty="0"/>
          </a:p>
        </p:txBody>
      </p:sp>
      <p:sp>
        <p:nvSpPr>
          <p:cNvPr id="9" name="body text"/>
          <p:cNvSpPr txBox="1"/>
          <p:nvPr/>
        </p:nvSpPr>
        <p:spPr>
          <a:xfrm>
            <a:off x="7589520" y="2971800"/>
            <a:ext cx="4114800" cy="2240280"/>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chemeClr val="tx1"/>
                </a:solidFill>
              </a:rPr>
              <a:t>Recall is not the problem. </a:t>
            </a:r>
            <a:pPr indent="0" marL="0">
              <a:spcAft>
                <a:spcPts val="600"/>
              </a:spcAft>
              <a:buNone/>
            </a:pPr>
            <a:r>
              <a:rPr lang="en-US" sz="1200" dirty="0">
                <a:solidFill>
                  <a:schemeClr val="tx1"/>
                </a:solidFill>
              </a:rPr>
              <a:t>The prior is strong and the prompted placement is high.</a:t>
            </a:r>
            <a:endParaRPr lang="en-US" sz="1200" dirty="0"/>
          </a:p>
          <a:p>
            <a:pPr marL="177800" indent="-177800">
              <a:spcAft>
                <a:spcPts val="600"/>
              </a:spcAft>
              <a:buSzPct val="100000"/>
              <a:buChar char="•"/>
            </a:pPr>
            <a:r>
              <a:rPr lang="en-US" sz="1200" b="1" dirty="0">
                <a:solidFill>
                  <a:schemeClr val="tx1"/>
                </a:solidFill>
              </a:rPr>
              <a:t>Selection is. </a:t>
            </a:r>
            <a:pPr indent="0" marL="0">
              <a:spcAft>
                <a:spcPts val="600"/>
              </a:spcAft>
              <a:buNone/>
            </a:pPr>
            <a:r>
              <a:rPr lang="en-US" sz="1200" dirty="0">
                <a:solidFill>
                  <a:schemeClr val="tx1"/>
                </a:solidFill>
              </a:rPr>
              <a:t>With retrieval, seven of eight shortlists leave Barclaycard out before the user names it, and no run ends with Barclaycard as the card to apply for.</a:t>
            </a:r>
            <a:endParaRPr lang="en-US" sz="1200" dirty="0"/>
          </a:p>
          <a:p>
            <a:pPr marL="177800" indent="-177800">
              <a:spcAft>
                <a:spcPts val="600"/>
              </a:spcAft>
              <a:buSzPct val="100000"/>
              <a:buChar char="•"/>
            </a:pPr>
            <a:r>
              <a:rPr lang="en-US" sz="1200" b="1" dirty="0">
                <a:solidFill>
                  <a:schemeClr val="tx1"/>
                </a:solidFill>
              </a:rPr>
              <a:t>The fallback position shows the product is competitive: </a:t>
            </a:r>
            <a:pPr indent="0" marL="0">
              <a:spcAft>
                <a:spcPts val="600"/>
              </a:spcAft>
              <a:buNone/>
            </a:pPr>
            <a:r>
              <a:rPr lang="en-US" sz="1200" dirty="0">
                <a:solidFill>
                  <a:schemeClr val="tx1"/>
                </a:solidFill>
              </a:rPr>
              <a:t>seven of eight name it first or second if the pick fails.</a:t>
            </a:r>
            <a:endParaRPr lang="en-US" sz="1200" dirty="0"/>
          </a:p>
        </p:txBody>
      </p:sp>
      <p:sp>
        <p:nvSpPr>
          <p:cNvPr id="10"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11"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Count Barclaycard in the final top three at turn 2 and the single pick at turn 4 across transcripts/*.md. Falsified if the counts differ from 1 and 0.</a:t>
            </a:r>
            <a:endParaRPr lang="en-US" sz="11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Oct11_3pm/results.csv columns barclaycard_in_t2_top3, t3_barclaycard_placement, t4_pick, t4_first_switch; control/*.md turn 2.</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Who won instead: Virgin Money's 24 month 1.95% card and HSBC's 36 month card took all but one pick</a:t>
            </a:r>
            <a:endParaRPr lang="en-US" sz="2600" dirty="0"/>
          </a:p>
        </p:txBody>
      </p:sp>
      <p:graphicFrame>
        <p:nvGraphicFramePr>
          <p:cNvPr id="7" name="picks table"/>
          <p:cNvGraphicFramePr>
            <a:graphicFrameLocks noGrp="1"/>
          </p:cNvGraphicFramePr>
          <p:nvPr>
            <p:extLst>
              <p:ext uri="{D42A27DB-BD31-4B8C-83A1-F6EECF244321}">
                <p14:modId xmlns:p14="http://schemas.microsoft.com/office/powerpoint/2010/main" val="1579011935"/>
              </p:ext>
            </p:extLst>
          </p:nvPr>
        </p:nvGraphicFramePr>
        <p:xfrm>
          <a:off x="457200" y="1325880"/>
          <a:ext cx="7498080" cy="914400"/>
        </p:xfrm>
        <a:graphic>
          <a:graphicData uri="http://schemas.openxmlformats.org/drawingml/2006/table">
            <a:tbl>
              <a:tblPr/>
              <a:tblGrid>
                <a:gridCol w="822960"/>
                <a:gridCol w="822960"/>
                <a:gridCol w="3291840"/>
                <a:gridCol w="2560320"/>
              </a:tblGrid>
              <a:tr h="384048">
                <a:tc>
                  <a:txBody>
                    <a:bodyPr/>
                    <a:lstStyle/>
                    <a:p>
                      <a:pPr indent="0" marL="0">
                        <a:buNone/>
                      </a:pPr>
                      <a:r>
                        <a:rPr lang="en-US" sz="1100" b="1" dirty="0">
                          <a:solidFill>
                            <a:srgbClr val="FFFFFF"/>
                          </a:solidFill>
                        </a:rPr>
                        <a:t>Run</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100" b="1" dirty="0">
                          <a:solidFill>
                            <a:srgbClr val="FFFFFF"/>
                          </a:solidFill>
                        </a:rPr>
                        <a:t>Profile</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100" b="1" dirty="0">
                          <a:solidFill>
                            <a:srgbClr val="FFFFFF"/>
                          </a:solidFill>
                        </a:rPr>
                        <a:t>Card the model told the customer to apply for</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100" b="1" dirty="0">
                          <a:solidFill>
                            <a:srgbClr val="FFFFFF"/>
                          </a:solidFill>
                        </a:rPr>
                        <a:t>First named fallback</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1100" dirty="0">
                          <a:solidFill>
                            <a:srgbClr val="0A1F3D"/>
                          </a:solidFill>
                        </a:rPr>
                        <a:t>Haiku</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A good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HSBC 36m 3.09%</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Barclaycard 36m</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A1F3D"/>
                          </a:solidFill>
                        </a:rPr>
                        <a:t>Sonnet</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A good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Virgin Money 35m 2.45% (July Moneyfacts figure)</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Halifax 35m, then HSBC</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100" dirty="0">
                          <a:solidFill>
                            <a:srgbClr val="0A1F3D"/>
                          </a:solidFill>
                        </a:rPr>
                        <a:t>Opus</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A good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HSBC 36m 3.09%</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Barclaycard 36m if pre-approved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A1F3D"/>
                          </a:solidFill>
                        </a:rPr>
                        <a:t>Fable</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A good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Virgin Money 24m 1.95%</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HSBC; Barclaycard 22m if pre-approved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100" dirty="0">
                          <a:solidFill>
                            <a:srgbClr val="0A1F3D"/>
                          </a:solidFill>
                        </a:rPr>
                        <a:t>Haiku</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 fair</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Tesco Low Fee 20m 1.25%</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Barclaycard 22m</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A1F3D"/>
                          </a:solidFill>
                        </a:rPr>
                        <a:t>Sonnet</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B fair</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Virgin Money 36m 3.1%</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Barclaycard 22m</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1100" dirty="0">
                          <a:solidFill>
                            <a:srgbClr val="0A1F3D"/>
                          </a:solidFill>
                        </a:rPr>
                        <a:t>Opus</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 fair</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HSBC 36m 3.09%</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100" dirty="0">
                          <a:solidFill>
                            <a:srgbClr val="0A1F3D"/>
                          </a:solidFill>
                        </a:rPr>
                        <a:t>Barclaycard 36m</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A1F3D"/>
                          </a:solidFill>
                        </a:rPr>
                        <a:t>Fable</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B fair</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Virgin Money 24m 1.95%</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100" dirty="0">
                          <a:solidFill>
                            <a:srgbClr val="0A1F3D"/>
                          </a:solidFill>
                        </a:rPr>
                        <a:t>Capital One; Barclaycard 36m if pre-approved</a:t>
                      </a:r>
                      <a:endParaRPr lang="en-US" sz="11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tile Virgin Money : HSBC : Tesco : Barclaycard"/>
          <p:cNvSpPr/>
          <p:nvPr/>
        </p:nvSpPr>
        <p:spPr>
          <a:xfrm>
            <a:off x="8229600" y="1325880"/>
            <a:ext cx="3474720" cy="1188720"/>
          </a:xfrm>
          <a:prstGeom prst="roundRect">
            <a:avLst>
              <a:gd name="adj" fmla="val 6154"/>
            </a:avLst>
          </a:prstGeom>
          <a:solidFill>
            <a:schemeClr val="bg2"/>
          </a:solidFill>
          <a:ln w="9525">
            <a:solidFill>
              <a:schemeClr val="accent5"/>
            </a:solidFill>
            <a:prstDash val="solid"/>
          </a:ln>
        </p:spPr>
      </p:sp>
      <p:sp>
        <p:nvSpPr>
          <p:cNvPr id="5" name="tile big Virgin Money : HSBC : Tesco : Barclaycard"/>
          <p:cNvSpPr txBox="1"/>
          <p:nvPr/>
        </p:nvSpPr>
        <p:spPr>
          <a:xfrm>
            <a:off x="8366760" y="1399032"/>
            <a:ext cx="3200400" cy="658368"/>
          </a:xfrm>
          <a:prstGeom prst="rect">
            <a:avLst/>
          </a:prstGeom>
          <a:noFill/>
          <a:ln/>
        </p:spPr>
        <p:txBody>
          <a:bodyPr wrap="square" lIns="0" tIns="0" rIns="0" bIns="0" rtlCol="0" anchor="ctr"/>
          <a:lstStyle/>
          <a:p>
            <a:pPr indent="0" marL="0">
              <a:buNone/>
            </a:pPr>
            <a:r>
              <a:rPr lang="en-US" sz="3600" b="1" dirty="0">
                <a:solidFill>
                  <a:schemeClr val="accent1"/>
                </a:solidFill>
              </a:rPr>
              <a:t>4 : 3 : 1 : 0</a:t>
            </a:r>
            <a:endParaRPr lang="en-US" sz="3600" dirty="0"/>
          </a:p>
        </p:txBody>
      </p:sp>
      <p:sp>
        <p:nvSpPr>
          <p:cNvPr id="6" name="tile label Virgin Money : HSBC : Tesco : Barclaycard"/>
          <p:cNvSpPr txBox="1"/>
          <p:nvPr/>
        </p:nvSpPr>
        <p:spPr>
          <a:xfrm>
            <a:off x="8366760" y="2075688"/>
            <a:ext cx="3200400" cy="502920"/>
          </a:xfrm>
          <a:prstGeom prst="rect">
            <a:avLst/>
          </a:prstGeom>
          <a:noFill/>
          <a:ln/>
        </p:spPr>
        <p:txBody>
          <a:bodyPr wrap="square" lIns="0" tIns="0" rIns="0" bIns="0" rtlCol="0" anchor="t"/>
          <a:lstStyle/>
          <a:p>
            <a:pPr indent="0" marL="0">
              <a:buNone/>
            </a:pPr>
            <a:r>
              <a:rPr lang="en-US" sz="1150" b="1" dirty="0">
                <a:solidFill>
                  <a:schemeClr val="tx2"/>
                </a:solidFill>
              </a:rPr>
              <a:t>Virgin Money : HSBC : Tesco : Barclaycard</a:t>
            </a:r>
            <a:endParaRPr lang="en-US" sz="1150" dirty="0"/>
          </a:p>
        </p:txBody>
      </p:sp>
      <p:sp>
        <p:nvSpPr>
          <p:cNvPr id="7" name="tile sub Virgin Money : HSBC : Tesco : Barclaycard"/>
          <p:cNvSpPr txBox="1"/>
          <p:nvPr/>
        </p:nvSpPr>
        <p:spPr>
          <a:xfrm>
            <a:off x="8366760" y="2130552"/>
            <a:ext cx="3200400" cy="347472"/>
          </a:xfrm>
          <a:prstGeom prst="rect">
            <a:avLst/>
          </a:prstGeom>
          <a:noFill/>
          <a:ln/>
        </p:spPr>
        <p:txBody>
          <a:bodyPr wrap="square" lIns="0" tIns="0" rIns="0" bIns="0" rtlCol="0" anchor="t"/>
          <a:lstStyle/>
          <a:p>
            <a:pPr indent="0" marL="0">
              <a:buNone/>
            </a:pPr>
            <a:r>
              <a:rPr lang="en-US" sz="900" dirty="0">
                <a:solidFill>
                  <a:schemeClr val="tx1"/>
                </a:solidFill>
              </a:rPr>
              <a:t>Forced picks at turn 4, eight web runs.</a:t>
            </a:r>
            <a:endParaRPr lang="en-US" sz="900" dirty="0"/>
          </a:p>
        </p:txBody>
      </p:sp>
      <p:sp>
        <p:nvSpPr>
          <p:cNvPr id="8" name="body text"/>
          <p:cNvSpPr txBox="1"/>
          <p:nvPr/>
        </p:nvSpPr>
        <p:spPr>
          <a:xfrm>
            <a:off x="8229600" y="2697480"/>
            <a:ext cx="3474720" cy="274320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Why those cards: </a:t>
            </a:r>
            <a:pPr indent="0" marL="0">
              <a:spcAft>
                <a:spcPts val="600"/>
              </a:spcAft>
              <a:buNone/>
            </a:pPr>
            <a:r>
              <a:rPr lang="en-US" sz="1150" dirty="0">
                <a:solidFill>
                  <a:schemeClr val="tx1"/>
                </a:solidFill>
              </a:rPr>
              <a:t>MSE labels Virgin Money 24m and HSBC 36m “definite”; Virgin's 1.95% fee clears the 3% ceiling with room; HSBC publishes eligibility criteria.</a:t>
            </a:r>
            <a:endParaRPr lang="en-US" sz="1150" dirty="0"/>
          </a:p>
          <a:p>
            <a:pPr marL="177800" indent="-177800">
              <a:spcAft>
                <a:spcPts val="600"/>
              </a:spcAft>
              <a:buSzPct val="100000"/>
              <a:buChar char="•"/>
            </a:pPr>
            <a:r>
              <a:rPr lang="en-US" sz="1150" b="1" dirty="0">
                <a:solidFill>
                  <a:schemeClr val="tx1"/>
                </a:solidFill>
              </a:rPr>
              <a:t>Barclaycard was the fallback in 7 of 8. </a:t>
            </a:r>
            <a:pPr indent="0" marL="0">
              <a:spcAft>
                <a:spcPts val="600"/>
              </a:spcAft>
              <a:buNone/>
            </a:pPr>
            <a:r>
              <a:rPr lang="en-US" sz="1150" dirty="0">
                <a:solidFill>
                  <a:schemeClr val="tx1"/>
                </a:solidFill>
              </a:rPr>
              <a:t>The product is competitive on term and fee; it loses on certainty and visibility.</a:t>
            </a:r>
            <a:endParaRPr lang="en-US" sz="1150" dirty="0"/>
          </a:p>
          <a:p>
            <a:pPr marL="177800" indent="-177800">
              <a:spcAft>
                <a:spcPts val="600"/>
              </a:spcAft>
              <a:buSzPct val="100000"/>
              <a:buChar char="•"/>
            </a:pPr>
            <a:r>
              <a:rPr lang="en-US" sz="1150" b="1" dirty="0">
                <a:solidFill>
                  <a:schemeClr val="tx1"/>
                </a:solidFill>
              </a:rPr>
              <a:t>Sonnet A is the outlier: </a:t>
            </a:r>
            <a:pPr indent="0" marL="0">
              <a:spcAft>
                <a:spcPts val="600"/>
              </a:spcAft>
              <a:buNone/>
            </a:pPr>
            <a:r>
              <a:rPr lang="en-US" sz="1150" dirty="0">
                <a:solidFill>
                  <a:schemeClr val="tx1"/>
                </a:solidFill>
              </a:rPr>
              <a:t>it never reached MSE and picked from a Moneyfacts chart dated 3 July 2026.</a:t>
            </a:r>
            <a:endParaRPr lang="en-US" sz="1150" dirty="0"/>
          </a:p>
        </p:txBody>
      </p:sp>
      <p:sp>
        <p:nvSpPr>
          <p:cNvPr id="9"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10"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Read turn 4 in each transcript. Falsified if any run names Barclaycard as the single card to apply for, or if the fallback column misquotes a run.</a:t>
            </a:r>
            <a:endParaRPr lang="en-US" sz="1100" dirty="0"/>
          </a:p>
        </p:txBody>
      </p:sp>
      <p:sp>
        <p:nvSpPr>
          <p:cNvPr id="11"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Oct11_3pm/transcripts/*.md turn 4; results.csv columns t4_pick and t4_first_switch.</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Where the facts come from: comparison guides set the shortlist, provider pages are checked second</a:t>
            </a:r>
            <a:endParaRPr lang="en-US" sz="2600" dirty="0"/>
          </a:p>
        </p:txBody>
      </p:sp>
      <p:graphicFrame>
        <p:nvGraphicFramePr>
          <p:cNvPr id="3" name="sources chart" descr=""/>
          <p:cNvGraphicFramePr/>
          <p:nvPr/>
        </p:nvGraphicFramePr>
        <p:xfrm>
          <a:off x="457200" y="128016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chart caption"/>
          <p:cNvSpPr txBox="1"/>
          <p:nvPr/>
        </p:nvSpPr>
        <p:spPr>
          <a:xfrm>
            <a:off x="457200" y="5760720"/>
            <a:ext cx="6035040" cy="274320"/>
          </a:xfrm>
          <a:prstGeom prst="rect">
            <a:avLst/>
          </a:prstGeom>
          <a:noFill/>
          <a:ln/>
        </p:spPr>
        <p:txBody>
          <a:bodyPr wrap="square" lIns="0" tIns="0" rIns="0" bIns="0" rtlCol="0" anchor="ctr"/>
          <a:lstStyle/>
          <a:p>
            <a:pPr indent="0" marL="0">
              <a:buNone/>
            </a:pPr>
            <a:r>
              <a:rPr lang="en-US" sz="1000" i="1" dirty="0">
                <a:solidFill>
                  <a:schemeClr val="tx2"/>
                </a:solidFill>
              </a:rPr>
              <a:t>Domains used, by number of web runs out of 8</a:t>
            </a:r>
            <a:endParaRPr lang="en-US" sz="1000" dirty="0"/>
          </a:p>
        </p:txBody>
      </p:sp>
      <p:sp>
        <p:nvSpPr>
          <p:cNvPr id="5" name="num 1"/>
          <p:cNvSpPr/>
          <p:nvPr/>
        </p:nvSpPr>
        <p:spPr>
          <a:xfrm>
            <a:off x="6858000" y="1371600"/>
            <a:ext cx="402336" cy="402336"/>
          </a:xfrm>
          <a:prstGeom prst="ellipse">
            <a:avLst/>
          </a:prstGeom>
          <a:solidFill>
            <a:schemeClr val="accent1"/>
          </a:solidFill>
          <a:ln w="12700">
            <a:solidFill>
              <a:schemeClr val="accent1"/>
            </a:solidFill>
            <a:prstDash val="solid"/>
          </a:ln>
        </p:spPr>
      </p:sp>
      <p:sp>
        <p:nvSpPr>
          <p:cNvPr id="6" name="num text 1"/>
          <p:cNvSpPr txBox="1"/>
          <p:nvPr/>
        </p:nvSpPr>
        <p:spPr>
          <a:xfrm>
            <a:off x="6858000" y="13716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step 0"/>
          <p:cNvSpPr txBox="1"/>
          <p:nvPr/>
        </p:nvSpPr>
        <p:spPr>
          <a:xfrm>
            <a:off x="7452360" y="1325880"/>
            <a:ext cx="4297680" cy="1051560"/>
          </a:xfrm>
          <a:prstGeom prst="rect">
            <a:avLst/>
          </a:prstGeom>
          <a:noFill/>
          <a:ln/>
        </p:spPr>
        <p:txBody>
          <a:bodyPr wrap="square" lIns="0" tIns="0" rIns="0" bIns="0" rtlCol="0" anchor="t"/>
          <a:lstStyle/>
          <a:p>
            <a:pPr indent="0" marL="0">
              <a:buNone/>
            </a:pPr>
            <a:r>
              <a:rPr lang="en-US" sz="1200" b="1" dirty="0">
                <a:solidFill>
                  <a:schemeClr val="tx2"/>
                </a:solidFill>
              </a:rPr>
              <a:t>Guide sets the shortlist</a:t>
            </a:r>
            <a:endParaRPr lang="en-US" sz="1200" dirty="0"/>
          </a:p>
          <a:p>
            <a:pPr indent="0" marL="0">
              <a:buNone/>
            </a:pPr>
            <a:r>
              <a:rPr lang="en-US" sz="1200" dirty="0">
                <a:solidFill>
                  <a:schemeClr val="tx1"/>
                </a:solidFill>
              </a:rPr>
              <a:t>Which? or MSE is opened first in every run. Their tables decide which three cards get checked.</a:t>
            </a:r>
            <a:endParaRPr lang="en-US" sz="1200" dirty="0"/>
          </a:p>
        </p:txBody>
      </p:sp>
      <p:sp>
        <p:nvSpPr>
          <p:cNvPr id="8" name="num 2"/>
          <p:cNvSpPr/>
          <p:nvPr/>
        </p:nvSpPr>
        <p:spPr>
          <a:xfrm>
            <a:off x="6858000" y="2514600"/>
            <a:ext cx="402336" cy="402336"/>
          </a:xfrm>
          <a:prstGeom prst="ellipse">
            <a:avLst/>
          </a:prstGeom>
          <a:solidFill>
            <a:schemeClr val="accent1"/>
          </a:solidFill>
          <a:ln w="12700">
            <a:solidFill>
              <a:schemeClr val="accent1"/>
            </a:solidFill>
            <a:prstDash val="solid"/>
          </a:ln>
        </p:spPr>
      </p:sp>
      <p:sp>
        <p:nvSpPr>
          <p:cNvPr id="9" name="num text 2"/>
          <p:cNvSpPr txBox="1"/>
          <p:nvPr/>
        </p:nvSpPr>
        <p:spPr>
          <a:xfrm>
            <a:off x="6858000" y="25146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step 1"/>
          <p:cNvSpPr txBox="1"/>
          <p:nvPr/>
        </p:nvSpPr>
        <p:spPr>
          <a:xfrm>
            <a:off x="7452360" y="2468880"/>
            <a:ext cx="4297680" cy="1051560"/>
          </a:xfrm>
          <a:prstGeom prst="rect">
            <a:avLst/>
          </a:prstGeom>
          <a:noFill/>
          <a:ln/>
        </p:spPr>
        <p:txBody>
          <a:bodyPr wrap="square" lIns="0" tIns="0" rIns="0" bIns="0" rtlCol="0" anchor="t"/>
          <a:lstStyle/>
          <a:p>
            <a:pPr indent="0" marL="0">
              <a:buNone/>
            </a:pPr>
            <a:r>
              <a:rPr lang="en-US" sz="1200" b="1" dirty="0">
                <a:solidFill>
                  <a:schemeClr val="tx2"/>
                </a:solidFill>
              </a:rPr>
              <a:t>Provider page confirms figures</a:t>
            </a:r>
            <a:endParaRPr lang="en-US" sz="1200" dirty="0"/>
          </a:p>
          <a:p>
            <a:pPr indent="0" marL="0">
              <a:buNone/>
            </a:pPr>
            <a:r>
              <a:rPr lang="en-US" sz="1200" dirty="0">
                <a:solidFill>
                  <a:schemeClr val="tx1"/>
                </a:solidFill>
              </a:rPr>
              <a:t>Opened second, through a page summariser. Figures read from barclaycard.co.uk were correct in all 8 runs.</a:t>
            </a:r>
            <a:endParaRPr lang="en-US" sz="1200" dirty="0"/>
          </a:p>
        </p:txBody>
      </p:sp>
      <p:sp>
        <p:nvSpPr>
          <p:cNvPr id="11" name="num 3"/>
          <p:cNvSpPr/>
          <p:nvPr/>
        </p:nvSpPr>
        <p:spPr>
          <a:xfrm>
            <a:off x="6858000" y="3657600"/>
            <a:ext cx="402336" cy="402336"/>
          </a:xfrm>
          <a:prstGeom prst="ellipse">
            <a:avLst/>
          </a:prstGeom>
          <a:solidFill>
            <a:schemeClr val="accent1"/>
          </a:solidFill>
          <a:ln w="12700">
            <a:solidFill>
              <a:schemeClr val="accent1"/>
            </a:solidFill>
            <a:prstDash val="solid"/>
          </a:ln>
        </p:spPr>
      </p:sp>
      <p:sp>
        <p:nvSpPr>
          <p:cNvPr id="12" name="num text 3"/>
          <p:cNvSpPr txBox="1"/>
          <p:nvPr/>
        </p:nvSpPr>
        <p:spPr>
          <a:xfrm>
            <a:off x="6858000" y="36576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step 2"/>
          <p:cNvSpPr txBox="1"/>
          <p:nvPr/>
        </p:nvSpPr>
        <p:spPr>
          <a:xfrm>
            <a:off x="7452360" y="3611880"/>
            <a:ext cx="4297680" cy="1051560"/>
          </a:xfrm>
          <a:prstGeom prst="rect">
            <a:avLst/>
          </a:prstGeom>
          <a:noFill/>
          <a:ln/>
        </p:spPr>
        <p:txBody>
          <a:bodyPr wrap="square" lIns="0" tIns="0" rIns="0" bIns="0" rtlCol="0" anchor="t"/>
          <a:lstStyle/>
          <a:p>
            <a:pPr indent="0" marL="0">
              <a:buNone/>
            </a:pPr>
            <a:r>
              <a:rPr lang="en-US" sz="1200" b="1" dirty="0">
                <a:solidFill>
                  <a:schemeClr val="tx2"/>
                </a:solidFill>
              </a:rPr>
              <a:t>Pick made on the guide's framing</a:t>
            </a:r>
            <a:endParaRPr lang="en-US" sz="1200" dirty="0"/>
          </a:p>
          <a:p>
            <a:pPr indent="0" marL="0">
              <a:buNone/>
            </a:pPr>
            <a:r>
              <a:rPr lang="en-US" sz="1200" dirty="0">
                <a:solidFill>
                  <a:schemeClr val="tx1"/>
                </a:solidFill>
              </a:rPr>
              <a:t>“Definite” versus “up to”, fee against the 3% ceiling, and stated eligibility decide the tie.</a:t>
            </a:r>
            <a:endParaRPr lang="en-US" sz="1200" dirty="0"/>
          </a:p>
        </p:txBody>
      </p:sp>
      <p:sp>
        <p:nvSpPr>
          <p:cNvPr id="14" name="body text"/>
          <p:cNvSpPr txBox="1"/>
          <p:nvPr/>
        </p:nvSpPr>
        <p:spPr>
          <a:xfrm>
            <a:off x="6858000" y="4800600"/>
            <a:ext cx="4892040" cy="128016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Sonnet never reached MSE in either profile </a:t>
            </a:r>
            <a:pPr indent="0" marL="0">
              <a:spcAft>
                <a:spcPts val="600"/>
              </a:spcAft>
              <a:buNone/>
            </a:pPr>
            <a:r>
              <a:rPr lang="en-US" sz="1150" dirty="0">
                <a:solidFill>
                  <a:schemeClr val="tx1"/>
                </a:solidFill>
              </a:rPr>
              <a:t>(“I couldn't find MoneySavingExpert's own ranking”) and built from Which?, then Moneyfacts and money.co.uk.</a:t>
            </a:r>
            <a:endParaRPr lang="en-US" sz="1150" dirty="0"/>
          </a:p>
          <a:p>
            <a:pPr marL="177800" indent="-177800">
              <a:spcAft>
                <a:spcPts val="600"/>
              </a:spcAft>
              <a:buSzPct val="100000"/>
              <a:buChar char="•"/>
            </a:pPr>
            <a:r>
              <a:rPr lang="en-US" sz="1150" b="1" dirty="0">
                <a:solidFill>
                  <a:schemeClr val="tx1"/>
                </a:solidFill>
              </a:rPr>
              <a:t>barclays.co.uk was read once, barclaycard.co.uk seven times. </a:t>
            </a:r>
            <a:pPr indent="0" marL="0">
              <a:spcAft>
                <a:spcPts val="600"/>
              </a:spcAft>
              <a:buNone/>
            </a:pPr>
            <a:r>
              <a:rPr lang="en-US" sz="1150" dirty="0">
                <a:solidFill>
                  <a:schemeClr val="tx1"/>
                </a:solidFill>
              </a:rPr>
              <a:t>The two sites list different cards (slide 10).</a:t>
            </a:r>
            <a:endParaRPr lang="en-US" sz="1150" dirty="0"/>
          </a:p>
        </p:txBody>
      </p:sp>
      <p:sp>
        <p:nvSpPr>
          <p:cNvPr id="1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Oct11_3pm/transcripts/*.md (every reply lists queries and URLs opened); summary.md section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indent="0" marL="0">
              <a:buNone/>
            </a:pPr>
            <a:r>
              <a:rPr lang="en-US" sz="4000" b="1" dirty="0">
                <a:solidFill>
                  <a:schemeClr val="bg1"/>
                </a:solidFill>
              </a:rPr>
              <a:t>Why Barclaycard loses: six causes, each with a screenshot</a:t>
            </a:r>
            <a:endParaRPr lang="en-US" sz="4000" dirty="0"/>
          </a:p>
        </p:txBody>
      </p:sp>
      <p:sp>
        <p:nvSpPr>
          <p:cNvPr id="3" name="Text 0"/>
          <p:cNvSpPr/>
          <p:nvPr>
            <p:ph idx="101" type="body" hasCustomPrompt="1"/>
          </p:nvPr>
        </p:nvSpPr>
        <p:spPr>
          <a:xfrm>
            <a:off x="731520" y="3611880"/>
            <a:ext cx="10515600" cy="1463040"/>
          </a:xfrm>
          <a:prstGeom prst="rect">
            <a:avLst/>
          </a:prstGeom>
          <a:noFill/>
          <a:ln/>
        </p:spPr>
        <p:txBody>
          <a:bodyPr wrap="square" lIns="0" tIns="0" rIns="0" bIns="0" rtlCol="0" anchor="t"/>
          <a:lstStyle/>
          <a:p>
            <a:pPr indent="0" marL="0">
              <a:buNone/>
            </a:pPr>
            <a:r>
              <a:rPr lang="en-US" sz="1800" dirty="0">
                <a:solidFill>
                  <a:schemeClr val="accent5"/>
                </a:solidFill>
              </a:rPr>
              <a:t>Ranked by how many of the eight runs the cause changed. Each slide names the test that would disprove it.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1: the 22 month 1.49% card, the best fit for this customer, is not in the guides the models rank from</a:t>
            </a:r>
            <a:endParaRPr lang="en-US" sz="2600" dirty="0"/>
          </a:p>
        </p:txBody>
      </p:sp>
      <p:sp>
        <p:nvSpPr>
          <p:cNvPr id="3" name="body text"/>
          <p:cNvSpPr txBox="1"/>
          <p:nvPr/>
        </p:nvSpPr>
        <p:spPr>
          <a:xfrm>
            <a:off x="457200" y="1325880"/>
            <a:ext cx="3291840" cy="402336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Not in MSE's tables. </a:t>
            </a:r>
            <a:pPr indent="0" marL="0">
              <a:spcAft>
                <a:spcPts val="600"/>
              </a:spcAft>
              <a:buNone/>
            </a:pPr>
            <a:r>
              <a:rPr lang="en-US" sz="1150" dirty="0">
                <a:solidFill>
                  <a:schemeClr val="tx1"/>
                </a:solidFill>
              </a:rPr>
              <a:t>MSE lists Barclaycard at “up to 36” and “up to 12, no fee” only.</a:t>
            </a:r>
            <a:endParaRPr lang="en-US" sz="1150" dirty="0"/>
          </a:p>
          <a:p>
            <a:pPr marL="177800" indent="-177800">
              <a:spcAft>
                <a:spcPts val="600"/>
              </a:spcAft>
              <a:buSzPct val="100000"/>
              <a:buChar char="•"/>
            </a:pPr>
            <a:r>
              <a:rPr lang="en-US" sz="1150" b="1" dirty="0">
                <a:solidFill>
                  <a:schemeClr val="tx1"/>
                </a:solidFill>
              </a:rPr>
              <a:t>Not in Which?'s tables. </a:t>
            </a:r>
            <a:pPr indent="0" marL="0">
              <a:spcAft>
                <a:spcPts val="600"/>
              </a:spcAft>
              <a:buNone/>
            </a:pPr>
            <a:r>
              <a:rPr lang="en-US" sz="1150" dirty="0">
                <a:solidFill>
                  <a:schemeClr val="tx1"/>
                </a:solidFill>
              </a:rPr>
              <a:t>Which? Best Buys show the 12 month no-fee card, with Barclaycard's only Recommended Provider badge.</a:t>
            </a:r>
            <a:endParaRPr lang="en-US" sz="1150" dirty="0"/>
          </a:p>
          <a:p>
            <a:pPr marL="177800" indent="-177800">
              <a:spcAft>
                <a:spcPts val="600"/>
              </a:spcAft>
              <a:buSzPct val="100000"/>
              <a:buChar char="•"/>
            </a:pPr>
            <a:r>
              <a:rPr lang="en-US" sz="1150" b="1" dirty="0">
                <a:solidFill>
                  <a:schemeClr val="tx1"/>
                </a:solidFill>
              </a:rPr>
              <a:t>Not on barclays.co.uk. </a:t>
            </a:r>
            <a:pPr indent="0" marL="0">
              <a:spcAft>
                <a:spcPts val="600"/>
              </a:spcAft>
              <a:buNone/>
            </a:pPr>
            <a:r>
              <a:rPr lang="en-US" sz="1150" dirty="0">
                <a:solidFill>
                  <a:schemeClr val="tx1"/>
                </a:solidFill>
              </a:rPr>
              <a:t>The Barclays listing shows four cards; the 22 month card is on barclaycard.co.uk only (slide 15).</a:t>
            </a:r>
            <a:endParaRPr lang="en-US" sz="1150" dirty="0"/>
          </a:p>
          <a:p>
            <a:pPr marL="177800" indent="-177800">
              <a:spcAft>
                <a:spcPts val="600"/>
              </a:spcAft>
              <a:buSzPct val="100000"/>
              <a:buChar char="•"/>
            </a:pPr>
            <a:r>
              <a:rPr lang="en-US" sz="1150" b="1" dirty="0">
                <a:solidFill>
                  <a:schemeClr val="tx1"/>
                </a:solidFill>
              </a:rPr>
              <a:t>Effect: </a:t>
            </a:r>
            <a:pPr indent="0" marL="0">
              <a:spcAft>
                <a:spcPts val="600"/>
              </a:spcAft>
              <a:buNone/>
            </a:pPr>
            <a:r>
              <a:rPr lang="en-US" sz="1150" dirty="0">
                <a:solidFill>
                  <a:schemeClr val="tx1"/>
                </a:solidFill>
              </a:rPr>
              <a:t>Haiku A, which read barclays.co.uk, never knew the card existed. Every run that found it ranked it above the 36 month card for an 18 to 24 month plan. It is the lowest fee of any card over 20 months in any source used.</a:t>
            </a:r>
            <a:endParaRPr lang="en-US" sz="1150" dirty="0"/>
          </a:p>
          <a:p>
            <a:pPr marL="177800" indent="-177800">
              <a:spcAft>
                <a:spcPts val="600"/>
              </a:spcAft>
              <a:buSzPct val="100000"/>
              <a:buChar char="•"/>
            </a:pPr>
            <a:r>
              <a:rPr lang="en-US" sz="1150" b="1" dirty="0">
                <a:solidFill>
                  <a:schemeClr val="tx1"/>
                </a:solidFill>
              </a:rPr>
              <a:t>Runs changed: 5 of 8.</a:t>
            </a:r>
            <a:endParaRPr lang="en-US" sz="1150" dirty="0"/>
          </a:p>
        </p:txBody>
      </p:sp>
      <p:pic>
        <p:nvPicPr>
          <p:cNvPr id="4" name="E12_which_bestbuy_table.jpg" descr="/home/user/cc_yolo_project/Oct11_3pm/deck/evidence/E12_which_bestbuy_table.jpg">    </p:cNvPr>
          <p:cNvPicPr>
            <a:picLocks noChangeAspect="1"/>
          </p:cNvPicPr>
          <p:nvPr/>
        </p:nvPicPr>
        <p:blipFill>
          <a:blip r:embed="rId1"/>
          <a:stretch>
            <a:fillRect/>
          </a:stretch>
        </p:blipFill>
        <p:spPr>
          <a:xfrm>
            <a:off x="3931920" y="1325880"/>
            <a:ext cx="1989814" cy="3840480"/>
          </a:xfrm>
          <a:prstGeom prst="rect">
            <a:avLst/>
          </a:prstGeom>
          <a:effectLst>
            <a:outerShdw sx="100000" sy="100000" kx="0" ky="0" algn="bl" rotWithShape="0" blurRad="50800" dist="25400" dir="2700000">
              <a:srgbClr val="0B2E59">
                <a:alpha val="25000"/>
              </a:srgbClr>
            </a:outerShdw>
          </a:effectLst>
        </p:spPr>
      </p:pic>
      <p:sp>
        <p:nvSpPr>
          <p:cNvPr id="5" name="caption E12_which_bestbuy_table.jpg"/>
          <p:cNvSpPr txBox="1"/>
          <p:nvPr/>
        </p:nvSpPr>
        <p:spPr>
          <a:xfrm>
            <a:off x="3931920" y="5212080"/>
            <a:ext cx="1989814" cy="320040"/>
          </a:xfrm>
          <a:prstGeom prst="rect">
            <a:avLst/>
          </a:prstGeom>
          <a:noFill/>
          <a:ln/>
        </p:spPr>
        <p:txBody>
          <a:bodyPr wrap="square" lIns="0" tIns="0" rIns="0" bIns="0" rtlCol="0" anchor="t"/>
          <a:lstStyle/>
          <a:p>
            <a:pPr indent="0" marL="0">
              <a:buNone/>
            </a:pPr>
            <a:r>
              <a:rPr lang="en-US" sz="900" i="1" dirty="0">
                <a:solidFill>
                  <a:schemeClr val="tx2"/>
                </a:solidFill>
              </a:rPr>
              <a:t>Which? Best Buys, 1 Oct 2026: 12 month card only</a:t>
            </a:r>
            <a:endParaRPr lang="en-US" sz="900" dirty="0"/>
          </a:p>
        </p:txBody>
      </p:sp>
      <p:pic>
        <p:nvPicPr>
          <p:cNvPr id="6" name="E10_mse_nofee_lowfee_block.jpg" descr="/home/user/cc_yolo_project/Oct11_3pm/deck/evidence/E10_mse_nofee_lowfee_block.jpg">    </p:cNvPr>
          <p:cNvPicPr>
            <a:picLocks noChangeAspect="1"/>
          </p:cNvPicPr>
          <p:nvPr/>
        </p:nvPicPr>
        <p:blipFill>
          <a:blip r:embed="rId2"/>
          <a:stretch>
            <a:fillRect/>
          </a:stretch>
        </p:blipFill>
        <p:spPr>
          <a:xfrm>
            <a:off x="6126480" y="1325880"/>
            <a:ext cx="2829827" cy="3840480"/>
          </a:xfrm>
          <a:prstGeom prst="rect">
            <a:avLst/>
          </a:prstGeom>
          <a:effectLst>
            <a:outerShdw sx="100000" sy="100000" kx="0" ky="0" algn="bl" rotWithShape="0" blurRad="50800" dist="25400" dir="2700000">
              <a:srgbClr val="0B2E59">
                <a:alpha val="25000"/>
              </a:srgbClr>
            </a:outerShdw>
          </a:effectLst>
        </p:spPr>
      </p:pic>
      <p:sp>
        <p:nvSpPr>
          <p:cNvPr id="7" name="caption E10_mse_nofee_lowfee_block.jpg"/>
          <p:cNvSpPr txBox="1"/>
          <p:nvPr/>
        </p:nvSpPr>
        <p:spPr>
          <a:xfrm>
            <a:off x="6126480" y="5212080"/>
            <a:ext cx="2829827" cy="320040"/>
          </a:xfrm>
          <a:prstGeom prst="rect">
            <a:avLst/>
          </a:prstGeom>
          <a:noFill/>
          <a:ln/>
        </p:spPr>
        <p:txBody>
          <a:bodyPr wrap="square" lIns="0" tIns="0" rIns="0" bIns="0" rtlCol="0" anchor="t"/>
          <a:lstStyle/>
          <a:p>
            <a:pPr indent="0" marL="0">
              <a:buNone/>
            </a:pPr>
            <a:r>
              <a:rPr lang="en-US" sz="900" i="1" dirty="0">
                <a:solidFill>
                  <a:schemeClr val="tx2"/>
                </a:solidFill>
              </a:rPr>
              <a:t>MSE no-fee and low-fee block, 7 Oct 2026: 12 month card only</a:t>
            </a:r>
            <a:endParaRPr lang="en-US" sz="900" dirty="0"/>
          </a:p>
        </p:txBody>
      </p:sp>
      <p:pic>
        <p:nvPicPr>
          <p:cNvPr id="8" name="E3_barclays_listing_four_cards.jpg" descr="/home/user/cc_yolo_project/Oct11_3pm/deck/evidence/E3_barclays_listing_four_cards.jpg">    </p:cNvPr>
          <p:cNvPicPr>
            <a:picLocks noChangeAspect="1"/>
          </p:cNvPicPr>
          <p:nvPr/>
        </p:nvPicPr>
        <p:blipFill>
          <a:blip r:embed="rId3"/>
          <a:stretch>
            <a:fillRect/>
          </a:stretch>
        </p:blipFill>
        <p:spPr>
          <a:xfrm>
            <a:off x="9144000" y="1325880"/>
            <a:ext cx="2363372" cy="3840480"/>
          </a:xfrm>
          <a:prstGeom prst="rect">
            <a:avLst/>
          </a:prstGeom>
          <a:effectLst>
            <a:outerShdw sx="100000" sy="100000" kx="0" ky="0" algn="bl" rotWithShape="0" blurRad="50800" dist="25400" dir="2700000">
              <a:srgbClr val="0B2E59">
                <a:alpha val="25000"/>
              </a:srgbClr>
            </a:outerShdw>
          </a:effectLst>
        </p:spPr>
      </p:pic>
      <p:sp>
        <p:nvSpPr>
          <p:cNvPr id="9" name="caption E3_barclays_listing_four_cards.jpg"/>
          <p:cNvSpPr txBox="1"/>
          <p:nvPr/>
        </p:nvSpPr>
        <p:spPr>
          <a:xfrm>
            <a:off x="9144000" y="5212080"/>
            <a:ext cx="2363372" cy="320040"/>
          </a:xfrm>
          <a:prstGeom prst="rect">
            <a:avLst/>
          </a:prstGeom>
          <a:noFill/>
          <a:ln/>
        </p:spPr>
        <p:txBody>
          <a:bodyPr wrap="square" lIns="0" tIns="0" rIns="0" bIns="0" rtlCol="0" anchor="t"/>
          <a:lstStyle/>
          <a:p>
            <a:pPr indent="0" marL="0">
              <a:buNone/>
            </a:pPr>
            <a:r>
              <a:rPr lang="en-US" sz="900" i="1" dirty="0">
                <a:solidFill>
                  <a:schemeClr val="tx2"/>
                </a:solidFill>
              </a:rPr>
              <a:t>barclays.co.uk: four cards, no 22 month card</a:t>
            </a:r>
            <a:endParaRPr lang="en-US" sz="900" dirty="0"/>
          </a:p>
        </p:txBody>
      </p:sp>
      <p:sp>
        <p:nvSpPr>
          <p:cNvPr id="10"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11"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Open the MSE guide, the Which? guide and barclays.co.uk/credit-cards/balance-transfer-credit-cards and search the page for “22 month”. Falsified if any of the three lists the 22 month 1.49% card.</a:t>
            </a:r>
            <a:endParaRPr lang="en-US" sz="11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evidence/E10, E12, P3, P5, P6; ground_truth.md lines 23, 35, 51; transcripts/A-haiku.md turn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2: MSE labels HSBC, Virgin Money and Tesco “definite” and Barclaycard “up to 36, 32 or 18”, and the models rank on that label</a:t>
            </a:r>
            <a:endParaRPr lang="en-US" sz="2600" dirty="0"/>
          </a:p>
        </p:txBody>
      </p:sp>
      <p:pic>
        <p:nvPicPr>
          <p:cNvPr id="3" name="E8_mse_definite_block.jpg" descr="/home/user/cc_yolo_project/Oct11_3pm/deck/evidence/E8_mse_definite_block.jpg">    </p:cNvPr>
          <p:cNvPicPr>
            <a:picLocks noChangeAspect="1"/>
          </p:cNvPicPr>
          <p:nvPr/>
        </p:nvPicPr>
        <p:blipFill>
          <a:blip r:embed="rId1"/>
          <a:stretch>
            <a:fillRect/>
          </a:stretch>
        </p:blipFill>
        <p:spPr>
          <a:xfrm>
            <a:off x="457200" y="1325880"/>
            <a:ext cx="3840480" cy="3291840"/>
          </a:xfrm>
          <a:prstGeom prst="rect">
            <a:avLst/>
          </a:prstGeom>
          <a:effectLst>
            <a:outerShdw sx="100000" sy="100000" kx="0" ky="0" algn="bl" rotWithShape="0" blurRad="50800" dist="25400" dir="2700000">
              <a:srgbClr val="0B2E59">
                <a:alpha val="25000"/>
              </a:srgbClr>
            </a:outerShdw>
          </a:effectLst>
        </p:spPr>
      </p:pic>
      <p:sp>
        <p:nvSpPr>
          <p:cNvPr id="4" name="caption E8_mse_definite_block.jpg"/>
          <p:cNvSpPr txBox="1"/>
          <p:nvPr/>
        </p:nvSpPr>
        <p:spPr>
          <a:xfrm>
            <a:off x="457200" y="4663440"/>
            <a:ext cx="3840480" cy="320040"/>
          </a:xfrm>
          <a:prstGeom prst="rect">
            <a:avLst/>
          </a:prstGeom>
          <a:noFill/>
          <a:ln/>
        </p:spPr>
        <p:txBody>
          <a:bodyPr wrap="square" lIns="0" tIns="0" rIns="0" bIns="0" rtlCol="0" anchor="t"/>
          <a:lstStyle/>
          <a:p>
            <a:pPr indent="0" marL="0">
              <a:buNone/>
            </a:pPr>
            <a:r>
              <a:rPr lang="en-US" sz="900" i="1" dirty="0">
                <a:solidFill>
                  <a:schemeClr val="tx2"/>
                </a:solidFill>
              </a:rPr>
              <a:t>MSE “definite” block: all accepted get the full term</a:t>
            </a:r>
            <a:endParaRPr lang="en-US" sz="900" dirty="0"/>
          </a:p>
        </p:txBody>
      </p:sp>
      <p:pic>
        <p:nvPicPr>
          <p:cNvPr id="5" name="E9_mse_upto_barclaycard_row.jpg" descr="/home/user/cc_yolo_project/Oct11_3pm/deck/evidence/E9_mse_upto_barclaycard_row.jpg">    </p:cNvPr>
          <p:cNvPicPr>
            <a:picLocks noChangeAspect="1"/>
          </p:cNvPicPr>
          <p:nvPr/>
        </p:nvPicPr>
        <p:blipFill>
          <a:blip r:embed="rId2"/>
          <a:stretch>
            <a:fillRect/>
          </a:stretch>
        </p:blipFill>
        <p:spPr>
          <a:xfrm>
            <a:off x="4526280" y="1325880"/>
            <a:ext cx="2584938" cy="3840480"/>
          </a:xfrm>
          <a:prstGeom prst="rect">
            <a:avLst/>
          </a:prstGeom>
          <a:effectLst>
            <a:outerShdw sx="100000" sy="100000" kx="0" ky="0" algn="bl" rotWithShape="0" blurRad="50800" dist="25400" dir="2700000">
              <a:srgbClr val="0B2E59">
                <a:alpha val="25000"/>
              </a:srgbClr>
            </a:outerShdw>
          </a:effectLst>
        </p:spPr>
      </p:pic>
      <p:sp>
        <p:nvSpPr>
          <p:cNvPr id="6" name="caption E9_mse_upto_barclaycard_row.jpg"/>
          <p:cNvSpPr txBox="1"/>
          <p:nvPr/>
        </p:nvSpPr>
        <p:spPr>
          <a:xfrm>
            <a:off x="4526280" y="5212080"/>
            <a:ext cx="2584938" cy="320040"/>
          </a:xfrm>
          <a:prstGeom prst="rect">
            <a:avLst/>
          </a:prstGeom>
          <a:noFill/>
          <a:ln/>
        </p:spPr>
        <p:txBody>
          <a:bodyPr wrap="square" lIns="0" tIns="0" rIns="0" bIns="0" rtlCol="0" anchor="t"/>
          <a:lstStyle/>
          <a:p>
            <a:pPr indent="0" marL="0">
              <a:buNone/>
            </a:pPr>
            <a:r>
              <a:rPr lang="en-US" sz="900" i="1" dirty="0">
                <a:solidFill>
                  <a:schemeClr val="tx2"/>
                </a:solidFill>
              </a:rPr>
              <a:t>MSE “up to” block: Barclaycard row</a:t>
            </a:r>
            <a:endParaRPr lang="en-US" sz="900" dirty="0"/>
          </a:p>
        </p:txBody>
      </p:sp>
      <p:sp>
        <p:nvSpPr>
          <p:cNvPr id="7" name="quote bg"/>
          <p:cNvSpPr/>
          <p:nvPr/>
        </p:nvSpPr>
        <p:spPr>
          <a:xfrm>
            <a:off x="7406640" y="1325880"/>
            <a:ext cx="4343400" cy="1143000"/>
          </a:xfrm>
          <a:prstGeom prst="rect">
            <a:avLst/>
          </a:prstGeom>
          <a:solidFill>
            <a:schemeClr val="bg2"/>
          </a:solidFill>
          <a:ln w="12700">
            <a:solidFill>
              <a:schemeClr val="bg2"/>
            </a:solidFill>
            <a:prstDash val="solid"/>
          </a:ln>
        </p:spPr>
      </p:sp>
      <p:sp>
        <p:nvSpPr>
          <p:cNvPr id="8" name="quote text"/>
          <p:cNvSpPr txBox="1"/>
          <p:nvPr/>
        </p:nvSpPr>
        <p:spPr>
          <a:xfrm>
            <a:off x="7543800" y="1399032"/>
            <a:ext cx="4069080" cy="996696"/>
          </a:xfrm>
          <a:prstGeom prst="rect">
            <a:avLst/>
          </a:prstGeom>
          <a:noFill/>
          <a:ln/>
        </p:spPr>
        <p:txBody>
          <a:bodyPr wrap="square" lIns="0" tIns="0" rIns="0" bIns="0" rtlCol="0" anchor="t"/>
          <a:lstStyle/>
          <a:p>
            <a:pPr indent="0" marL="0">
              <a:buNone/>
            </a:pPr>
            <a:r>
              <a:rPr lang="en-US" sz="1150" i="1" dirty="0">
                <a:solidFill>
                  <a:schemeClr val="tx1"/>
                </a:solidFill>
              </a:rPr>
              <a:t>“HSBC's 36 months is listed as definite, while Barclaycard's depends on that check. So HSBC stays first.”</a:t>
            </a:r>
            <a:endParaRPr lang="en-US" sz="1150" dirty="0"/>
          </a:p>
          <a:p>
            <a:pPr indent="0" marL="0">
              <a:buNone/>
            </a:pPr>
            <a:r>
              <a:rPr lang="en-US" sz="950" b="1" dirty="0">
                <a:solidFill>
                  <a:schemeClr val="accent1"/>
                </a:solidFill>
              </a:rPr>
              <a:t>Opus, profile A, turn 3 (transcripts/A-opus.md)</a:t>
            </a:r>
            <a:endParaRPr lang="en-US" sz="1150" dirty="0"/>
          </a:p>
        </p:txBody>
      </p:sp>
      <p:sp>
        <p:nvSpPr>
          <p:cNvPr id="9" name="quote bg"/>
          <p:cNvSpPr/>
          <p:nvPr/>
        </p:nvSpPr>
        <p:spPr>
          <a:xfrm>
            <a:off x="7406640" y="2606040"/>
            <a:ext cx="4343400" cy="1325880"/>
          </a:xfrm>
          <a:prstGeom prst="rect">
            <a:avLst/>
          </a:prstGeom>
          <a:solidFill>
            <a:schemeClr val="bg2"/>
          </a:solidFill>
          <a:ln w="12700">
            <a:solidFill>
              <a:schemeClr val="bg2"/>
            </a:solidFill>
            <a:prstDash val="solid"/>
          </a:ln>
        </p:spPr>
      </p:sp>
      <p:sp>
        <p:nvSpPr>
          <p:cNvPr id="10" name="quote text"/>
          <p:cNvSpPr txBox="1"/>
          <p:nvPr/>
        </p:nvSpPr>
        <p:spPr>
          <a:xfrm>
            <a:off x="7543800" y="2679192"/>
            <a:ext cx="4069080" cy="1179576"/>
          </a:xfrm>
          <a:prstGeom prst="rect">
            <a:avLst/>
          </a:prstGeom>
          <a:noFill/>
          <a:ln/>
        </p:spPr>
        <p:txBody>
          <a:bodyPr wrap="square" lIns="0" tIns="0" rIns="0" bIns="0" rtlCol="0" anchor="t"/>
          <a:lstStyle/>
          <a:p>
            <a:pPr indent="0" marL="0">
              <a:buNone/>
            </a:pPr>
            <a:r>
              <a:rPr lang="en-US" sz="1150" i="1" dirty="0">
                <a:solidFill>
                  <a:schemeClr val="tx1"/>
                </a:solidFill>
              </a:rPr>
              <a:t>“If it doesn't [pre-approve], the 18-month floor is a real risk with a Fair score, and 18 months at £94.50 would be the worst value on the whole list.”</a:t>
            </a:r>
            <a:endParaRPr lang="en-US" sz="1150" dirty="0"/>
          </a:p>
          <a:p>
            <a:pPr indent="0" marL="0">
              <a:buNone/>
            </a:pPr>
            <a:r>
              <a:rPr lang="en-US" sz="950" b="1" dirty="0">
                <a:solidFill>
                  <a:schemeClr val="accent1"/>
                </a:solidFill>
              </a:rPr>
              <a:t>Fable, profile B, turn 3 (transcripts/B-fable.md)</a:t>
            </a:r>
            <a:endParaRPr lang="en-US" sz="1150" dirty="0"/>
          </a:p>
        </p:txBody>
      </p:sp>
      <p:sp>
        <p:nvSpPr>
          <p:cNvPr id="11" name="body text"/>
          <p:cNvSpPr txBox="1"/>
          <p:nvPr/>
        </p:nvSpPr>
        <p:spPr>
          <a:xfrm>
            <a:off x="7406640" y="4069080"/>
            <a:ext cx="4343400" cy="1280160"/>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chemeClr val="tx1"/>
                </a:solidFill>
              </a:rPr>
              <a:t>Cited as the deciding reason by Opus A, Opus B, Fable A and Fable B. </a:t>
            </a:r>
            <a:pPr indent="0" marL="0">
              <a:spcAft>
                <a:spcPts val="600"/>
              </a:spcAft>
              <a:buNone/>
            </a:pPr>
            <a:r>
              <a:rPr lang="en-US" sz="1200" dirty="0">
                <a:solidFill>
                  <a:schemeClr val="tx1"/>
                </a:solidFill>
              </a:rPr>
              <a:t>Runs changed: 4 of 8.</a:t>
            </a:r>
            <a:endParaRPr lang="en-US" sz="1200" dirty="0"/>
          </a:p>
          <a:p>
            <a:pPr marL="177800" indent="-177800">
              <a:spcAft>
                <a:spcPts val="600"/>
              </a:spcAft>
              <a:buSzPct val="100000"/>
              <a:buChar char="•"/>
            </a:pPr>
            <a:r>
              <a:rPr lang="en-US" sz="1200" dirty="0">
                <a:solidFill>
                  <a:schemeClr val="tx1"/>
                </a:solidFill>
              </a:rPr>
              <a:t>Haiku B and Sonnet B </a:t>
            </a:r>
            <a:pPr indent="0" marL="0">
              <a:spcAft>
                <a:spcPts val="600"/>
              </a:spcAft>
              <a:buNone/>
            </a:pPr>
            <a:r>
              <a:rPr lang="en-US" sz="1200" dirty="0">
                <a:solidFill>
                  <a:schemeClr val="tx1"/>
                </a:solidFill>
              </a:rPr>
              <a:t>repeated the “not guaranteed” caveat without making it decisive.</a:t>
            </a:r>
            <a:endParaRPr lang="en-US" sz="1200" dirty="0"/>
          </a:p>
        </p:txBody>
      </p:sp>
      <p:sp>
        <p:nvSpPr>
          <p:cNvPr id="12"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13"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Open MSE's guide and compare the wording on the HSBC and Barclaycard rows. Then read turn 3 of the four transcripts named. Falsified if the “definite” label is absent or the runs give a different reason.</a:t>
            </a:r>
            <a:endParaRPr lang="en-US" sz="1100" dirty="0"/>
          </a:p>
        </p:txBody>
      </p:sp>
      <p:sp>
        <p:nvSpPr>
          <p:cNvPr id="1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evidence/E8, E9 (MSE guide, updated 7 Oct 2026); transcripts/A-opus.md, B-opus.md, A-fable.md, B-fable.md turn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2, continued: the facts that answer “up to” already exist, on the wrong page and the wrong site</a:t>
            </a:r>
            <a:endParaRPr lang="en-US" sz="2600" dirty="0"/>
          </a:p>
        </p:txBody>
      </p:sp>
      <p:pic>
        <p:nvPicPr>
          <p:cNvPr id="3" name="E5_bc22_seven_in_ten.jpg" descr="/home/user/cc_yolo_project/Oct11_3pm/deck/evidence/E5_bc22_seven_in_ten.jpg">    </p:cNvPr>
          <p:cNvPicPr>
            <a:picLocks noChangeAspect="1"/>
          </p:cNvPicPr>
          <p:nvPr/>
        </p:nvPicPr>
        <p:blipFill>
          <a:blip r:embed="rId1"/>
          <a:stretch>
            <a:fillRect/>
          </a:stretch>
        </p:blipFill>
        <p:spPr>
          <a:xfrm>
            <a:off x="457200" y="1325880"/>
            <a:ext cx="5669280" cy="3764756"/>
          </a:xfrm>
          <a:prstGeom prst="rect">
            <a:avLst/>
          </a:prstGeom>
          <a:effectLst>
            <a:outerShdw sx="100000" sy="100000" kx="0" ky="0" algn="bl" rotWithShape="0" blurRad="50800" dist="25400" dir="2700000">
              <a:srgbClr val="0B2E59">
                <a:alpha val="25000"/>
              </a:srgbClr>
            </a:outerShdw>
          </a:effectLst>
        </p:spPr>
      </p:pic>
      <p:sp>
        <p:nvSpPr>
          <p:cNvPr id="4" name="caption E5_bc22_seven_in_ten.jpg"/>
          <p:cNvSpPr txBox="1"/>
          <p:nvPr/>
        </p:nvSpPr>
        <p:spPr>
          <a:xfrm>
            <a:off x="457200" y="5136356"/>
            <a:ext cx="5669280" cy="320040"/>
          </a:xfrm>
          <a:prstGeom prst="rect">
            <a:avLst/>
          </a:prstGeom>
          <a:noFill/>
          <a:ln/>
        </p:spPr>
        <p:txBody>
          <a:bodyPr wrap="square" lIns="0" tIns="0" rIns="0" bIns="0" rtlCol="0" anchor="t"/>
          <a:lstStyle/>
          <a:p>
            <a:pPr indent="0" marL="0">
              <a:buNone/>
            </a:pPr>
            <a:r>
              <a:rPr lang="en-US" sz="900" i="1" dirty="0">
                <a:solidFill>
                  <a:schemeClr val="tx2"/>
                </a:solidFill>
              </a:rPr>
              <a:t>barclaycard.co.uk, 22 month card page, accordion “Why is it 'up to' 22 months?” expanded</a:t>
            </a:r>
            <a:endParaRPr lang="en-US" sz="900" dirty="0"/>
          </a:p>
        </p:txBody>
      </p:sp>
      <p:pic>
        <p:nvPicPr>
          <p:cNvPr id="5" name="E7b_hsbc_subject_to_status.jpg" descr="/home/user/cc_yolo_project/Oct11_3pm/deck/evidence/E7b_hsbc_subject_to_status.jpg">    </p:cNvPr>
          <p:cNvPicPr>
            <a:picLocks noChangeAspect="1"/>
          </p:cNvPicPr>
          <p:nvPr/>
        </p:nvPicPr>
        <p:blipFill>
          <a:blip r:embed="rId2"/>
          <a:stretch>
            <a:fillRect/>
          </a:stretch>
        </p:blipFill>
        <p:spPr>
          <a:xfrm>
            <a:off x="6766560" y="4297680"/>
            <a:ext cx="4983480" cy="817602"/>
          </a:xfrm>
          <a:prstGeom prst="rect">
            <a:avLst/>
          </a:prstGeom>
          <a:effectLst>
            <a:outerShdw sx="100000" sy="100000" kx="0" ky="0" algn="bl" rotWithShape="0" blurRad="50800" dist="25400" dir="2700000">
              <a:srgbClr val="0B2E59">
                <a:alpha val="25000"/>
              </a:srgbClr>
            </a:outerShdw>
          </a:effectLst>
        </p:spPr>
      </p:pic>
      <p:sp>
        <p:nvSpPr>
          <p:cNvPr id="6" name="caption E7b_hsbc_subject_to_status.jpg"/>
          <p:cNvSpPr txBox="1"/>
          <p:nvPr/>
        </p:nvSpPr>
        <p:spPr>
          <a:xfrm>
            <a:off x="6766560" y="5161002"/>
            <a:ext cx="4983480" cy="320040"/>
          </a:xfrm>
          <a:prstGeom prst="rect">
            <a:avLst/>
          </a:prstGeom>
          <a:noFill/>
          <a:ln/>
        </p:spPr>
        <p:txBody>
          <a:bodyPr wrap="square" lIns="0" tIns="0" rIns="0" bIns="0" rtlCol="0" anchor="t"/>
          <a:lstStyle/>
          <a:p>
            <a:pPr indent="0" marL="0">
              <a:buNone/>
            </a:pPr>
            <a:r>
              <a:rPr lang="en-US" sz="900" i="1" dirty="0">
                <a:solidFill>
                  <a:schemeClr val="tx2"/>
                </a:solidFill>
              </a:rPr>
              <a:t>hsbc.co.uk: HSBC's own page is also conditional (“up to 36”, 14 month outcome in its FAQ)</a:t>
            </a:r>
            <a:endParaRPr lang="en-US" sz="900" dirty="0"/>
          </a:p>
        </p:txBody>
      </p:sp>
      <p:sp>
        <p:nvSpPr>
          <p:cNvPr id="7" name="body text"/>
          <p:cNvSpPr txBox="1"/>
          <p:nvPr/>
        </p:nvSpPr>
        <p:spPr>
          <a:xfrm>
            <a:off x="6766560" y="1325880"/>
            <a:ext cx="4983480" cy="292608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Barclaycard already publishes the answer for one card. </a:t>
            </a:r>
            <a:pPr indent="0" marL="0">
              <a:spcAft>
                <a:spcPts val="600"/>
              </a:spcAft>
              <a:buNone/>
            </a:pPr>
            <a:r>
              <a:rPr lang="en-US" sz="1150" dirty="0">
                <a:solidFill>
                  <a:schemeClr val="tx1"/>
                </a:solidFill>
              </a:rPr>
              <a:t>The 22 month page says at least 7 in 10 accepted customers last month got the longest period. No model quoted it: it sits inside a collapsed accordion, on a page MSE and Which? do not link to.</a:t>
            </a:r>
            <a:endParaRPr lang="en-US" sz="1150" dirty="0"/>
          </a:p>
          <a:p>
            <a:pPr marL="177800" indent="-177800">
              <a:spcAft>
                <a:spcPts val="600"/>
              </a:spcAft>
              <a:buSzPct val="100000"/>
              <a:buChar char="•"/>
            </a:pPr>
            <a:r>
              <a:rPr lang="en-US" sz="1150" b="1" dirty="0">
                <a:solidFill>
                  <a:schemeClr val="tx1"/>
                </a:solidFill>
              </a:rPr>
              <a:t>The 36 month card has no such statement </a:t>
            </a:r>
            <a:pPr indent="0" marL="0">
              <a:spcAft>
                <a:spcPts val="600"/>
              </a:spcAft>
              <a:buNone/>
            </a:pPr>
            <a:r>
              <a:rPr lang="en-US" sz="1150" dirty="0">
                <a:solidFill>
                  <a:schemeClr val="tx1"/>
                </a:solidFill>
              </a:rPr>
              <a:t>on its listing block or on barclays.co.uk. MSE's “36, 32 or 18” is the only tier information any model saw.</a:t>
            </a:r>
            <a:endParaRPr lang="en-US" sz="1150" dirty="0"/>
          </a:p>
          <a:p>
            <a:pPr marL="177800" indent="-177800">
              <a:spcAft>
                <a:spcPts val="600"/>
              </a:spcAft>
              <a:buSzPct val="100000"/>
              <a:buChar char="•"/>
            </a:pPr>
            <a:r>
              <a:rPr lang="en-US" sz="1150" b="1" dirty="0">
                <a:solidFill>
                  <a:schemeClr val="tx1"/>
                </a:solidFill>
              </a:rPr>
              <a:t>HSBC's “definite” is MSE's label, not HSBC's. </a:t>
            </a:r>
            <a:pPr indent="0" marL="0">
              <a:spcAft>
                <a:spcPts val="600"/>
              </a:spcAft>
              <a:buNone/>
            </a:pPr>
            <a:r>
              <a:rPr lang="en-US" sz="1150" dirty="0">
                <a:solidFill>
                  <a:schemeClr val="tx1"/>
                </a:solidFill>
              </a:rPr>
              <a:t>HSBC's page says “up to 36 months” and its FAQ lists 36 at 25.9%, 36 at 29.9% or 14 at 29.9%. Opus A and Fable A found this at turn 5 and withdrew “definite”.</a:t>
            </a:r>
            <a:endParaRPr lang="en-US" sz="1150" dirty="0"/>
          </a:p>
          <a:p>
            <a:pPr marL="177800" indent="-177800">
              <a:spcAft>
                <a:spcPts val="600"/>
              </a:spcAft>
              <a:buSzPct val="100000"/>
              <a:buChar char="•"/>
            </a:pPr>
            <a:r>
              <a:rPr lang="en-US" sz="1150" b="1" dirty="0">
                <a:solidFill>
                  <a:schemeClr val="tx1"/>
                </a:solidFill>
              </a:rPr>
              <a:t>Implication: </a:t>
            </a:r>
            <a:pPr indent="0" marL="0">
              <a:spcAft>
                <a:spcPts val="600"/>
              </a:spcAft>
              <a:buNone/>
            </a:pPr>
            <a:r>
              <a:rPr lang="en-US" sz="1150" dirty="0">
                <a:solidFill>
                  <a:schemeClr val="tx1"/>
                </a:solidFill>
              </a:rPr>
              <a:t>the asymmetry is in disclosure and labelling, not in the products. It can be closed with wording Barclaycard already uses.</a:t>
            </a:r>
            <a:endParaRPr lang="en-US" sz="1150" dirty="0"/>
          </a:p>
        </p:txBody>
      </p:sp>
      <p:sp>
        <p:nvSpPr>
          <p:cNvPr id="8"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9"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On barclaycard.co.uk/personal/credit-cards/mid-bt-platinum expand the accordion; on hsbc.co.uk open the FAQ “Why are interest-free periods sometimes limited?”. Falsified if the 7 in 10 statement is gone or HSBC guarantees 36 months.</a:t>
            </a:r>
            <a:endParaRPr lang="en-US" sz="11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evidence/E5, E7b, P2, P4; ground_truth.md lines 19 and 27; transcripts/A-opus.md and A-fable.md turn 5.</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3: a 3.15% fee is £1.80 more than HSBC on £3,000, and the models used that to break ties</a:t>
            </a:r>
            <a:endParaRPr lang="en-US" sz="2600" dirty="0"/>
          </a:p>
        </p:txBody>
      </p:sp>
      <p:graphicFrame>
        <p:nvGraphicFramePr>
          <p:cNvPr id="3" name="fee chart" descr=""/>
          <p:cNvGraphicFramePr/>
          <p:nvPr/>
        </p:nvGraphicFramePr>
        <p:xfrm>
          <a:off x="457200" y="12801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chart caption"/>
          <p:cNvSpPr txBox="1"/>
          <p:nvPr/>
        </p:nvSpPr>
        <p:spPr>
          <a:xfrm>
            <a:off x="457200" y="5212080"/>
            <a:ext cx="5852160" cy="274320"/>
          </a:xfrm>
          <a:prstGeom prst="rect">
            <a:avLst/>
          </a:prstGeom>
          <a:noFill/>
          <a:ln/>
        </p:spPr>
        <p:txBody>
          <a:bodyPr wrap="square" lIns="0" tIns="0" rIns="0" bIns="0" rtlCol="0" anchor="ctr"/>
          <a:lstStyle/>
          <a:p>
            <a:pPr indent="0" marL="0">
              <a:buNone/>
            </a:pPr>
            <a:r>
              <a:rPr lang="en-US" sz="1000" i="1" dirty="0">
                <a:solidFill>
                  <a:schemeClr val="tx2"/>
                </a:solidFill>
              </a:rPr>
              <a:t>Fee in pounds on a £3,000 transfer, from each provider's published rate, Oct 2026</a:t>
            </a:r>
            <a:endParaRPr lang="en-US" sz="1000" dirty="0"/>
          </a:p>
        </p:txBody>
      </p:sp>
      <p:sp>
        <p:nvSpPr>
          <p:cNvPr id="5" name="quote bg"/>
          <p:cNvSpPr/>
          <p:nvPr/>
        </p:nvSpPr>
        <p:spPr>
          <a:xfrm>
            <a:off x="6675120" y="1325880"/>
            <a:ext cx="5074920" cy="914400"/>
          </a:xfrm>
          <a:prstGeom prst="rect">
            <a:avLst/>
          </a:prstGeom>
          <a:solidFill>
            <a:schemeClr val="bg2"/>
          </a:solidFill>
          <a:ln w="12700">
            <a:solidFill>
              <a:schemeClr val="bg2"/>
            </a:solidFill>
            <a:prstDash val="solid"/>
          </a:ln>
        </p:spPr>
      </p:sp>
      <p:sp>
        <p:nvSpPr>
          <p:cNvPr id="6" name="quote text"/>
          <p:cNvSpPr txBox="1"/>
          <p:nvPr/>
        </p:nvSpPr>
        <p:spPr>
          <a:xfrm>
            <a:off x="6812280" y="1399032"/>
            <a:ext cx="4800600" cy="768096"/>
          </a:xfrm>
          <a:prstGeom prst="rect">
            <a:avLst/>
          </a:prstGeom>
          <a:noFill/>
          <a:ln/>
        </p:spPr>
        <p:txBody>
          <a:bodyPr wrap="square" lIns="0" tIns="0" rIns="0" bIns="0" rtlCol="0" anchor="t"/>
          <a:lstStyle/>
          <a:p>
            <a:pPr indent="0" marL="0">
              <a:buNone/>
            </a:pPr>
            <a:r>
              <a:rPr lang="en-US" sz="1150" i="1" dirty="0">
                <a:solidFill>
                  <a:schemeClr val="tx1"/>
                </a:solidFill>
              </a:rPr>
              <a:t>“The fee is slightly above your 3% ceiling, but only by 0.15 points.”</a:t>
            </a:r>
            <a:endParaRPr lang="en-US" sz="1150" dirty="0"/>
          </a:p>
          <a:p>
            <a:pPr indent="0" marL="0">
              <a:buNone/>
            </a:pPr>
            <a:r>
              <a:rPr lang="en-US" sz="950" b="1" dirty="0">
                <a:solidFill>
                  <a:schemeClr val="accent1"/>
                </a:solidFill>
              </a:rPr>
              <a:t>Haiku, profile A, turn 3 (transcripts/A-haiku.md)</a:t>
            </a:r>
            <a:endParaRPr lang="en-US" sz="1150" dirty="0"/>
          </a:p>
        </p:txBody>
      </p:sp>
      <p:sp>
        <p:nvSpPr>
          <p:cNvPr id="7" name="quote bg"/>
          <p:cNvSpPr/>
          <p:nvPr/>
        </p:nvSpPr>
        <p:spPr>
          <a:xfrm>
            <a:off x="6675120" y="2377440"/>
            <a:ext cx="5074920" cy="1051560"/>
          </a:xfrm>
          <a:prstGeom prst="rect">
            <a:avLst/>
          </a:prstGeom>
          <a:solidFill>
            <a:schemeClr val="bg2"/>
          </a:solidFill>
          <a:ln w="12700">
            <a:solidFill>
              <a:schemeClr val="bg2"/>
            </a:solidFill>
            <a:prstDash val="solid"/>
          </a:ln>
        </p:spPr>
      </p:sp>
      <p:sp>
        <p:nvSpPr>
          <p:cNvPr id="8" name="quote text"/>
          <p:cNvSpPr txBox="1"/>
          <p:nvPr/>
        </p:nvSpPr>
        <p:spPr>
          <a:xfrm>
            <a:off x="6812280" y="2450592"/>
            <a:ext cx="4800600" cy="905256"/>
          </a:xfrm>
          <a:prstGeom prst="rect">
            <a:avLst/>
          </a:prstGeom>
          <a:noFill/>
          <a:ln/>
        </p:spPr>
        <p:txBody>
          <a:bodyPr wrap="square" lIns="0" tIns="0" rIns="0" bIns="0" rtlCol="0" anchor="t"/>
          <a:lstStyle/>
          <a:p>
            <a:pPr indent="0" marL="0">
              <a:buNone/>
            </a:pPr>
            <a:r>
              <a:rPr lang="en-US" sz="1150" i="1" dirty="0">
                <a:solidFill>
                  <a:schemeClr val="tx1"/>
                </a:solidFill>
              </a:rPr>
              <a:t>“The fee is a bit higher than HSBC's 3.09% (£92.70). HSBC's 36 months is listed as definite, while Barclaycard's depends on that check. So HSBC stays first.”</a:t>
            </a:r>
            <a:endParaRPr lang="en-US" sz="1150" dirty="0"/>
          </a:p>
          <a:p>
            <a:pPr indent="0" marL="0">
              <a:buNone/>
            </a:pPr>
            <a:r>
              <a:rPr lang="en-US" sz="950" b="1" dirty="0">
                <a:solidFill>
                  <a:schemeClr val="accent1"/>
                </a:solidFill>
              </a:rPr>
              <a:t>Opus, profile A, turn 3 (transcripts/A-opus.md)</a:t>
            </a:r>
            <a:endParaRPr lang="en-US" sz="1150" dirty="0"/>
          </a:p>
        </p:txBody>
      </p:sp>
      <p:sp>
        <p:nvSpPr>
          <p:cNvPr id="9" name="body text"/>
          <p:cNvSpPr txBox="1"/>
          <p:nvPr/>
        </p:nvSpPr>
        <p:spPr>
          <a:xfrm>
            <a:off x="6675120" y="3566160"/>
            <a:ext cx="5074920" cy="187452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The money is trivial; the framing is not. </a:t>
            </a:r>
            <a:pPr indent="0" marL="0">
              <a:spcAft>
                <a:spcPts val="600"/>
              </a:spcAft>
              <a:buNone/>
            </a:pPr>
            <a:r>
              <a:rPr lang="en-US" sz="1150" dirty="0">
                <a:solidFill>
                  <a:schemeClr val="tx1"/>
                </a:solidFill>
              </a:rPr>
              <a:t>A customer who says “about 3%” is filtered at 3.00 by the model. 2.9 (Capital One), 2.99 (Nationwide) and 1.95 (Virgin 24m) pass; 3.15 fails and needs a justification.</a:t>
            </a:r>
            <a:endParaRPr lang="en-US" sz="1150" dirty="0"/>
          </a:p>
          <a:p>
            <a:pPr marL="177800" indent="-177800">
              <a:spcAft>
                <a:spcPts val="600"/>
              </a:spcAft>
              <a:buSzPct val="100000"/>
              <a:buChar char="•"/>
            </a:pPr>
            <a:r>
              <a:rPr lang="en-US" sz="1150" b="1" dirty="0">
                <a:solidFill>
                  <a:schemeClr val="tx1"/>
                </a:solidFill>
              </a:rPr>
              <a:t>Where it decided: </a:t>
            </a:r>
            <a:pPr indent="0" marL="0">
              <a:spcAft>
                <a:spcPts val="600"/>
              </a:spcAft>
              <a:buNone/>
            </a:pPr>
            <a:r>
              <a:rPr lang="en-US" sz="1150" dirty="0">
                <a:solidFill>
                  <a:schemeClr val="tx1"/>
                </a:solidFill>
              </a:rPr>
              <a:t>Opus B had Barclaycard joint first with HSBC and chose HSBC on fee. Runs changed: 2 of 8.</a:t>
            </a:r>
            <a:endParaRPr lang="en-US" sz="1150" dirty="0"/>
          </a:p>
          <a:p>
            <a:pPr marL="177800" indent="-177800">
              <a:spcAft>
                <a:spcPts val="600"/>
              </a:spcAft>
              <a:buSzPct val="100000"/>
              <a:buChar char="•"/>
            </a:pPr>
            <a:r>
              <a:rPr lang="en-US" sz="1150" b="1" dirty="0">
                <a:solidFill>
                  <a:schemeClr val="tx1"/>
                </a:solidFill>
              </a:rPr>
              <a:t>The 24 and 21 month cards at 3.45% </a:t>
            </a:r>
            <a:pPr indent="0" marL="0">
              <a:spcAft>
                <a:spcPts val="600"/>
              </a:spcAft>
              <a:buNone/>
            </a:pPr>
            <a:r>
              <a:rPr lang="en-US" sz="1150" dirty="0">
                <a:solidFill>
                  <a:schemeClr val="tx1"/>
                </a:solidFill>
              </a:rPr>
              <a:t>were rejected in every run that saw them: over the ceiling and shorter than the 36 month card.</a:t>
            </a:r>
            <a:endParaRPr lang="en-US" sz="1150" dirty="0"/>
          </a:p>
        </p:txBody>
      </p:sp>
      <p:sp>
        <p:nvSpPr>
          <p:cNvPr id="10"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11"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Recompute each bar from the fee on the provider's page. Falsified if Barclaycard's 36 month fee is at or below 3.09%, or if Opus B's turn 4 gives a reason other than fee and certainty for choosing HSBC.</a:t>
            </a:r>
            <a:endParaRPr lang="en-US" sz="11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ground_truth.md (Barclaycard 3.15%, HSBC 3.09%, MSE table); transcripts/A-haiku.md, A-opus.md, B-opus.md turns 3 and 4.</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4: HSBC states who can apply; Barclaycard's pages do not, so the models treat HSBC as the safer first application</a:t>
            </a:r>
            <a:endParaRPr lang="en-US" sz="2600" dirty="0"/>
          </a:p>
        </p:txBody>
      </p:sp>
      <p:pic>
        <p:nvPicPr>
          <p:cNvPr id="3" name="E7_hsbc_eligibility_and_subject_to_status.jpg" descr="/home/user/cc_yolo_project/Oct11_3pm/deck/evidence/E7_hsbc_eligibility_and_subject_to_status.jpg">    </p:cNvPr>
          <p:cNvPicPr>
            <a:picLocks noChangeAspect="1"/>
          </p:cNvPicPr>
          <p:nvPr/>
        </p:nvPicPr>
        <p:blipFill>
          <a:blip r:embed="rId1"/>
          <a:stretch>
            <a:fillRect/>
          </a:stretch>
        </p:blipFill>
        <p:spPr>
          <a:xfrm>
            <a:off x="457200" y="1325880"/>
            <a:ext cx="4575325" cy="3931920"/>
          </a:xfrm>
          <a:prstGeom prst="rect">
            <a:avLst/>
          </a:prstGeom>
          <a:effectLst>
            <a:outerShdw sx="100000" sy="100000" kx="0" ky="0" algn="bl" rotWithShape="0" blurRad="50800" dist="25400" dir="2700000">
              <a:srgbClr val="0B2E59">
                <a:alpha val="25000"/>
              </a:srgbClr>
            </a:outerShdw>
          </a:effectLst>
        </p:spPr>
      </p:pic>
      <p:sp>
        <p:nvSpPr>
          <p:cNvPr id="4" name="caption E7_hsbc_eligibility_and_subject_to_status.jpg"/>
          <p:cNvSpPr txBox="1"/>
          <p:nvPr/>
        </p:nvSpPr>
        <p:spPr>
          <a:xfrm>
            <a:off x="457200" y="5303520"/>
            <a:ext cx="4575325" cy="320040"/>
          </a:xfrm>
          <a:prstGeom prst="rect">
            <a:avLst/>
          </a:prstGeom>
          <a:noFill/>
          <a:ln/>
        </p:spPr>
        <p:txBody>
          <a:bodyPr wrap="square" lIns="0" tIns="0" rIns="0" bIns="0" rtlCol="0" anchor="t"/>
          <a:lstStyle/>
          <a:p>
            <a:pPr indent="0" marL="0">
              <a:buNone/>
            </a:pPr>
            <a:r>
              <a:rPr lang="en-US" sz="900" i="1" dirty="0">
                <a:solidFill>
                  <a:schemeClr val="tx2"/>
                </a:solidFill>
              </a:rPr>
              <a:t>hsbc.co.uk: “Who can apply?” lists age, residency, £6,800 income, exclusions</a:t>
            </a:r>
            <a:endParaRPr lang="en-US" sz="900" dirty="0"/>
          </a:p>
        </p:txBody>
      </p:sp>
      <p:pic>
        <p:nvPicPr>
          <p:cNvPr id="5" name="E1b_bc36_if_you_apply_box.jpg" descr="/home/user/cc_yolo_project/Oct11_3pm/deck/evidence/E1b_bc36_if_you_apply_box.jpg">    </p:cNvPr>
          <p:cNvPicPr>
            <a:picLocks noChangeAspect="1"/>
          </p:cNvPicPr>
          <p:nvPr/>
        </p:nvPicPr>
        <p:blipFill>
          <a:blip r:embed="rId2"/>
          <a:stretch>
            <a:fillRect/>
          </a:stretch>
        </p:blipFill>
        <p:spPr>
          <a:xfrm>
            <a:off x="5440680" y="1325880"/>
            <a:ext cx="3017520" cy="1551867"/>
          </a:xfrm>
          <a:prstGeom prst="rect">
            <a:avLst/>
          </a:prstGeom>
          <a:effectLst>
            <a:outerShdw sx="100000" sy="100000" kx="0" ky="0" algn="bl" rotWithShape="0" blurRad="50800" dist="25400" dir="2700000">
              <a:srgbClr val="0B2E59">
                <a:alpha val="25000"/>
              </a:srgbClr>
            </a:outerShdw>
          </a:effectLst>
        </p:spPr>
      </p:pic>
      <p:sp>
        <p:nvSpPr>
          <p:cNvPr id="6" name="caption E1b_bc36_if_you_apply_box.jpg"/>
          <p:cNvSpPr txBox="1"/>
          <p:nvPr/>
        </p:nvSpPr>
        <p:spPr>
          <a:xfrm>
            <a:off x="5440680" y="2923467"/>
            <a:ext cx="3017520" cy="320040"/>
          </a:xfrm>
          <a:prstGeom prst="rect">
            <a:avLst/>
          </a:prstGeom>
          <a:noFill/>
          <a:ln/>
        </p:spPr>
        <p:txBody>
          <a:bodyPr wrap="square" lIns="0" tIns="0" rIns="0" bIns="0" rtlCol="0" anchor="t"/>
          <a:lstStyle/>
          <a:p>
            <a:pPr indent="0" marL="0">
              <a:buNone/>
            </a:pPr>
            <a:r>
              <a:rPr lang="en-US" sz="900" i="1" dirty="0">
                <a:solidFill>
                  <a:schemeClr val="tx2"/>
                </a:solidFill>
              </a:rPr>
              <a:t>barclaycard.co.uk, 36 month card: the only eligibility text on the listing page</a:t>
            </a:r>
            <a:endParaRPr lang="en-US" sz="900" dirty="0"/>
          </a:p>
        </p:txBody>
      </p:sp>
      <p:sp>
        <p:nvSpPr>
          <p:cNvPr id="7" name="body text"/>
          <p:cNvSpPr txBox="1"/>
          <p:nvPr/>
        </p:nvSpPr>
        <p:spPr>
          <a:xfrm>
            <a:off x="8686800" y="1325880"/>
            <a:ext cx="3063240" cy="411480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All eight web runs </a:t>
            </a:r>
            <a:pPr indent="0" marL="0">
              <a:spcAft>
                <a:spcPts val="600"/>
              </a:spcAft>
              <a:buNone/>
            </a:pPr>
            <a:r>
              <a:rPr lang="en-US" sz="1150" dirty="0">
                <a:solidFill>
                  <a:schemeClr val="tx1"/>
                </a:solidFill>
              </a:rPr>
              <a:t>listed eligibility criteria (age, income, residency, excluded products) as the first thing missing from provider pages when asked at turn 5.</a:t>
            </a:r>
            <a:endParaRPr lang="en-US" sz="1150" dirty="0"/>
          </a:p>
          <a:p>
            <a:pPr marL="177800" indent="-177800">
              <a:spcAft>
                <a:spcPts val="600"/>
              </a:spcAft>
              <a:buSzPct val="100000"/>
              <a:buChar char="•"/>
            </a:pPr>
            <a:r>
              <a:rPr lang="en-US" sz="1150" b="1" dirty="0">
                <a:solidFill>
                  <a:schemeClr val="tx1"/>
                </a:solidFill>
              </a:rPr>
              <a:t>Haiku A: </a:t>
            </a:r>
            <a:pPr indent="0" marL="0">
              <a:spcAft>
                <a:spcPts val="600"/>
              </a:spcAft>
              <a:buNone/>
            </a:pPr>
            <a:r>
              <a:rPr lang="en-US" sz="1150" dirty="0">
                <a:solidFill>
                  <a:schemeClr val="tx1"/>
                </a:solidFill>
              </a:rPr>
              <a:t>“No minimum income is stated on the page.” Haiku A and Opus A used HSBC's explicit criteria to rank HSBC first and Barclaycard as the fallback “if HSBC's income or residency rules fail”.</a:t>
            </a:r>
            <a:endParaRPr lang="en-US" sz="1150" dirty="0"/>
          </a:p>
          <a:p>
            <a:pPr marL="177800" indent="-177800">
              <a:spcAft>
                <a:spcPts val="600"/>
              </a:spcAft>
              <a:buSzPct val="100000"/>
              <a:buChar char="•"/>
            </a:pPr>
            <a:r>
              <a:rPr lang="en-US" sz="1150" b="1" dirty="0">
                <a:solidFill>
                  <a:schemeClr val="tx1"/>
                </a:solidFill>
              </a:rPr>
              <a:t>Also missing on every Barclaycard page, per the models: </a:t>
            </a:r>
            <a:pPr indent="0" marL="0">
              <a:spcAft>
                <a:spcPts val="600"/>
              </a:spcAft>
              <a:buNone/>
            </a:pPr>
            <a:r>
              <a:rPr lang="en-US" sz="1150" dirty="0">
                <a:solidFill>
                  <a:schemeClr val="tx1"/>
                </a:solidFill>
              </a:rPr>
              <a:t>whether the checker is a soft search, the typical credit limit, the fee for late transfers, and a “correct as of” date.</a:t>
            </a:r>
            <a:endParaRPr lang="en-US" sz="1150" dirty="0"/>
          </a:p>
          <a:p>
            <a:pPr marL="177800" indent="-177800">
              <a:spcAft>
                <a:spcPts val="600"/>
              </a:spcAft>
              <a:buSzPct val="100000"/>
              <a:buChar char="•"/>
            </a:pPr>
            <a:r>
              <a:rPr lang="en-US" sz="1150" b="1" dirty="0">
                <a:solidFill>
                  <a:schemeClr val="tx1"/>
                </a:solidFill>
              </a:rPr>
              <a:t>Runs changed: 2 to 3 of 8.</a:t>
            </a:r>
            <a:endParaRPr lang="en-US" sz="1150" dirty="0"/>
          </a:p>
        </p:txBody>
      </p:sp>
      <p:sp>
        <p:nvSpPr>
          <p:cNvPr id="8"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9"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Open both pages and search for “income”. Falsified if a Barclaycard balance-transfer page states a minimum age, income or residency requirement, or if fewer than eight transcripts name eligibility as missing at turn 5.</a:t>
            </a:r>
            <a:endParaRPr lang="en-US" sz="11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evidence/E7, E1b, P1, P4; ground_truth.md lines 23 and 27; transcripts/*.md turn 5; A-haiku.md turn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5: on the 36 month card, two promotional bullets sit above the terms, and one model read the cashback condition as a card condition</a:t>
            </a:r>
            <a:endParaRPr lang="en-US" sz="2600" dirty="0"/>
          </a:p>
        </p:txBody>
      </p:sp>
      <p:pic>
        <p:nvPicPr>
          <p:cNvPr id="3" name="E1_bc36_offers_above_terms.jpg" descr="/home/user/cc_yolo_project/Oct11_3pm/deck/evidence/E1_bc36_offers_above_terms.jpg">    </p:cNvPr>
          <p:cNvPicPr>
            <a:picLocks noChangeAspect="1"/>
          </p:cNvPicPr>
          <p:nvPr/>
        </p:nvPicPr>
        <p:blipFill>
          <a:blip r:embed="rId1"/>
          <a:stretch>
            <a:fillRect/>
          </a:stretch>
        </p:blipFill>
        <p:spPr>
          <a:xfrm>
            <a:off x="457200" y="1325880"/>
            <a:ext cx="5242560" cy="3931920"/>
          </a:xfrm>
          <a:prstGeom prst="rect">
            <a:avLst/>
          </a:prstGeom>
          <a:effectLst>
            <a:outerShdw sx="100000" sy="100000" kx="0" ky="0" algn="bl" rotWithShape="0" blurRad="50800" dist="25400" dir="2700000">
              <a:srgbClr val="0B2E59">
                <a:alpha val="25000"/>
              </a:srgbClr>
            </a:outerShdw>
          </a:effectLst>
        </p:spPr>
      </p:pic>
      <p:sp>
        <p:nvSpPr>
          <p:cNvPr id="4" name="caption E1_bc36_offers_above_terms.jpg"/>
          <p:cNvSpPr txBox="1"/>
          <p:nvPr/>
        </p:nvSpPr>
        <p:spPr>
          <a:xfrm>
            <a:off x="457200" y="5303520"/>
            <a:ext cx="5242560" cy="320040"/>
          </a:xfrm>
          <a:prstGeom prst="rect">
            <a:avLst/>
          </a:prstGeom>
          <a:noFill/>
          <a:ln/>
        </p:spPr>
        <p:txBody>
          <a:bodyPr wrap="square" lIns="0" tIns="0" rIns="0" bIns="0" rtlCol="0" anchor="t"/>
          <a:lstStyle/>
          <a:p>
            <a:pPr indent="0" marL="0">
              <a:buNone/>
            </a:pPr>
            <a:r>
              <a:rPr lang="en-US" sz="900" i="1" dirty="0">
                <a:solidFill>
                  <a:schemeClr val="tx2"/>
                </a:solidFill>
              </a:rPr>
              <a:t>barclaycard.co.uk listing page: Apple TV and £20 cashback bullets precede the 0% term and the fee</a:t>
            </a:r>
            <a:endParaRPr lang="en-US" sz="900" dirty="0"/>
          </a:p>
        </p:txBody>
      </p:sp>
      <p:sp>
        <p:nvSpPr>
          <p:cNvPr id="5" name="quote bg"/>
          <p:cNvSpPr/>
          <p:nvPr/>
        </p:nvSpPr>
        <p:spPr>
          <a:xfrm>
            <a:off x="6035040" y="1325880"/>
            <a:ext cx="5715000" cy="1188720"/>
          </a:xfrm>
          <a:prstGeom prst="rect">
            <a:avLst/>
          </a:prstGeom>
          <a:solidFill>
            <a:schemeClr val="bg2"/>
          </a:solidFill>
          <a:ln w="12700">
            <a:solidFill>
              <a:schemeClr val="bg2"/>
            </a:solidFill>
            <a:prstDash val="solid"/>
          </a:ln>
        </p:spPr>
      </p:sp>
      <p:sp>
        <p:nvSpPr>
          <p:cNvPr id="6" name="quote text"/>
          <p:cNvSpPr txBox="1"/>
          <p:nvPr/>
        </p:nvSpPr>
        <p:spPr>
          <a:xfrm>
            <a:off x="6172200" y="1399032"/>
            <a:ext cx="5440680" cy="1042416"/>
          </a:xfrm>
          <a:prstGeom prst="rect">
            <a:avLst/>
          </a:prstGeom>
          <a:noFill/>
          <a:ln/>
        </p:spPr>
        <p:txBody>
          <a:bodyPr wrap="square" lIns="0" tIns="0" rIns="0" bIns="0" rtlCol="0" anchor="t"/>
          <a:lstStyle/>
          <a:p>
            <a:pPr indent="0" marL="0">
              <a:buNone/>
            </a:pPr>
            <a:r>
              <a:rPr lang="en-US" sz="1150" i="1" dirty="0">
                <a:solidFill>
                  <a:schemeClr val="tx1"/>
                </a:solidFill>
              </a:rPr>
              <a:t>“Platinum up to 36 month: not available to you. Barclaycard's page says it requires a Barclays personal current account, and its promotion ends on 20 October 2026. You bank with a building society, so I'd rule it out.”</a:t>
            </a:r>
            <a:endParaRPr lang="en-US" sz="1150" dirty="0"/>
          </a:p>
          <a:p>
            <a:pPr indent="0" marL="0">
              <a:buNone/>
            </a:pPr>
            <a:r>
              <a:rPr lang="en-US" sz="950" b="1" dirty="0">
                <a:solidFill>
                  <a:schemeClr val="accent1"/>
                </a:solidFill>
              </a:rPr>
              <a:t>Sonnet, profile B, turn 3 (transcripts/B-sonnet.md)</a:t>
            </a:r>
            <a:endParaRPr lang="en-US" sz="1150" dirty="0"/>
          </a:p>
        </p:txBody>
      </p:sp>
      <p:sp>
        <p:nvSpPr>
          <p:cNvPr id="7" name="body text"/>
          <p:cNvSpPr txBox="1"/>
          <p:nvPr/>
        </p:nvSpPr>
        <p:spPr>
          <a:xfrm>
            <a:off x="6035040" y="2651760"/>
            <a:ext cx="5715000" cy="274320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What the page says: </a:t>
            </a:r>
            <a:pPr indent="0" marL="0">
              <a:spcAft>
                <a:spcPts val="600"/>
              </a:spcAft>
              <a:buNone/>
            </a:pPr>
            <a:r>
              <a:rPr lang="en-US" sz="1150" dirty="0">
                <a:solidFill>
                  <a:schemeClr val="tx1"/>
                </a:solidFill>
              </a:rPr>
              <a:t>the current-account condition applies to the £20 cashback only. The card has no such requirement.</a:t>
            </a:r>
            <a:endParaRPr lang="en-US" sz="1150" dirty="0"/>
          </a:p>
          <a:p>
            <a:pPr marL="177800" indent="-177800">
              <a:spcAft>
                <a:spcPts val="600"/>
              </a:spcAft>
              <a:buSzPct val="100000"/>
              <a:buChar char="•"/>
            </a:pPr>
            <a:r>
              <a:rPr lang="en-US" sz="1150" b="1" dirty="0">
                <a:solidFill>
                  <a:schemeClr val="tx1"/>
                </a:solidFill>
              </a:rPr>
              <a:t>Why a model gets it wrong: </a:t>
            </a:r>
            <a:pPr indent="0" marL="0">
              <a:spcAft>
                <a:spcPts val="600"/>
              </a:spcAft>
              <a:buNone/>
            </a:pPr>
            <a:r>
              <a:rPr lang="en-US" sz="1150" dirty="0">
                <a:solidFill>
                  <a:schemeClr val="tx1"/>
                </a:solidFill>
              </a:rPr>
              <a:t>the models read a summarised page. The offer block is inside the card's feature list, next to the term and fee, so a summariser merges them. “Offer ends 20 October” also reads as the card ending.</a:t>
            </a:r>
            <a:endParaRPr lang="en-US" sz="1150" dirty="0"/>
          </a:p>
          <a:p>
            <a:pPr marL="177800" indent="-177800">
              <a:spcAft>
                <a:spcPts val="600"/>
              </a:spcAft>
              <a:buSzPct val="100000"/>
              <a:buChar char="•"/>
            </a:pPr>
            <a:r>
              <a:rPr lang="en-US" sz="1150" b="1" dirty="0">
                <a:solidFill>
                  <a:schemeClr val="tx1"/>
                </a:solidFill>
              </a:rPr>
              <a:t>Effect: </a:t>
            </a:r>
            <a:pPr indent="0" marL="0">
              <a:spcAft>
                <a:spcPts val="600"/>
              </a:spcAft>
              <a:buNone/>
            </a:pPr>
            <a:r>
              <a:rPr lang="en-US" sz="1150" dirty="0">
                <a:solidFill>
                  <a:schemeClr val="tx1"/>
                </a:solidFill>
              </a:rPr>
              <a:t>Sonnet B excluded the flagship card outright and repeated the error at turns 4 and 5. Runs changed: 1 of 8, but the wrong exclusion was of the headline product.</a:t>
            </a:r>
            <a:endParaRPr lang="en-US" sz="1150" dirty="0"/>
          </a:p>
          <a:p>
            <a:pPr marL="177800" indent="-177800">
              <a:spcAft>
                <a:spcPts val="600"/>
              </a:spcAft>
              <a:buSzPct val="100000"/>
              <a:buChar char="•"/>
            </a:pPr>
            <a:r>
              <a:rPr lang="en-US" sz="1150" b="1" dirty="0">
                <a:solidFill>
                  <a:schemeClr val="tx1"/>
                </a:solidFill>
              </a:rPr>
              <a:t>After 20 October </a:t>
            </a:r>
            <a:pPr indent="0" marL="0">
              <a:spcAft>
                <a:spcPts val="600"/>
              </a:spcAft>
              <a:buNone/>
            </a:pPr>
            <a:r>
              <a:rPr lang="en-US" sz="1150" dirty="0">
                <a:solidFill>
                  <a:schemeClr val="tx1"/>
                </a:solidFill>
              </a:rPr>
              <a:t>the offer text goes, and the cause with it, until the next promotion is placed the same way.</a:t>
            </a:r>
            <a:endParaRPr lang="en-US" sz="1150" dirty="0"/>
          </a:p>
        </p:txBody>
      </p:sp>
      <p:sp>
        <p:nvSpPr>
          <p:cNvPr id="8" name="test box"/>
          <p:cNvSpPr/>
          <p:nvPr/>
        </p:nvSpPr>
        <p:spPr>
          <a:xfrm>
            <a:off x="457200" y="5486400"/>
            <a:ext cx="11247120" cy="594360"/>
          </a:xfrm>
          <a:prstGeom prst="roundRect">
            <a:avLst>
              <a:gd name="adj" fmla="val 12308"/>
            </a:avLst>
          </a:prstGeom>
          <a:solidFill>
            <a:schemeClr val="bg2"/>
          </a:solidFill>
          <a:ln w="9525">
            <a:solidFill>
              <a:schemeClr val="accent5"/>
            </a:solidFill>
            <a:prstDash val="solid"/>
          </a:ln>
        </p:spPr>
      </p:sp>
      <p:sp>
        <p:nvSpPr>
          <p:cNvPr id="9" name="test text"/>
          <p:cNvSpPr txBox="1"/>
          <p:nvPr/>
        </p:nvSpPr>
        <p:spPr>
          <a:xfrm>
            <a:off x="594360" y="5532120"/>
            <a:ext cx="10972800" cy="50292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Open the listing page and read the 36 month block top to bottom; then read the cashback T&amp;Cs. Falsified if the card itself requires a Barclays current account, or if transcripts/B-sonnet.md turn 3 does not contain the quoted line.</a:t>
            </a:r>
            <a:endParaRPr lang="en-US" sz="11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evidence/E1, P1; ground_truth.md line 11; transcripts/B-sonnet.md turns 3, 4 and 5 (lines 119, 151, 180).</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Cause 6: 404s, broken images, an inconsistent APR line and no dates give the models reasons to trust a third-party figure over Barclaycard's</a:t>
            </a:r>
            <a:endParaRPr lang="en-US" sz="2600" dirty="0"/>
          </a:p>
        </p:txBody>
      </p:sp>
      <p:sp>
        <p:nvSpPr>
          <p:cNvPr id="3" name="body text"/>
          <p:cNvSpPr txBox="1"/>
          <p:nvPr/>
        </p:nvSpPr>
        <p:spPr>
          <a:xfrm>
            <a:off x="457200" y="1280160"/>
            <a:ext cx="4754880" cy="4160520"/>
          </a:xfrm>
          <a:prstGeom prst="rect">
            <a:avLst/>
          </a:prstGeom>
          <a:noFill/>
          <a:ln/>
        </p:spPr>
        <p:txBody>
          <a:bodyPr wrap="square" lIns="0" tIns="0" rIns="0" bIns="0" rtlCol="0" anchor="t"/>
          <a:lstStyle/>
          <a:p>
            <a:pPr marL="177800" indent="-177800">
              <a:spcAft>
                <a:spcPts val="600"/>
              </a:spcAft>
              <a:buSzPct val="100000"/>
              <a:buChar char="•"/>
            </a:pPr>
            <a:r>
              <a:rPr lang="en-US" sz="1150" b="1" dirty="0">
                <a:solidFill>
                  <a:schemeClr val="tx1"/>
                </a:solidFill>
              </a:rPr>
              <a:t>Product-level URLs fail. </a:t>
            </a:r>
            <a:pPr indent="0" marL="0">
              <a:spcAft>
                <a:spcPts val="600"/>
              </a:spcAft>
              <a:buNone/>
            </a:pPr>
            <a:r>
              <a:rPr lang="en-US" sz="1150" dirty="0">
                <a:solidFill>
                  <a:schemeClr val="tx1"/>
                </a:solidFill>
              </a:rPr>
              <a:t>Barclaycard product pages returned 404 in three runs; Opus B worked from the listing page and Opus A from a search results page. The bare /balance-transfer path is a 404 today.</a:t>
            </a:r>
            <a:endParaRPr lang="en-US" sz="1150" dirty="0"/>
          </a:p>
          <a:p>
            <a:pPr marL="177800" indent="-177800">
              <a:spcAft>
                <a:spcPts val="600"/>
              </a:spcAft>
              <a:buSzPct val="100000"/>
              <a:buChar char="•"/>
            </a:pPr>
            <a:r>
              <a:rPr lang="en-US" sz="1150" b="1" dirty="0">
                <a:solidFill>
                  <a:schemeClr val="tx1"/>
                </a:solidFill>
              </a:rPr>
              <a:t>barclays.co.uk shows broken card images </a:t>
            </a:r>
            <a:pPr indent="0" marL="0">
              <a:spcAft>
                <a:spcPts val="600"/>
              </a:spcAft>
              <a:buNone/>
            </a:pPr>
            <a:r>
              <a:rPr lang="en-US" sz="1150" dirty="0">
                <a:solidFill>
                  <a:schemeClr val="tx1"/>
                </a:solidFill>
              </a:rPr>
              <a:t>on three of its four cards, and omits the 22 month card.</a:t>
            </a:r>
            <a:endParaRPr lang="en-US" sz="1150" dirty="0"/>
          </a:p>
          <a:p>
            <a:pPr marL="177800" indent="-177800">
              <a:spcAft>
                <a:spcPts val="600"/>
              </a:spcAft>
              <a:buSzPct val="100000"/>
              <a:buChar char="•"/>
            </a:pPr>
            <a:r>
              <a:rPr lang="en-US" sz="1150" b="1" dirty="0">
                <a:solidFill>
                  <a:schemeClr val="tx1"/>
                </a:solidFill>
              </a:rPr>
              <a:t>A 28.9% APR line sits in the benefits section </a:t>
            </a:r>
            <a:pPr indent="0" marL="0">
              <a:spcAft>
                <a:spcPts val="600"/>
              </a:spcAft>
              <a:buNone/>
            </a:pPr>
            <a:r>
              <a:rPr lang="en-US" sz="1150" dirty="0">
                <a:solidFill>
                  <a:schemeClr val="tx1"/>
                </a:solidFill>
              </a:rPr>
              <a:t>of both the 22 month page and the Barclays listing, against the 24.9% headline. The 22 month page links a T&amp;C file named “core-2023.pdf”.</a:t>
            </a:r>
            <a:endParaRPr lang="en-US" sz="1150" dirty="0"/>
          </a:p>
          <a:p>
            <a:pPr marL="177800" indent="-177800">
              <a:spcAft>
                <a:spcPts val="600"/>
              </a:spcAft>
              <a:buSzPct val="100000"/>
              <a:buChar char="•"/>
            </a:pPr>
            <a:r>
              <a:rPr lang="en-US" sz="1150" b="1" dirty="0">
                <a:solidFill>
                  <a:schemeClr val="tx1"/>
                </a:solidFill>
              </a:rPr>
              <a:t>No “correct as of” date on any Barclaycard page. </a:t>
            </a:r>
            <a:pPr indent="0" marL="0">
              <a:spcAft>
                <a:spcPts val="600"/>
              </a:spcAft>
              <a:buNone/>
            </a:pPr>
            <a:r>
              <a:rPr lang="en-US" sz="1150" dirty="0">
                <a:solidFill>
                  <a:schemeClr val="tx1"/>
                </a:solidFill>
              </a:rPr>
              <a:t>Which? prints one; the models asked for one in every run.</a:t>
            </a:r>
            <a:endParaRPr lang="en-US" sz="1150" dirty="0"/>
          </a:p>
          <a:p>
            <a:pPr marL="177800" indent="-177800">
              <a:spcAft>
                <a:spcPts val="600"/>
              </a:spcAft>
              <a:buSzPct val="100000"/>
              <a:buChar char="•"/>
            </a:pPr>
            <a:r>
              <a:rPr lang="en-US" sz="1150" b="1" dirty="0">
                <a:solidFill>
                  <a:schemeClr val="tx1"/>
                </a:solidFill>
              </a:rPr>
              <a:t>Result: </a:t>
            </a:r>
            <a:pPr indent="0" marL="0">
              <a:spcAft>
                <a:spcPts val="600"/>
              </a:spcAft>
              <a:buNone/>
            </a:pPr>
            <a:r>
              <a:rPr lang="en-US" sz="1150" dirty="0">
                <a:solidFill>
                  <a:schemeClr val="tx1"/>
                </a:solidFill>
              </a:rPr>
              <a:t>Opus B, the Opus control and the Fable control carried a 3.45% fee for the long card from Money to the Masses (May 2026). Opus B corrected it only because it had opened barclaycard.co.uk the same turn.</a:t>
            </a:r>
            <a:endParaRPr lang="en-US" sz="1150" dirty="0"/>
          </a:p>
        </p:txBody>
      </p:sp>
      <p:pic>
        <p:nvPicPr>
          <p:cNvPr id="4" name="P7_barclaycard_404_balance-transfer.jpg" descr="/home/user/cc_yolo_project/Oct11_3pm/deck/evidence/P7_barclaycard_404_balance-transfer.jpg">    </p:cNvPr>
          <p:cNvPicPr>
            <a:picLocks noChangeAspect="1"/>
          </p:cNvPicPr>
          <p:nvPr/>
        </p:nvPicPr>
        <p:blipFill>
          <a:blip r:embed="rId1"/>
          <a:stretch>
            <a:fillRect/>
          </a:stretch>
        </p:blipFill>
        <p:spPr>
          <a:xfrm>
            <a:off x="5440680" y="1280160"/>
            <a:ext cx="3017520" cy="2121694"/>
          </a:xfrm>
          <a:prstGeom prst="rect">
            <a:avLst/>
          </a:prstGeom>
          <a:effectLst>
            <a:outerShdw sx="100000" sy="100000" kx="0" ky="0" algn="bl" rotWithShape="0" blurRad="50800" dist="25400" dir="2700000">
              <a:srgbClr val="0B2E59">
                <a:alpha val="25000"/>
              </a:srgbClr>
            </a:outerShdw>
          </a:effectLst>
        </p:spPr>
      </p:pic>
      <p:sp>
        <p:nvSpPr>
          <p:cNvPr id="5" name="caption P7_barclaycard_404_balance-transfer.jpg"/>
          <p:cNvSpPr txBox="1"/>
          <p:nvPr/>
        </p:nvSpPr>
        <p:spPr>
          <a:xfrm>
            <a:off x="5440680" y="3447574"/>
            <a:ext cx="3017520" cy="320040"/>
          </a:xfrm>
          <a:prstGeom prst="rect">
            <a:avLst/>
          </a:prstGeom>
          <a:noFill/>
          <a:ln/>
        </p:spPr>
        <p:txBody>
          <a:bodyPr wrap="square" lIns="0" tIns="0" rIns="0" bIns="0" rtlCol="0" anchor="t"/>
          <a:lstStyle/>
          <a:p>
            <a:pPr indent="0" marL="0">
              <a:buNone/>
            </a:pPr>
            <a:r>
              <a:rPr lang="en-US" sz="900" i="1" dirty="0">
                <a:solidFill>
                  <a:schemeClr val="tx2"/>
                </a:solidFill>
              </a:rPr>
              <a:t>barclaycard.co.uk/personal/credit-cards/balance-transfer: 404</a:t>
            </a:r>
            <a:endParaRPr lang="en-US" sz="900" dirty="0"/>
          </a:p>
        </p:txBody>
      </p:sp>
      <p:pic>
        <p:nvPicPr>
          <p:cNvPr id="6" name="E6_bc22_289_apr_in_benefits.jpg" descr="/home/user/cc_yolo_project/Oct11_3pm/deck/evidence/E6_bc22_289_apr_in_benefits.jpg">    </p:cNvPr>
          <p:cNvPicPr>
            <a:picLocks noChangeAspect="1"/>
          </p:cNvPicPr>
          <p:nvPr/>
        </p:nvPicPr>
        <p:blipFill>
          <a:blip r:embed="rId2"/>
          <a:stretch>
            <a:fillRect/>
          </a:stretch>
        </p:blipFill>
        <p:spPr>
          <a:xfrm>
            <a:off x="8686800" y="1280160"/>
            <a:ext cx="3063240" cy="1555552"/>
          </a:xfrm>
          <a:prstGeom prst="rect">
            <a:avLst/>
          </a:prstGeom>
          <a:effectLst>
            <a:outerShdw sx="100000" sy="100000" kx="0" ky="0" algn="bl" rotWithShape="0" blurRad="50800" dist="25400" dir="2700000">
              <a:srgbClr val="0B2E59">
                <a:alpha val="25000"/>
              </a:srgbClr>
            </a:outerShdw>
          </a:effectLst>
        </p:spPr>
      </p:pic>
      <p:sp>
        <p:nvSpPr>
          <p:cNvPr id="7" name="caption E6_bc22_289_apr_in_benefits.jpg"/>
          <p:cNvSpPr txBox="1"/>
          <p:nvPr/>
        </p:nvSpPr>
        <p:spPr>
          <a:xfrm>
            <a:off x="8686800" y="2881432"/>
            <a:ext cx="3063240" cy="320040"/>
          </a:xfrm>
          <a:prstGeom prst="rect">
            <a:avLst/>
          </a:prstGeom>
          <a:noFill/>
          <a:ln/>
        </p:spPr>
        <p:txBody>
          <a:bodyPr wrap="square" lIns="0" tIns="0" rIns="0" bIns="0" rtlCol="0" anchor="t"/>
          <a:lstStyle/>
          <a:p>
            <a:pPr indent="0" marL="0">
              <a:buNone/>
            </a:pPr>
            <a:r>
              <a:rPr lang="en-US" sz="900" i="1" dirty="0">
                <a:solidFill>
                  <a:schemeClr val="tx2"/>
                </a:solidFill>
              </a:rPr>
              <a:t>22 month page, benefits section: 28.9% APR</a:t>
            </a:r>
            <a:endParaRPr lang="en-US" sz="900" dirty="0"/>
          </a:p>
        </p:txBody>
      </p:sp>
      <p:pic>
        <p:nvPicPr>
          <p:cNvPr id="8" name="E3b_barclays_broken_image.jpg" descr="/home/user/cc_yolo_project/Oct11_3pm/deck/evidence/E3b_barclays_broken_image.jpg">    </p:cNvPr>
          <p:cNvPicPr>
            <a:picLocks noChangeAspect="1"/>
          </p:cNvPicPr>
          <p:nvPr/>
        </p:nvPicPr>
        <p:blipFill>
          <a:blip r:embed="rId3"/>
          <a:stretch>
            <a:fillRect/>
          </a:stretch>
        </p:blipFill>
        <p:spPr>
          <a:xfrm>
            <a:off x="5440680" y="3794760"/>
            <a:ext cx="4206240" cy="1542288"/>
          </a:xfrm>
          <a:prstGeom prst="rect">
            <a:avLst/>
          </a:prstGeom>
          <a:effectLst>
            <a:outerShdw sx="100000" sy="100000" kx="0" ky="0" algn="bl" rotWithShape="0" blurRad="50800" dist="25400" dir="2700000">
              <a:srgbClr val="0B2E59">
                <a:alpha val="25000"/>
              </a:srgbClr>
            </a:outerShdw>
          </a:effectLst>
        </p:spPr>
      </p:pic>
      <p:sp>
        <p:nvSpPr>
          <p:cNvPr id="9" name="caption E3b_barclays_broken_image.jpg"/>
          <p:cNvSpPr txBox="1"/>
          <p:nvPr/>
        </p:nvSpPr>
        <p:spPr>
          <a:xfrm>
            <a:off x="5440680" y="5382768"/>
            <a:ext cx="4206240" cy="320040"/>
          </a:xfrm>
          <a:prstGeom prst="rect">
            <a:avLst/>
          </a:prstGeom>
          <a:noFill/>
          <a:ln/>
        </p:spPr>
        <p:txBody>
          <a:bodyPr wrap="square" lIns="0" tIns="0" rIns="0" bIns="0" rtlCol="0" anchor="t"/>
          <a:lstStyle/>
          <a:p>
            <a:pPr indent="0" marL="0">
              <a:buNone/>
            </a:pPr>
            <a:r>
              <a:rPr lang="en-US" sz="900" i="1" dirty="0">
                <a:solidFill>
                  <a:schemeClr val="tx2"/>
                </a:solidFill>
              </a:rPr>
              <a:t>barclays.co.uk listing: alt text where the card image should be</a:t>
            </a:r>
            <a:endParaRPr lang="en-US" sz="900" dirty="0"/>
          </a:p>
        </p:txBody>
      </p:sp>
      <p:sp>
        <p:nvSpPr>
          <p:cNvPr id="10" name="test box"/>
          <p:cNvSpPr/>
          <p:nvPr/>
        </p:nvSpPr>
        <p:spPr>
          <a:xfrm>
            <a:off x="457200" y="5623560"/>
            <a:ext cx="11247120" cy="457200"/>
          </a:xfrm>
          <a:prstGeom prst="roundRect">
            <a:avLst>
              <a:gd name="adj" fmla="val 16000"/>
            </a:avLst>
          </a:prstGeom>
          <a:solidFill>
            <a:schemeClr val="bg2"/>
          </a:solidFill>
          <a:ln w="9525">
            <a:solidFill>
              <a:schemeClr val="accent5"/>
            </a:solidFill>
            <a:prstDash val="solid"/>
          </a:ln>
        </p:spPr>
      </p:sp>
      <p:sp>
        <p:nvSpPr>
          <p:cNvPr id="11" name="test text"/>
          <p:cNvSpPr txBox="1"/>
          <p:nvPr/>
        </p:nvSpPr>
        <p:spPr>
          <a:xfrm>
            <a:off x="594360" y="5669280"/>
            <a:ext cx="10972800" cy="36576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Open the four URLs in the appendix. Falsified if the 404 resolves, the images render, the 28.9% line is gone, or a date has been added. Any of these would also date this finding.</a:t>
            </a:r>
            <a:endParaRPr lang="en-US" sz="1100" dirty="0"/>
          </a:p>
        </p:txBody>
      </p:sp>
      <p:sp>
        <p:nvSpPr>
          <p:cNvPr id="1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evidence/P7, P8, E3b, E4, E6; ground_truth.md lines 19 and 23; transcripts/B-opus.md turn 3 (line 129), control/opus.md, control/fable.md.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Three conclusions the evidence does not support, so the fix is not spent on them</a:t>
            </a:r>
            <a:endParaRPr lang="en-US" sz="2600" dirty="0"/>
          </a:p>
        </p:txBody>
      </p:sp>
      <p:sp>
        <p:nvSpPr>
          <p:cNvPr id="3" name="not card 0"/>
          <p:cNvSpPr/>
          <p:nvPr/>
        </p:nvSpPr>
        <p:spPr>
          <a:xfrm>
            <a:off x="457200" y="1371600"/>
            <a:ext cx="3611880" cy="3840480"/>
          </a:xfrm>
          <a:prstGeom prst="roundRect">
            <a:avLst>
              <a:gd name="adj" fmla="val 2025"/>
            </a:avLst>
          </a:prstGeom>
          <a:solidFill>
            <a:schemeClr val="bg2"/>
          </a:solidFill>
          <a:ln w="9525">
            <a:solidFill>
              <a:schemeClr val="accent5"/>
            </a:solidFill>
            <a:prstDash val="solid"/>
          </a:ln>
        </p:spPr>
      </p:sp>
      <p:sp>
        <p:nvSpPr>
          <p:cNvPr id="4" name="not title 0"/>
          <p:cNvSpPr txBox="1"/>
          <p:nvPr/>
        </p:nvSpPr>
        <p:spPr>
          <a:xfrm>
            <a:off x="640080" y="1508760"/>
            <a:ext cx="3246120" cy="640080"/>
          </a:xfrm>
          <a:prstGeom prst="rect">
            <a:avLst/>
          </a:prstGeom>
          <a:noFill/>
          <a:ln/>
        </p:spPr>
        <p:txBody>
          <a:bodyPr wrap="square" lIns="0" tIns="0" rIns="0" bIns="0" rtlCol="0" anchor="t"/>
          <a:lstStyle/>
          <a:p>
            <a:pPr indent="0" marL="0">
              <a:buNone/>
            </a:pPr>
            <a:r>
              <a:rPr lang="en-US" sz="1600" b="1" dirty="0">
                <a:solidFill>
                  <a:schemeClr val="tx2"/>
                </a:solidFill>
              </a:rPr>
              <a:t>Not a brand-awareness problem</a:t>
            </a:r>
            <a:endParaRPr lang="en-US" sz="1600" dirty="0"/>
          </a:p>
        </p:txBody>
      </p:sp>
      <p:sp>
        <p:nvSpPr>
          <p:cNvPr id="5" name="not body 0"/>
          <p:cNvSpPr txBox="1"/>
          <p:nvPr/>
        </p:nvSpPr>
        <p:spPr>
          <a:xfrm>
            <a:off x="640080" y="2194560"/>
            <a:ext cx="3246120" cy="1920240"/>
          </a:xfrm>
          <a:prstGeom prst="rect">
            <a:avLst/>
          </a:prstGeom>
          <a:noFill/>
          <a:ln/>
        </p:spPr>
        <p:txBody>
          <a:bodyPr wrap="square" lIns="0" tIns="0" rIns="0" bIns="0" rtlCol="0" anchor="t"/>
          <a:lstStyle/>
          <a:p>
            <a:pPr indent="0" marL="0">
              <a:buNone/>
            </a:pPr>
            <a:r>
              <a:rPr lang="en-US" sz="1200" dirty="0">
                <a:solidFill>
                  <a:schemeClr val="tx1"/>
                </a:solidFill>
              </a:rPr>
              <a:t>With no web access every model names Barclaycard among the leaders; Haiku and Sonnet rank it first or second from memory. Advertising to the models' training data is not where the gap is.</a:t>
            </a:r>
            <a:endParaRPr lang="en-US" sz="1200" dirty="0"/>
          </a:p>
        </p:txBody>
      </p:sp>
      <p:sp>
        <p:nvSpPr>
          <p:cNvPr id="6" name="not test 0"/>
          <p:cNvSpPr txBox="1"/>
          <p:nvPr/>
        </p:nvSpPr>
        <p:spPr>
          <a:xfrm>
            <a:off x="640080" y="4206240"/>
            <a:ext cx="3246120" cy="914400"/>
          </a:xfrm>
          <a:prstGeom prst="rect">
            <a:avLst/>
          </a:prstGeom>
          <a:noFill/>
          <a:ln/>
        </p:spPr>
        <p:txBody>
          <a:bodyPr wrap="square" lIns="0" tIns="0" rIns="0" bIns="0" rtlCol="0" anchor="t"/>
          <a:lstStyle/>
          <a:p>
            <a:pPr indent="0" marL="0">
              <a:buNone/>
            </a:pPr>
            <a:r>
              <a:rPr lang="en-US" sz="1050" b="1" dirty="0">
                <a:solidFill>
                  <a:schemeClr val="accent1"/>
                </a:solidFill>
              </a:rPr>
              <a:t>Test: </a:t>
            </a:r>
            <a:pPr indent="0" marL="0">
              <a:buNone/>
            </a:pPr>
            <a:r>
              <a:rPr lang="en-US" sz="1050" dirty="0">
                <a:solidFill>
                  <a:schemeClr val="tx1"/>
                </a:solidFill>
              </a:rPr>
              <a:t>control/*.md turn 2. Falsified if a control run omits Barclaycard.</a:t>
            </a:r>
            <a:endParaRPr lang="en-US" sz="1050" dirty="0"/>
          </a:p>
        </p:txBody>
      </p:sp>
      <p:sp>
        <p:nvSpPr>
          <p:cNvPr id="7" name="not card 1"/>
          <p:cNvSpPr/>
          <p:nvPr/>
        </p:nvSpPr>
        <p:spPr>
          <a:xfrm>
            <a:off x="4251960" y="1371600"/>
            <a:ext cx="3611880" cy="3840480"/>
          </a:xfrm>
          <a:prstGeom prst="roundRect">
            <a:avLst>
              <a:gd name="adj" fmla="val 2025"/>
            </a:avLst>
          </a:prstGeom>
          <a:solidFill>
            <a:schemeClr val="bg2"/>
          </a:solidFill>
          <a:ln w="9525">
            <a:solidFill>
              <a:schemeClr val="accent5"/>
            </a:solidFill>
            <a:prstDash val="solid"/>
          </a:ln>
        </p:spPr>
      </p:sp>
      <p:sp>
        <p:nvSpPr>
          <p:cNvPr id="8" name="not title 1"/>
          <p:cNvSpPr txBox="1"/>
          <p:nvPr/>
        </p:nvSpPr>
        <p:spPr>
          <a:xfrm>
            <a:off x="4434840" y="1508760"/>
            <a:ext cx="3246120" cy="640080"/>
          </a:xfrm>
          <a:prstGeom prst="rect">
            <a:avLst/>
          </a:prstGeom>
          <a:noFill/>
          <a:ln/>
        </p:spPr>
        <p:txBody>
          <a:bodyPr wrap="square" lIns="0" tIns="0" rIns="0" bIns="0" rtlCol="0" anchor="t"/>
          <a:lstStyle/>
          <a:p>
            <a:pPr indent="0" marL="0">
              <a:buNone/>
            </a:pPr>
            <a:r>
              <a:rPr lang="en-US" sz="1600" b="1" dirty="0">
                <a:solidFill>
                  <a:schemeClr val="tx2"/>
                </a:solidFill>
              </a:rPr>
              <a:t>Not an accuracy problem on barclaycard.co.uk</a:t>
            </a:r>
            <a:endParaRPr lang="en-US" sz="1600" dirty="0"/>
          </a:p>
        </p:txBody>
      </p:sp>
      <p:sp>
        <p:nvSpPr>
          <p:cNvPr id="9" name="not body 1"/>
          <p:cNvSpPr txBox="1"/>
          <p:nvPr/>
        </p:nvSpPr>
        <p:spPr>
          <a:xfrm>
            <a:off x="4434840" y="2194560"/>
            <a:ext cx="3246120" cy="1920240"/>
          </a:xfrm>
          <a:prstGeom prst="rect">
            <a:avLst/>
          </a:prstGeom>
          <a:noFill/>
          <a:ln/>
        </p:spPr>
        <p:txBody>
          <a:bodyPr wrap="square" lIns="0" tIns="0" rIns="0" bIns="0" rtlCol="0" anchor="t"/>
          <a:lstStyle/>
          <a:p>
            <a:pPr indent="0" marL="0">
              <a:buNone/>
            </a:pPr>
            <a:r>
              <a:rPr lang="en-US" sz="1200" dirty="0">
                <a:solidFill>
                  <a:schemeClr val="tx1"/>
                </a:solidFill>
              </a:rPr>
              <a:t>Every figure a model read from the Barclaycard page (36m, 3.15%, 22m, 1.49%, 24.9%, 60 days, 12m no fee) was reported correctly, in all runs that opened it. The errors came from a page the model could not reach, from third-party sites, or from one summariser merge.</a:t>
            </a:r>
            <a:endParaRPr lang="en-US" sz="1200" dirty="0"/>
          </a:p>
        </p:txBody>
      </p:sp>
      <p:sp>
        <p:nvSpPr>
          <p:cNvPr id="10" name="not test 1"/>
          <p:cNvSpPr txBox="1"/>
          <p:nvPr/>
        </p:nvSpPr>
        <p:spPr>
          <a:xfrm>
            <a:off x="4434840" y="4206240"/>
            <a:ext cx="3246120" cy="914400"/>
          </a:xfrm>
          <a:prstGeom prst="rect">
            <a:avLst/>
          </a:prstGeom>
          <a:noFill/>
          <a:ln/>
        </p:spPr>
        <p:txBody>
          <a:bodyPr wrap="square" lIns="0" tIns="0" rIns="0" bIns="0" rtlCol="0" anchor="t"/>
          <a:lstStyle/>
          <a:p>
            <a:pPr indent="0" marL="0">
              <a:buNone/>
            </a:pPr>
            <a:r>
              <a:rPr lang="en-US" sz="1050" b="1" dirty="0">
                <a:solidFill>
                  <a:schemeClr val="accent1"/>
                </a:solidFill>
              </a:rPr>
              <a:t>Test: </a:t>
            </a:r>
            <a:pPr indent="0" marL="0">
              <a:buNone/>
            </a:pPr>
            <a:r>
              <a:rPr lang="en-US" sz="1050" dirty="0">
                <a:solidFill>
                  <a:schemeClr val="tx1"/>
                </a:solidFill>
              </a:rPr>
              <a:t>summary.md section 2. Falsified if a transcript misquotes a figure it read from barclaycard.co.uk.</a:t>
            </a:r>
            <a:endParaRPr lang="en-US" sz="1050" dirty="0"/>
          </a:p>
        </p:txBody>
      </p:sp>
      <p:sp>
        <p:nvSpPr>
          <p:cNvPr id="11" name="not card 2"/>
          <p:cNvSpPr/>
          <p:nvPr/>
        </p:nvSpPr>
        <p:spPr>
          <a:xfrm>
            <a:off x="8046720" y="1371600"/>
            <a:ext cx="3611880" cy="3840480"/>
          </a:xfrm>
          <a:prstGeom prst="roundRect">
            <a:avLst>
              <a:gd name="adj" fmla="val 2025"/>
            </a:avLst>
          </a:prstGeom>
          <a:solidFill>
            <a:schemeClr val="bg2"/>
          </a:solidFill>
          <a:ln w="9525">
            <a:solidFill>
              <a:schemeClr val="accent5"/>
            </a:solidFill>
            <a:prstDash val="solid"/>
          </a:ln>
        </p:spPr>
      </p:sp>
      <p:sp>
        <p:nvSpPr>
          <p:cNvPr id="12" name="not title 2"/>
          <p:cNvSpPr txBox="1"/>
          <p:nvPr/>
        </p:nvSpPr>
        <p:spPr>
          <a:xfrm>
            <a:off x="8229600" y="1508760"/>
            <a:ext cx="3246120" cy="640080"/>
          </a:xfrm>
          <a:prstGeom prst="rect">
            <a:avLst/>
          </a:prstGeom>
          <a:noFill/>
          <a:ln/>
        </p:spPr>
        <p:txBody>
          <a:bodyPr wrap="square" lIns="0" tIns="0" rIns="0" bIns="0" rtlCol="0" anchor="t"/>
          <a:lstStyle/>
          <a:p>
            <a:pPr indent="0" marL="0">
              <a:buNone/>
            </a:pPr>
            <a:r>
              <a:rPr lang="en-US" sz="1600" b="1" dirty="0">
                <a:solidFill>
                  <a:schemeClr val="tx2"/>
                </a:solidFill>
              </a:rPr>
              <a:t>Not a single-model quirk</a:t>
            </a:r>
            <a:endParaRPr lang="en-US" sz="1600" dirty="0"/>
          </a:p>
        </p:txBody>
      </p:sp>
      <p:sp>
        <p:nvSpPr>
          <p:cNvPr id="13" name="not body 2"/>
          <p:cNvSpPr txBox="1"/>
          <p:nvPr/>
        </p:nvSpPr>
        <p:spPr>
          <a:xfrm>
            <a:off x="8229600" y="2194560"/>
            <a:ext cx="3246120" cy="1920240"/>
          </a:xfrm>
          <a:prstGeom prst="rect">
            <a:avLst/>
          </a:prstGeom>
          <a:noFill/>
          <a:ln/>
        </p:spPr>
        <p:txBody>
          <a:bodyPr wrap="square" lIns="0" tIns="0" rIns="0" bIns="0" rtlCol="0" anchor="t"/>
          <a:lstStyle/>
          <a:p>
            <a:pPr indent="0" marL="0">
              <a:buNone/>
            </a:pPr>
            <a:r>
              <a:rPr lang="en-US" sz="1200" dirty="0">
                <a:solidFill>
                  <a:schemeClr val="tx1"/>
                </a:solidFill>
              </a:rPr>
              <a:t>The unprompted exclusion happened in all four model families and both credit profiles. The one unprompted inclusion (Fable A) came from opening barclaycard.co.uk at turn 1, which is what action 1 would make unnecessary.</a:t>
            </a:r>
            <a:endParaRPr lang="en-US" sz="1200" dirty="0"/>
          </a:p>
        </p:txBody>
      </p:sp>
      <p:sp>
        <p:nvSpPr>
          <p:cNvPr id="14" name="not test 2"/>
          <p:cNvSpPr txBox="1"/>
          <p:nvPr/>
        </p:nvSpPr>
        <p:spPr>
          <a:xfrm>
            <a:off x="8229600" y="4206240"/>
            <a:ext cx="3246120" cy="914400"/>
          </a:xfrm>
          <a:prstGeom prst="rect">
            <a:avLst/>
          </a:prstGeom>
          <a:noFill/>
          <a:ln/>
        </p:spPr>
        <p:txBody>
          <a:bodyPr wrap="square" lIns="0" tIns="0" rIns="0" bIns="0" rtlCol="0" anchor="t"/>
          <a:lstStyle/>
          <a:p>
            <a:pPr indent="0" marL="0">
              <a:buNone/>
            </a:pPr>
            <a:r>
              <a:rPr lang="en-US" sz="1050" b="1" dirty="0">
                <a:solidFill>
                  <a:schemeClr val="accent1"/>
                </a:solidFill>
              </a:rPr>
              <a:t>Test: </a:t>
            </a:r>
            <a:pPr indent="0" marL="0">
              <a:buNone/>
            </a:pPr>
            <a:r>
              <a:rPr lang="en-US" sz="1050" dirty="0">
                <a:solidFill>
                  <a:schemeClr val="tx1"/>
                </a:solidFill>
              </a:rPr>
              <a:t>results.csv column barclaycard_in_t2_top3. Falsified if the pattern is confined to one model.</a:t>
            </a:r>
            <a:endParaRPr lang="en-US" sz="1050" dirty="0"/>
          </a:p>
        </p:txBody>
      </p:sp>
      <p:sp>
        <p:nvSpPr>
          <p:cNvPr id="1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Oct11_3pm/control/*.md; summary.md sections 1, 2 and 4; results.csv.</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Eight actions, ranked by how much of the observed loss each would recover</a:t>
            </a:r>
            <a:endParaRPr lang="en-US" sz="2600" dirty="0"/>
          </a:p>
        </p:txBody>
      </p:sp>
      <p:graphicFrame>
        <p:nvGraphicFramePr>
          <p:cNvPr id="18" name="actions table"/>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65760"/>
                <a:gridCol w="4572000"/>
                <a:gridCol w="1005840"/>
                <a:gridCol w="2743200"/>
                <a:gridCol w="2560320"/>
              </a:tblGrid>
              <a:tr h="457200">
                <a:tc>
                  <a:txBody>
                    <a:bodyPr/>
                    <a:lstStyle/>
                    <a:p>
                      <a:pPr indent="0" marL="0">
                        <a:buNone/>
                      </a:pPr>
                      <a:r>
                        <a:rPr lang="en-US" sz="1050" b="1" dirty="0">
                          <a:solidFill>
                            <a:srgbClr val="FFFFFF"/>
                          </a:solidFill>
                        </a:rPr>
                        <a:t>#</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Action</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Evidence</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Runs it would have changed</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Effort</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1000" b="1" dirty="0">
                          <a:solidFill>
                            <a:srgbClr val="0A1F3D"/>
                          </a:solidFill>
                        </a:rPr>
                        <a:t>1</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Get the 22 month 1.49% card into the MSE and Which? tables and onto barclays.co.uk</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Slide 9</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5 of 8. The only action that reaches the unprompted shortlist</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Low: data submission to two editors, one internal listing</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1000" b="1" dirty="0">
                          <a:solidFill>
                            <a:srgbClr val="0A1F3D"/>
                          </a:solidFill>
                        </a:rPr>
                        <a:t>2</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Publish the “7 in 10 get the longest period” statistic on the 36 month card and the listing page; give MSE the real tier split</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Slides 10, 11</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4 of 8</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Low: the number already exists for the 22 month card</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1000" b="1" dirty="0">
                          <a:solidFill>
                            <a:srgbClr val="0A1F3D"/>
                          </a:solidFill>
                        </a:rPr>
                        <a:t>3</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Move offer text (Apple TV, cashback) out of the card's term-and-fee block, under its own heading</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Slide 14</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1 of 8, but a wrong exclusion of the flagship card</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00" dirty="0">
                          <a:solidFill>
                            <a:srgbClr val="0A1F3D"/>
                          </a:solidFill>
                        </a:rPr>
                        <a:t>Low: page layout</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1000" b="1" dirty="0">
                          <a:solidFill>
                            <a:srgbClr val="0A1F3D"/>
                          </a:solidFill>
                        </a:rPr>
                        <a:t>4</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Publish eligibility criteria on every product page: age, residency, income, excluded products, soft-search statement</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Slide 13</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 to 3 of 8; all 8 flagged it</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Medium: compliance sign-off</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0A1F3D"/>
                          </a:solidFill>
                        </a:rPr>
                        <a:t>5</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Stable product-level URLs for each card; align barclays.co.uk with barclaycard.co.uk; fix broken images</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Slide 15</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 of 8</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Medium: web operations</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0A1F3D"/>
                          </a:solidFill>
                        </a:rPr>
                        <a:t>6</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Add “correct as of” dates; remove the 28.9% line from benefits; rename the 2023 T&amp;C file</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Slide 15</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0 directly; every run asked for a date</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Low</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0A1F3D"/>
                          </a:solidFill>
                        </a:rPr>
                        <a:t>7</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Review 3.15% against HSBC's 3.09% and the 3.00% round-number filter, or print the pound cost next to the rate</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Slide 12</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2 of 8</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Commercial decision</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0A1F3D"/>
                          </a:solidFill>
                        </a:rPr>
                        <a:t>8</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Ask Money to the Masses, Finder and lovemoney to refresh Barclaycard figures</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Slide 15</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1 of 8, plus two controls</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00" dirty="0">
                          <a:solidFill>
                            <a:srgbClr val="0A1F3D"/>
                          </a:solidFill>
                        </a:rPr>
                        <a:t>Low: outreach</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table note"/>
          <p:cNvSpPr txBox="1"/>
          <p:nvPr/>
        </p:nvSpPr>
        <p:spPr>
          <a:xfrm>
            <a:off x="457200" y="5669280"/>
            <a:ext cx="11247120" cy="411480"/>
          </a:xfrm>
          <a:prstGeom prst="rect">
            <a:avLst/>
          </a:prstGeom>
          <a:noFill/>
          <a:ln/>
        </p:spPr>
        <p:txBody>
          <a:bodyPr wrap="square" lIns="0" tIns="0" rIns="0" bIns="0" rtlCol="0" anchor="ctr"/>
          <a:lstStyle/>
          <a:p>
            <a:pPr indent="0" marL="0">
              <a:buNone/>
            </a:pPr>
            <a:r>
              <a:rPr lang="en-US" sz="1000" i="1" dirty="0">
                <a:solidFill>
                  <a:schemeClr val="tx2"/>
                </a:solidFill>
              </a:rPr>
              <a:t>Shaded rows are the three actions proposed for approval today. “Runs it would have changed” counts runs in which the models gave that cause as a reason for ranking Barclaycard lower.</a:t>
            </a:r>
            <a:endParaRPr lang="en-US" sz="1000" dirty="0"/>
          </a:p>
        </p:txBody>
      </p:sp>
      <p:sp>
        <p:nvSpPr>
          <p:cNvPr id="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Oct11_3pm/barclays_recommendation.md section 3; counts from the cause slides.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Decision today, and how we will know it worked</a:t>
            </a:r>
            <a:endParaRPr lang="en-US" sz="2600" dirty="0"/>
          </a:p>
        </p:txBody>
      </p:sp>
      <p:sp>
        <p:nvSpPr>
          <p:cNvPr id="3" name="decision card"/>
          <p:cNvSpPr/>
          <p:nvPr/>
        </p:nvSpPr>
        <p:spPr>
          <a:xfrm>
            <a:off x="457200" y="1325880"/>
            <a:ext cx="4846320" cy="4114800"/>
          </a:xfrm>
          <a:prstGeom prst="roundRect">
            <a:avLst>
              <a:gd name="adj" fmla="val 1778"/>
            </a:avLst>
          </a:prstGeom>
          <a:solidFill>
            <a:schemeClr val="accent4"/>
          </a:solidFill>
          <a:ln w="12700">
            <a:solidFill>
              <a:schemeClr val="accent4"/>
            </a:solidFill>
            <a:prstDash val="solid"/>
          </a:ln>
        </p:spPr>
      </p:sp>
      <p:sp>
        <p:nvSpPr>
          <p:cNvPr id="4" name="approve title"/>
          <p:cNvSpPr txBox="1"/>
          <p:nvPr/>
        </p:nvSpPr>
        <p:spPr>
          <a:xfrm>
            <a:off x="685800" y="1463040"/>
            <a:ext cx="4389120" cy="411480"/>
          </a:xfrm>
          <a:prstGeom prst="rect">
            <a:avLst/>
          </a:prstGeom>
          <a:noFill/>
          <a:ln/>
        </p:spPr>
        <p:txBody>
          <a:bodyPr wrap="square" lIns="0" tIns="0" rIns="0" bIns="0" rtlCol="0" anchor="ctr"/>
          <a:lstStyle/>
          <a:p>
            <a:pPr indent="0" marL="0">
              <a:buNone/>
            </a:pPr>
            <a:r>
              <a:rPr lang="en-US" sz="1800" b="1" dirty="0">
                <a:solidFill>
                  <a:schemeClr val="bg1"/>
                </a:solidFill>
              </a:rPr>
              <a:t>Approve</a:t>
            </a:r>
            <a:endParaRPr lang="en-US" sz="1800" dirty="0"/>
          </a:p>
        </p:txBody>
      </p:sp>
      <p:sp>
        <p:nvSpPr>
          <p:cNvPr id="5" name="approve list"/>
          <p:cNvSpPr txBox="1"/>
          <p:nvPr/>
        </p:nvSpPr>
        <p:spPr>
          <a:xfrm>
            <a:off x="685800" y="1920240"/>
            <a:ext cx="4389120" cy="3383280"/>
          </a:xfrm>
          <a:prstGeom prst="rect">
            <a:avLst/>
          </a:prstGeom>
          <a:noFill/>
          <a:ln/>
        </p:spPr>
        <p:txBody>
          <a:bodyPr wrap="square" lIns="0" tIns="0" rIns="0" bIns="0" rtlCol="0" anchor="t"/>
          <a:lstStyle/>
          <a:p>
            <a:pPr indent="0" marL="0">
              <a:spcAft>
                <a:spcPts val="800"/>
              </a:spcAft>
              <a:buNone/>
            </a:pPr>
            <a:r>
              <a:rPr lang="en-US" sz="1300" dirty="0">
                <a:solidFill>
                  <a:schemeClr val="bg1"/>
                </a:solidFill>
              </a:rPr>
              <a:t>1  Submit the 22 month 1.49% card to MSE and Which?, and list it on barclays.co.uk</a:t>
            </a:r>
            <a:endParaRPr lang="en-US" sz="1300" dirty="0"/>
          </a:p>
          <a:p>
            <a:pPr indent="0" marL="0">
              <a:spcAft>
                <a:spcPts val="800"/>
              </a:spcAft>
              <a:buNone/>
            </a:pPr>
            <a:r>
              <a:rPr lang="en-US" sz="1300" dirty="0">
                <a:solidFill>
                  <a:schemeClr val="bg1"/>
                </a:solidFill>
              </a:rPr>
              <a:t>2  Add the “7 in 10” statement to the 36 month card and share the tier split with MSE</a:t>
            </a:r>
            <a:endParaRPr lang="en-US" sz="1300" dirty="0"/>
          </a:p>
          <a:p>
            <a:pPr indent="0" marL="0">
              <a:spcAft>
                <a:spcPts val="800"/>
              </a:spcAft>
              <a:buNone/>
            </a:pPr>
            <a:r>
              <a:rPr lang="en-US" sz="1300" dirty="0">
                <a:solidFill>
                  <a:schemeClr val="bg1"/>
                </a:solidFill>
              </a:rPr>
              <a:t>3  Separate promotional text from card terms on the listing page before the next offer launches</a:t>
            </a:r>
            <a:endParaRPr lang="en-US" sz="1300" dirty="0"/>
          </a:p>
          <a:p>
            <a:pPr indent="0" marL="0">
              <a:buNone/>
            </a:pPr>
            <a:r>
              <a:rPr lang="en-US" sz="1300" dirty="0">
                <a:solidFill>
                  <a:schemeClr val="bg1"/>
                </a:solidFill>
              </a:rPr>
              <a:t>4  A monthly rerun of this protocol, same persona, four model families, to track the metrics on the right</a:t>
            </a:r>
            <a:endParaRPr lang="en-US" sz="1300" dirty="0"/>
          </a:p>
        </p:txBody>
      </p:sp>
      <p:graphicFrame>
        <p:nvGraphicFramePr>
          <p:cNvPr id="19" name="kpi table"/>
          <p:cNvGraphicFramePr>
            <a:graphicFrameLocks noGrp="1"/>
          </p:cNvGraphicFramePr>
          <p:nvPr>
            <p:extLst>
              <p:ext uri="{D42A27DB-BD31-4B8C-83A1-F6EECF244321}">
                <p14:modId xmlns:p14="http://schemas.microsoft.com/office/powerpoint/2010/main" val="1579011935"/>
              </p:ext>
            </p:extLst>
          </p:nvPr>
        </p:nvGraphicFramePr>
        <p:xfrm>
          <a:off x="5577840" y="1325880"/>
          <a:ext cx="6172200" cy="914400"/>
        </p:xfrm>
        <a:graphic>
          <a:graphicData uri="http://schemas.openxmlformats.org/drawingml/2006/table">
            <a:tbl>
              <a:tblPr/>
              <a:tblGrid>
                <a:gridCol w="3794760"/>
                <a:gridCol w="1280160"/>
                <a:gridCol w="1097280"/>
              </a:tblGrid>
              <a:tr h="438912">
                <a:tc>
                  <a:txBody>
                    <a:bodyPr/>
                    <a:lstStyle/>
                    <a:p>
                      <a:pPr indent="0" marL="0">
                        <a:buNone/>
                      </a:pPr>
                      <a:r>
                        <a:rPr lang="en-US" sz="1050" b="1" dirty="0">
                          <a:solidFill>
                            <a:srgbClr val="FFFFFF"/>
                          </a:solidFill>
                        </a:rPr>
                        <a:t>Metric</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Baseline 11 Oct 2026</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50" b="1" dirty="0">
                          <a:solidFill>
                            <a:srgbClr val="FFFFFF"/>
                          </a:solidFill>
                        </a:rPr>
                        <a:t>Target</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38912">
                <a:tc>
                  <a:txBody>
                    <a:bodyPr/>
                    <a:lstStyle/>
                    <a:p>
                      <a:pPr indent="0" marL="0">
                        <a:buNone/>
                      </a:pPr>
                      <a:r>
                        <a:rPr lang="en-US" sz="1050" dirty="0">
                          <a:solidFill>
                            <a:srgbClr val="0A1F3D"/>
                          </a:solidFill>
                        </a:rPr>
                        <a:t>Unprompted top-three rate (turn 2)</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1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4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38912">
                <a:tc>
                  <a:txBody>
                    <a:bodyPr/>
                    <a:lstStyle/>
                    <a:p>
                      <a:pPr indent="0" marL="0">
                        <a:buNone/>
                      </a:pPr>
                      <a:r>
                        <a:rPr lang="en-US" sz="1050" dirty="0">
                          <a:solidFill>
                            <a:srgbClr val="0A1F3D"/>
                          </a:solidFill>
                        </a:rPr>
                        <a:t>Top-three rate once named (turn 3)</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7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8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38912">
                <a:tc>
                  <a:txBody>
                    <a:bodyPr/>
                    <a:lstStyle/>
                    <a:p>
                      <a:pPr indent="0" marL="0">
                        <a:buNone/>
                      </a:pPr>
                      <a:r>
                        <a:rPr lang="en-US" sz="1050" dirty="0">
                          <a:solidFill>
                            <a:srgbClr val="0A1F3D"/>
                          </a:solidFill>
                        </a:rPr>
                        <a:t>Forced pick rate (turn 4)</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0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2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38912">
                <a:tc>
                  <a:txBody>
                    <a:bodyPr/>
                    <a:lstStyle/>
                    <a:p>
                      <a:pPr indent="0" marL="0">
                        <a:buNone/>
                      </a:pPr>
                      <a:r>
                        <a:rPr lang="en-US" sz="1050" dirty="0">
                          <a:solidFill>
                            <a:srgbClr val="0A1F3D"/>
                          </a:solidFill>
                        </a:rPr>
                        <a:t>Runs that see the 22 month card from a guide, not only from barclaycard.co.uk</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0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8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38912">
                <a:tc>
                  <a:txBody>
                    <a:bodyPr/>
                    <a:lstStyle/>
                    <a:p>
                      <a:pPr indent="0" marL="0">
                        <a:buNone/>
                      </a:pPr>
                      <a:r>
                        <a:rPr lang="en-US" sz="1050" dirty="0">
                          <a:solidFill>
                            <a:srgbClr val="0A1F3D"/>
                          </a:solidFill>
                        </a:rPr>
                        <a:t>Runs citing “up to” uncertainty as the reason for ranking below HSBC</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4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0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38912">
                <a:tc>
                  <a:txBody>
                    <a:bodyPr/>
                    <a:lstStyle/>
                    <a:p>
                      <a:pPr indent="0" marL="0">
                        <a:buNone/>
                      </a:pPr>
                      <a:r>
                        <a:rPr lang="en-US" sz="1050" dirty="0">
                          <a:solidFill>
                            <a:srgbClr val="0A1F3D"/>
                          </a:solidFill>
                        </a:rPr>
                        <a:t>Runs with a wrong Barclaycard eligibility claim</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1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1050" dirty="0">
                          <a:solidFill>
                            <a:srgbClr val="0A1F3D"/>
                          </a:solidFill>
                        </a:rPr>
                        <a:t>0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38912">
                <a:tc>
                  <a:txBody>
                    <a:bodyPr/>
                    <a:lstStyle/>
                    <a:p>
                      <a:pPr indent="0" marL="0">
                        <a:buNone/>
                      </a:pPr>
                      <a:r>
                        <a:rPr lang="en-US" sz="1050" dirty="0">
                          <a:solidFill>
                            <a:srgbClr val="0A1F3D"/>
                          </a:solidFill>
                        </a:rPr>
                        <a:t>Runs reporting a Barclaycard product-page 404</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3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1050" dirty="0">
                          <a:solidFill>
                            <a:srgbClr val="0A1F3D"/>
                          </a:solidFill>
                        </a:rPr>
                        <a:t>0 of 8</a:t>
                      </a:r>
                      <a:endParaRPr lang="en-US" sz="10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7" name="kpi note"/>
          <p:cNvSpPr txBox="1"/>
          <p:nvPr/>
        </p:nvSpPr>
        <p:spPr>
          <a:xfrm>
            <a:off x="5577840" y="5029200"/>
            <a:ext cx="6172200" cy="685800"/>
          </a:xfrm>
          <a:prstGeom prst="rect">
            <a:avLst/>
          </a:prstGeom>
          <a:noFill/>
          <a:ln/>
        </p:spPr>
        <p:txBody>
          <a:bodyPr wrap="square" lIns="0" tIns="0" rIns="0" bIns="0" rtlCol="0" anchor="ctr"/>
          <a:lstStyle/>
          <a:p>
            <a:pPr indent="0" marL="0">
              <a:buNone/>
            </a:pPr>
            <a:r>
              <a:rPr lang="en-US" sz="1050" i="1" dirty="0">
                <a:solidFill>
                  <a:schemeClr val="tx2"/>
                </a:solidFill>
              </a:rPr>
              <a:t>Read trends over three months: with eight runs, one run moving changes a rate by 12.5 points. Keep all four model families so a change in one vendor's retrieval is not read as a market change.</a:t>
            </a:r>
            <a:endParaRPr lang="en-US" sz="1050" dirty="0"/>
          </a:p>
        </p:txBody>
      </p:sp>
      <p:sp>
        <p:nvSpPr>
          <p:cNvPr id="8" name="test box"/>
          <p:cNvSpPr/>
          <p:nvPr/>
        </p:nvSpPr>
        <p:spPr>
          <a:xfrm>
            <a:off x="457200" y="5577840"/>
            <a:ext cx="11247120" cy="502920"/>
          </a:xfrm>
          <a:prstGeom prst="roundRect">
            <a:avLst>
              <a:gd name="adj" fmla="val 14545"/>
            </a:avLst>
          </a:prstGeom>
          <a:solidFill>
            <a:schemeClr val="bg2"/>
          </a:solidFill>
          <a:ln w="9525">
            <a:solidFill>
              <a:schemeClr val="accent5"/>
            </a:solidFill>
            <a:prstDash val="solid"/>
          </a:ln>
        </p:spPr>
      </p:sp>
      <p:sp>
        <p:nvSpPr>
          <p:cNvPr id="9" name="test text"/>
          <p:cNvSpPr txBox="1"/>
          <p:nvPr/>
        </p:nvSpPr>
        <p:spPr>
          <a:xfrm>
            <a:off x="594360" y="5623560"/>
            <a:ext cx="10972800" cy="411480"/>
          </a:xfrm>
          <a:prstGeom prst="rect">
            <a:avLst/>
          </a:prstGeom>
          <a:noFill/>
          <a:ln/>
        </p:spPr>
        <p:txBody>
          <a:bodyPr wrap="square" lIns="0" tIns="0" rIns="0" bIns="0" rtlCol="0" anchor="t"/>
          <a:lstStyle/>
          <a:p>
            <a:pPr indent="0" marL="0">
              <a:buNone/>
            </a:pPr>
            <a:r>
              <a:rPr lang="en-US" sz="1100" b="1" dirty="0">
                <a:solidFill>
                  <a:schemeClr val="accent1"/>
                </a:solidFill>
              </a:rPr>
              <a:t>TEST IT  </a:t>
            </a:r>
            <a:pPr indent="0" marL="0">
              <a:buNone/>
            </a:pPr>
            <a:r>
              <a:rPr lang="en-US" sz="1100" dirty="0">
                <a:solidFill>
                  <a:schemeClr val="tx1"/>
                </a:solidFill>
              </a:rPr>
              <a:t>Each metric is a count from the rerun transcripts, scored the same way as results.csv. The targets are falsifiable by the November rerun.</a:t>
            </a:r>
            <a:endParaRPr lang="en-US" sz="110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Oct11_3pm/barclays_recommendation.md section 5; protocol.md.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Limits of the study, stated so they can be tested rather than discovered later</a:t>
            </a:r>
            <a:endParaRPr lang="en-US" sz="2600" dirty="0"/>
          </a:p>
        </p:txBody>
      </p:sp>
      <p:sp>
        <p:nvSpPr>
          <p:cNvPr id="3" name="num 1"/>
          <p:cNvSpPr/>
          <p:nvPr/>
        </p:nvSpPr>
        <p:spPr>
          <a:xfrm>
            <a:off x="457200" y="1417320"/>
            <a:ext cx="365760" cy="365760"/>
          </a:xfrm>
          <a:prstGeom prst="ellipse">
            <a:avLst/>
          </a:prstGeom>
          <a:solidFill>
            <a:schemeClr val="accent1"/>
          </a:solidFill>
          <a:ln w="12700">
            <a:solidFill>
              <a:schemeClr val="accent1"/>
            </a:solidFill>
            <a:prstDash val="solid"/>
          </a:ln>
        </p:spPr>
      </p:sp>
      <p:sp>
        <p:nvSpPr>
          <p:cNvPr id="4" name="num text 1"/>
          <p:cNvSpPr txBox="1"/>
          <p:nvPr/>
        </p:nvSpPr>
        <p:spPr>
          <a:xfrm>
            <a:off x="457200" y="14173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limit 0"/>
          <p:cNvSpPr txBox="1"/>
          <p:nvPr/>
        </p:nvSpPr>
        <p:spPr>
          <a:xfrm>
            <a:off x="1005840" y="137160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One persona, one debt size, one day</a:t>
            </a:r>
            <a:endParaRPr lang="en-US" sz="1150" dirty="0"/>
          </a:p>
          <a:p>
            <a:pPr indent="0" marL="0">
              <a:buNone/>
            </a:pPr>
            <a:r>
              <a:rPr lang="en-US" sz="1150" dirty="0">
                <a:solidFill>
                  <a:schemeClr val="tx1"/>
                </a:solidFill>
              </a:rPr>
              <a:t>A £5,000 debt or a 36 month plan would favour the 36 month card and change the ranking. The 22 month finding is specific to an 18 to 24 month payoff plan.</a:t>
            </a:r>
            <a:endParaRPr lang="en-US" sz="1150" dirty="0"/>
          </a:p>
        </p:txBody>
      </p:sp>
      <p:sp>
        <p:nvSpPr>
          <p:cNvPr id="6" name="num 2"/>
          <p:cNvSpPr/>
          <p:nvPr/>
        </p:nvSpPr>
        <p:spPr>
          <a:xfrm>
            <a:off x="6172200" y="1417320"/>
            <a:ext cx="365760" cy="365760"/>
          </a:xfrm>
          <a:prstGeom prst="ellipse">
            <a:avLst/>
          </a:prstGeom>
          <a:solidFill>
            <a:schemeClr val="accent1"/>
          </a:solidFill>
          <a:ln w="12700">
            <a:solidFill>
              <a:schemeClr val="accent1"/>
            </a:solidFill>
            <a:prstDash val="solid"/>
          </a:ln>
        </p:spPr>
      </p:sp>
      <p:sp>
        <p:nvSpPr>
          <p:cNvPr id="7" name="num text 2"/>
          <p:cNvSpPr txBox="1"/>
          <p:nvPr/>
        </p:nvSpPr>
        <p:spPr>
          <a:xfrm>
            <a:off x="6172200" y="14173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limit 1"/>
          <p:cNvSpPr txBox="1"/>
          <p:nvPr/>
        </p:nvSpPr>
        <p:spPr>
          <a:xfrm>
            <a:off x="6720840" y="137160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Summarised pages, not raw HTML</a:t>
            </a:r>
            <a:endParaRPr lang="en-US" sz="1150" dirty="0"/>
          </a:p>
          <a:p>
            <a:pPr indent="0" marL="0">
              <a:buNone/>
            </a:pPr>
            <a:r>
              <a:rPr lang="en-US" sz="1150" dirty="0">
                <a:solidFill>
                  <a:schemeClr val="tx1"/>
                </a:solidFill>
              </a:rPr>
              <a:t>Every model read provider pages through a summariser. The layout findings (cause 5) are inferred from what the summariser returned and are corroborated by the screenshot, not proven by it.</a:t>
            </a:r>
            <a:endParaRPr lang="en-US" sz="1150" dirty="0"/>
          </a:p>
        </p:txBody>
      </p:sp>
      <p:sp>
        <p:nvSpPr>
          <p:cNvPr id="9" name="num 3"/>
          <p:cNvSpPr/>
          <p:nvPr/>
        </p:nvSpPr>
        <p:spPr>
          <a:xfrm>
            <a:off x="457200" y="2880360"/>
            <a:ext cx="365760" cy="365760"/>
          </a:xfrm>
          <a:prstGeom prst="ellipse">
            <a:avLst/>
          </a:prstGeom>
          <a:solidFill>
            <a:schemeClr val="accent1"/>
          </a:solidFill>
          <a:ln w="12700">
            <a:solidFill>
              <a:schemeClr val="accent1"/>
            </a:solidFill>
            <a:prstDash val="solid"/>
          </a:ln>
        </p:spPr>
      </p:sp>
      <p:sp>
        <p:nvSpPr>
          <p:cNvPr id="10" name="num text 3"/>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limit 2"/>
          <p:cNvSpPr txBox="1"/>
          <p:nvPr/>
        </p:nvSpPr>
        <p:spPr>
          <a:xfrm>
            <a:off x="1005840" y="283464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Guides read on a date</a:t>
            </a:r>
            <a:endParaRPr lang="en-US" sz="1150" dirty="0"/>
          </a:p>
          <a:p>
            <a:pPr indent="0" marL="0">
              <a:buNone/>
            </a:pPr>
            <a:r>
              <a:rPr lang="en-US" sz="1150" dirty="0">
                <a:solidFill>
                  <a:schemeClr val="tx1"/>
                </a:solidFill>
              </a:rPr>
              <a:t>MSE was updated 7 October, Which? 1 October. Editors may update before any submission lands; the screenshots fix what the models saw on 11 October.</a:t>
            </a:r>
            <a:endParaRPr lang="en-US" sz="1150" dirty="0"/>
          </a:p>
        </p:txBody>
      </p:sp>
      <p:sp>
        <p:nvSpPr>
          <p:cNvPr id="12" name="num 4"/>
          <p:cNvSpPr/>
          <p:nvPr/>
        </p:nvSpPr>
        <p:spPr>
          <a:xfrm>
            <a:off x="6172200" y="2880360"/>
            <a:ext cx="365760" cy="365760"/>
          </a:xfrm>
          <a:prstGeom prst="ellipse">
            <a:avLst/>
          </a:prstGeom>
          <a:solidFill>
            <a:schemeClr val="accent1"/>
          </a:solidFill>
          <a:ln w="12700">
            <a:solidFill>
              <a:schemeClr val="accent1"/>
            </a:solidFill>
            <a:prstDash val="solid"/>
          </a:ln>
        </p:spPr>
      </p:sp>
      <p:sp>
        <p:nvSpPr>
          <p:cNvPr id="13" name="num text 4"/>
          <p:cNvSpPr txBox="1"/>
          <p:nvPr/>
        </p:nvSpPr>
        <p:spPr>
          <a:xfrm>
            <a:off x="6172200" y="28803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limit 3"/>
          <p:cNvSpPr txBox="1"/>
          <p:nvPr/>
        </p:nvSpPr>
        <p:spPr>
          <a:xfrm>
            <a:off x="6720840" y="283464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The brand probe is prompted recall</a:t>
            </a:r>
            <a:endParaRPr lang="en-US" sz="1150" dirty="0"/>
          </a:p>
          <a:p>
            <a:pPr indent="0" marL="0">
              <a:buNone/>
            </a:pPr>
            <a:r>
              <a:rPr lang="en-US" sz="1150" dirty="0">
                <a:solidFill>
                  <a:schemeClr val="tx1"/>
                </a:solidFill>
              </a:rPr>
              <a:t>Turn 3 names Barclaycard for the customer. The turn 2 rate is the better proxy for a customer who names no brand.</a:t>
            </a:r>
            <a:endParaRPr lang="en-US" sz="1150" dirty="0"/>
          </a:p>
        </p:txBody>
      </p:sp>
      <p:sp>
        <p:nvSpPr>
          <p:cNvPr id="15" name="num 5"/>
          <p:cNvSpPr/>
          <p:nvPr/>
        </p:nvSpPr>
        <p:spPr>
          <a:xfrm>
            <a:off x="457200" y="4343400"/>
            <a:ext cx="365760" cy="365760"/>
          </a:xfrm>
          <a:prstGeom prst="ellipse">
            <a:avLst/>
          </a:prstGeom>
          <a:solidFill>
            <a:schemeClr val="accent1"/>
          </a:solidFill>
          <a:ln w="12700">
            <a:solidFill>
              <a:schemeClr val="accent1"/>
            </a:solidFill>
            <a:prstDash val="solid"/>
          </a:ln>
        </p:spPr>
      </p:sp>
      <p:sp>
        <p:nvSpPr>
          <p:cNvPr id="16" name="num text 5"/>
          <p:cNvSpPr txBox="1"/>
          <p:nvPr/>
        </p:nvSpPr>
        <p:spPr>
          <a:xfrm>
            <a:off x="457200" y="4343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limit 4"/>
          <p:cNvSpPr txBox="1"/>
          <p:nvPr/>
        </p:nvSpPr>
        <p:spPr>
          <a:xfrm>
            <a:off x="1005840" y="429768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Causes are the models' stated reasons</a:t>
            </a:r>
            <a:endParaRPr lang="en-US" sz="1150" dirty="0"/>
          </a:p>
          <a:p>
            <a:pPr indent="0" marL="0">
              <a:buNone/>
            </a:pPr>
            <a:r>
              <a:rPr lang="en-US" sz="1150" dirty="0">
                <a:solidFill>
                  <a:schemeClr val="tx1"/>
                </a:solidFill>
              </a:rPr>
              <a:t>Each cause count is the number of runs in which the model gave that reason. A model can give a reason that is not its real driver; the rerun after each fix is the control for that.</a:t>
            </a:r>
            <a:endParaRPr lang="en-US" sz="1150" dirty="0"/>
          </a:p>
        </p:txBody>
      </p:sp>
      <p:sp>
        <p:nvSpPr>
          <p:cNvPr id="18" name="num 6"/>
          <p:cNvSpPr/>
          <p:nvPr/>
        </p:nvSpPr>
        <p:spPr>
          <a:xfrm>
            <a:off x="6172200" y="4343400"/>
            <a:ext cx="365760" cy="365760"/>
          </a:xfrm>
          <a:prstGeom prst="ellipse">
            <a:avLst/>
          </a:prstGeom>
          <a:solidFill>
            <a:schemeClr val="accent1"/>
          </a:solidFill>
          <a:ln w="12700">
            <a:solidFill>
              <a:schemeClr val="accent1"/>
            </a:solidFill>
            <a:prstDash val="solid"/>
          </a:ln>
        </p:spPr>
      </p:sp>
      <p:sp>
        <p:nvSpPr>
          <p:cNvPr id="19" name="num text 6"/>
          <p:cNvSpPr txBox="1"/>
          <p:nvPr/>
        </p:nvSpPr>
        <p:spPr>
          <a:xfrm>
            <a:off x="6172200" y="4343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limit 5"/>
          <p:cNvSpPr txBox="1"/>
          <p:nvPr/>
        </p:nvSpPr>
        <p:spPr>
          <a:xfrm>
            <a:off x="6720840" y="4297680"/>
            <a:ext cx="5029200" cy="1371600"/>
          </a:xfrm>
          <a:prstGeom prst="rect">
            <a:avLst/>
          </a:prstGeom>
          <a:noFill/>
          <a:ln/>
        </p:spPr>
        <p:txBody>
          <a:bodyPr wrap="square" lIns="0" tIns="0" rIns="0" bIns="0" rtlCol="0" anchor="t"/>
          <a:lstStyle/>
          <a:p>
            <a:pPr indent="0" marL="0">
              <a:buNone/>
            </a:pPr>
            <a:r>
              <a:rPr lang="en-US" sz="1150" b="1" dirty="0">
                <a:solidFill>
                  <a:schemeClr val="tx2"/>
                </a:solidFill>
              </a:rPr>
              <a:t>Offer timing</a:t>
            </a:r>
            <a:endParaRPr lang="en-US" sz="1150" dirty="0"/>
          </a:p>
          <a:p>
            <a:pPr indent="0" marL="0">
              <a:buNone/>
            </a:pPr>
            <a:r>
              <a:rPr lang="en-US" sz="1150" dirty="0">
                <a:solidFill>
                  <a:schemeClr val="tx1"/>
                </a:solidFill>
              </a:rPr>
              <a:t>The Apple TV and cashback offers end 20 October 2026. Cause 5 disappears with them and returns with the next offer placed the same way.</a:t>
            </a:r>
            <a:endParaRPr lang="en-US" sz="1150" dirty="0"/>
          </a:p>
        </p:txBody>
      </p:sp>
      <p:sp>
        <p:nvSpPr>
          <p:cNvPr id="21"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Oct11_3pm/barclays_recommendation.md section 6; protocol.md.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822960"/>
          </a:xfrm>
          <a:prstGeom prst="rect">
            <a:avLst/>
          </a:prstGeom>
          <a:noFill/>
          <a:ln/>
        </p:spPr>
        <p:txBody>
          <a:bodyPr wrap="square" lIns="0" tIns="0" rIns="0" bIns="0" rtlCol="0" anchor="ctr"/>
          <a:lstStyle/>
          <a:p>
            <a:pPr indent="0" marL="0">
              <a:buNone/>
            </a:pPr>
            <a:r>
              <a:rPr lang="en-US" sz="2600" b="1" dirty="0">
                <a:solidFill>
                  <a:schemeClr val="tx2"/>
                </a:solidFill>
              </a:rPr>
              <a:t>Appendix: evidence index (all captures 11 October 2026, 11:30 to 11:40 UTC, 1280 pixel desktop viewport)</a:t>
            </a:r>
            <a:endParaRPr lang="en-US" sz="2600" dirty="0"/>
          </a:p>
        </p:txBody>
      </p:sp>
      <p:graphicFrame>
        <p:nvGraphicFramePr>
          <p:cNvPr id="21" name="evidence table"/>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gridCol w="5669280"/>
                <a:gridCol w="4114800"/>
              </a:tblGrid>
              <a:tr h="402336">
                <a:tc>
                  <a:txBody>
                    <a:bodyPr/>
                    <a:lstStyle/>
                    <a:p>
                      <a:pPr indent="0" marL="0">
                        <a:buNone/>
                      </a:pPr>
                      <a:r>
                        <a:rPr lang="en-US" sz="1000" b="1" dirty="0">
                          <a:solidFill>
                            <a:srgbClr val="FFFFFF"/>
                          </a:solidFill>
                        </a:rPr>
                        <a:t>File</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URL</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1000" b="1" dirty="0">
                          <a:solidFill>
                            <a:srgbClr val="FFFFFF"/>
                          </a:solidFill>
                        </a:rPr>
                        <a:t>Used for</a:t>
                      </a:r>
                      <a:endParaRPr lang="en-US" sz="100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02336">
                <a:tc>
                  <a:txBody>
                    <a:bodyPr/>
                    <a:lstStyle/>
                    <a:p>
                      <a:pPr indent="0" marL="0">
                        <a:buNone/>
                      </a:pPr>
                      <a:r>
                        <a:rPr lang="en-US" sz="950" dirty="0">
                          <a:solidFill>
                            <a:srgbClr val="0A1F3D"/>
                          </a:solidFill>
                        </a:rPr>
                        <a:t>P1, E1, E1b, E2</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barclaycard.co.uk/personal/credit-cards/balance-transfer-credit-cards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Offer block above terms; “If you apply” box; 22 month card present</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02336">
                <a:tc>
                  <a:txBody>
                    <a:bodyPr/>
                    <a:lstStyle/>
                    <a:p>
                      <a:pPr indent="0" marL="0">
                        <a:buNone/>
                      </a:pPr>
                      <a:r>
                        <a:rPr lang="en-US" sz="950" dirty="0">
                          <a:solidFill>
                            <a:srgbClr val="0A1F3D"/>
                          </a:solidFill>
                        </a:rPr>
                        <a:t>P2, E5, E6</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barclaycard.co.uk/personal/credit-cards/mid-bt-platinum</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7 in 10 statement; 28.9% APR in benefits; T&amp;C link ends core-2023.pdf</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02336">
                <a:tc>
                  <a:txBody>
                    <a:bodyPr/>
                    <a:lstStyle/>
                    <a:p>
                      <a:pPr indent="0" marL="0">
                        <a:buNone/>
                      </a:pPr>
                      <a:r>
                        <a:rPr lang="en-US" sz="950" dirty="0">
                          <a:solidFill>
                            <a:srgbClr val="0A1F3D"/>
                          </a:solidFill>
                        </a:rPr>
                        <a:t>P3, E3, E3b, E4</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barclays.co.uk/credit-cards/balance-transfer-credit-cards/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Four cards, no 22 month card; broken images; 28.9% APR line</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02336">
                <a:tc>
                  <a:txBody>
                    <a:bodyPr/>
                    <a:lstStyle/>
                    <a:p>
                      <a:pPr indent="0" marL="0">
                        <a:buNone/>
                      </a:pPr>
                      <a:r>
                        <a:rPr lang="en-US" sz="950" dirty="0">
                          <a:solidFill>
                            <a:srgbClr val="0A1F3D"/>
                          </a:solidFill>
                        </a:rPr>
                        <a:t>P4, E7, E7b</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hsbc.co.uk/credit-cards/products/balance-transfer/</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“Who can apply?”; “subject to status”; FAQ outcomes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02336">
                <a:tc>
                  <a:txBody>
                    <a:bodyPr/>
                    <a:lstStyle/>
                    <a:p>
                      <a:pPr indent="0" marL="0">
                        <a:buNone/>
                      </a:pPr>
                      <a:r>
                        <a:rPr lang="en-US" sz="950" dirty="0">
                          <a:solidFill>
                            <a:srgbClr val="0A1F3D"/>
                          </a:solidFill>
                        </a:rPr>
                        <a:t>P5, E8, E9, E10</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moneysavingexpert.com/credit-cards/balance-transfer-credit-cards/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“Definite” and “up to” blocks; no-fee and low-fee block</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02336">
                <a:tc>
                  <a:txBody>
                    <a:bodyPr/>
                    <a:lstStyle/>
                    <a:p>
                      <a:pPr indent="0" marL="0">
                        <a:buNone/>
                      </a:pPr>
                      <a:r>
                        <a:rPr lang="en-US" sz="950" dirty="0">
                          <a:solidFill>
                            <a:srgbClr val="0A1F3D"/>
                          </a:solidFill>
                        </a:rPr>
                        <a:t>P6, E11, E12</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which.co.uk/money/credit-cards-and-loans/credit-cards/guides/best-credit-card-deals/best-0-balance-transfer-credit-cards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Longest table; Best Buy table</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02336">
                <a:tc>
                  <a:txBody>
                    <a:bodyPr/>
                    <a:lstStyle/>
                    <a:p>
                      <a:pPr indent="0" marL="0">
                        <a:buNone/>
                      </a:pPr>
                      <a:r>
                        <a:rPr lang="en-US" sz="950" dirty="0">
                          <a:solidFill>
                            <a:srgbClr val="0A1F3D"/>
                          </a:solidFill>
                        </a:rPr>
                        <a:t>P7</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barclaycard.co.uk/personal/credit-cards/balance-transfer</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404</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02336">
                <a:tc>
                  <a:txBody>
                    <a:bodyPr/>
                    <a:lstStyle/>
                    <a:p>
                      <a:pPr indent="0" marL="0">
                        <a:buNone/>
                      </a:pPr>
                      <a:r>
                        <a:rPr lang="en-US" sz="950" dirty="0">
                          <a:solidFill>
                            <a:srgbClr val="0A1F3D"/>
                          </a:solidFill>
                        </a:rPr>
                        <a:t>P8</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barclaycard.co.uk/personal/credit-cards/balance-transfer-credit-cards/36-month</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404 (product-level path a model tried)</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02336">
                <a:tc>
                  <a:txBody>
                    <a:bodyPr/>
                    <a:lstStyle/>
                    <a:p>
                      <a:pPr indent="0" marL="0">
                        <a:buNone/>
                      </a:pPr>
                      <a:r>
                        <a:rPr lang="en-US" sz="950" dirty="0">
                          <a:solidFill>
                            <a:srgbClr val="0A1F3D"/>
                          </a:solidFill>
                        </a:rPr>
                        <a:t>Transcripts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Oct11_3pm/transcripts/{A,B}-{haiku,sonnet,opus,fable}.md; control/{haiku,sonnet,opus,fable}.md</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Every quote and count</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02336">
                <a:tc>
                  <a:txBody>
                    <a:bodyPr/>
                    <a:lstStyle/>
                    <a:p>
                      <a:pPr indent="0" marL="0">
                        <a:buNone/>
                      </a:pPr>
                      <a:r>
                        <a:rPr lang="en-US" sz="950" dirty="0">
                          <a:solidFill>
                            <a:srgbClr val="0A1F3D"/>
                          </a:solidFill>
                        </a:rPr>
                        <a:t>Ground truth</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Oct11_3pm/ground_truth.md</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Page contents as fetched 11 Oct 2026, line numbers cited on slides</a:t>
                      </a:r>
                      <a:endParaRPr lang="en-US" sz="950" dirty="0"/>
                    </a:p>
                  </a:txBody>
                  <a:tcPr marL="45720" marR="45720" marT="45720" marB="45720">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deck/evidence/ in the study repository; README.md there lists capture method and times.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lue Evidence">
  <a:themeElements>
    <a:clrScheme name="Blue Evidence">
      <a:dk1>
        <a:srgbClr val="0A1F3D"/>
      </a:dk1>
      <a:lt1>
        <a:srgbClr val="FFFFFF"/>
      </a:lt1>
      <a:dk2>
        <a:srgbClr val="143A6B"/>
      </a:dk2>
      <a:lt2>
        <a:srgbClr val="EAF1F9"/>
      </a:lt2>
      <a:accent1>
        <a:srgbClr val="1F5FA8"/>
      </a:accent1>
      <a:accent2>
        <a:srgbClr val="5B8FD0"/>
      </a:accent2>
      <a:accent3>
        <a:srgbClr val="9DBDE3"/>
      </a:accent3>
      <a:accent4>
        <a:srgbClr val="0B2E59"/>
      </a:accent4>
      <a:accent5>
        <a:srgbClr val="C9DBF0"/>
      </a:accent5>
      <a:accent6>
        <a:srgbClr val="3E7CC4"/>
      </a:accent6>
      <a:hlink>
        <a:srgbClr val="1F5FA8"/>
      </a:hlink>
      <a:folHlink>
        <a:srgbClr val="5B8FD0"/>
      </a:folHlink>
    </a:clrScheme>
    <a:fontScheme name="Blue Evid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Barclaycard in AI balance-transfer advice</dc:title>
  <dc:subject>PptxGenJS Presentation</dc:subject>
  <dc:creator>Balance-transfer AI search study</dc:creator>
  <cp:lastModifiedBy>Balance-transfer AI search study</cp:lastModifiedBy>
  <cp:revision>1</cp:revision>
  <dcterms:created xsi:type="dcterms:W3CDTF">2026-10-11T11:46:14Z</dcterms:created>
  <dcterms:modified xsi:type="dcterms:W3CDTF">2026-10-11T11:46:14Z</dcterms:modified>
</cp:coreProperties>
</file>